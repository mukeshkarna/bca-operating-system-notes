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8" d="100"/>
          <a:sy n="138" d="100"/>
        </p:scale>
        <p:origin x="184" y="6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53643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Unit 2. Ask students: 'If OS is just software, why do we need to structure it carefully?' Lead into the idea that poor structure = poor performance + harder maintenance. This unit explains HOW an OS is designed internally.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Briefly show the 6 topics. Mention Unit 2 is only 2 hours so pace is moderate. Kernel types will take the most time (~40 mins).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students: 'If all OS code was in one file, what would happen if there's a bug?' → It could crash everything. This motivates why we structure the OS carefully. Different structures make different tradeoffs.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analogy of a building: Ground floor = hardware, higher floors = higher level abstractions. THE system (1968) by Dijkstra was the first major layered OS. Ask: 'What's the problem if Layer 5 wants to call Layer 0 directly?' → Breaks the abstraction, harder to maintain.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point: Kernel runs in PRIVILEGED mode (Ring 0). A bug here = whole system crash. User programs run in unprivileged mode and cannot directly access hardware — they MUST ask the kernel via system calls. Ask: 'Why not let Chrome access hardware directly?' → Security + stability.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Linux example: All device drivers run in kernel space. If an NVIDIA driver has a bug on Linux, it can cause a kernel panic (KP) — the Linux equivalent of BSOD. This is a real-world consequence of the monolithic design. Ask: 'Why do companies still use monolithic kernels despite this risk?' → SPEED!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QNX example is powerful: Used in Blackberry phones, car dashboards, medical devices. If the media player crashes, the car's braking system still works — that's fault isolation in action. macOS uses a hybrid: Mach microkernel + BSD components (called XNU). Ask: 'If microkernels are safer, why doesn't everyone use them?' → Performance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Exokernel is mainly a research concept from MIT (1995). The idea: 'Why should the OS impose a file system on a database? Let the database manage its own disk access.' LibOS is like a custom mini-OS for each application. Not used in mainstream products. Mention for completeness and exam.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comparison table is very exam-relevant. Tell students to memorize the first 4 rows especially. Classic exam question: 'Compare Monolithic vs Microkernel' — students should be able to fill this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Relate to web development: When your browser (client) requests a webpage, it sends a request to a web server. The OS client-server model works the same way but internally within the OS. Every time you access a file over a network drive, this model is at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VMs are hugely practical! Ask: 'Has anyone used VirtualBox or VMware?' Then explain AWS — every time you create an EC2 instance, Amazon is giving you a VM on their physical server. The Android emulator in Android Studio is a VM. Docker containers are a lighter VM. This topic always excites students.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Terminal/CMD live and show: 'ls' or 'dir', 'cd', 'mkdir', 'pwd'. Students are often amazed that the familiar black window IS the shell we're studying. Mention DevOps engineers use Bash scripts daily to automate servers. PowerShell tip: It's much more powerful than CMD — it uses objects, not just 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revision: Ask students to close notes and recall 3 kernel types with one real-world example each. Homework: 'Draw the architecture diagram of Monolithic vs Microkernel from memory.' Preview Unit 3 — Process Management is the largest unit at 15 hours.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Common Q: 'Is Docker a VM?' — No, Docker is OS-level virtualization (containers share the host OS kernel). VMs have their own OS. 'Which kernel does Android use?' — Linux kernel (monolithic). 'Which kernel does macOS use?' — XNU (hybrid: Mach microkernel + BSD components).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533483"/>
          </a:solidFill>
          <a:ln w="12700">
            <a:solidFill>
              <a:srgbClr val="53348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CACS251 — Operating System  |  Unit 2  |  2 Hrs.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Operating System</a:t>
            </a:r>
            <a:endParaRPr lang="en-US" sz="54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7B5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System  •  Kernel  •  Microkernel  •  VM  •  Shell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0" y="4498848"/>
            <a:ext cx="9144000" cy="649224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608576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0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BCA II/IV  •  Pokhara University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Agenda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20040" y="1005840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533483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115568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Why Structure?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154680" y="1005840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533483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91840" y="1115568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291840" y="160020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System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89320" y="1005840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E94560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126480" y="1115568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126480" y="160020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&amp; Its Types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0040" y="2926080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533483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3035808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57200" y="35204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Client-Server Model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154680" y="2926080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E94560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91840" y="3035808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291840" y="35204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Machines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989320" y="2926080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533483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126480" y="3035808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126480" y="35204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33483"/>
          </a:solidFill>
          <a:ln w="12700">
            <a:solidFill>
              <a:srgbClr val="53348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Does OS Structure Matter?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896112"/>
            <a:ext cx="2743200" cy="3977640"/>
          </a:xfrm>
          <a:prstGeom prst="roundRect">
            <a:avLst>
              <a:gd name="adj" fmla="val 4000"/>
            </a:avLst>
          </a:prstGeom>
          <a:solidFill>
            <a:srgbClr val="F4F4F8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058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🛠️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84048" y="1691640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3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84048" y="2212848"/>
            <a:ext cx="25237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well-structured OS is easier to debug, update, and fix without breaking other parts.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84048" y="3264408"/>
            <a:ext cx="2523744" cy="18288"/>
          </a:xfrm>
          <a:prstGeom prst="rect">
            <a:avLst/>
          </a:prstGeom>
          <a:solidFill>
            <a:srgbClr val="E2E0EA"/>
          </a:solidFill>
          <a:ln w="12700">
            <a:solidFill>
              <a:srgbClr val="E2E0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3337560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3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Linux kernel developers release patches without rewriting the whole OS.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54680" y="896112"/>
            <a:ext cx="2743200" cy="3977640"/>
          </a:xfrm>
          <a:prstGeom prst="roundRect">
            <a:avLst>
              <a:gd name="adj" fmla="val 4000"/>
            </a:avLst>
          </a:prstGeom>
          <a:solidFill>
            <a:srgbClr val="F4F4F8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154680" y="10058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264408" y="1691640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3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264408" y="2212848"/>
            <a:ext cx="25237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determines how fast system calls are handled and how much overhead exists.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264408" y="3264408"/>
            <a:ext cx="2523744" cy="18288"/>
          </a:xfrm>
          <a:prstGeom prst="rect">
            <a:avLst/>
          </a:prstGeom>
          <a:solidFill>
            <a:srgbClr val="E2E0EA"/>
          </a:solidFill>
          <a:ln w="12700">
            <a:solidFill>
              <a:srgbClr val="E2E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64408" y="3337560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3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Monolithic kernels are faster than microkernels for the same hardware.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896112"/>
            <a:ext cx="2743200" cy="3977640"/>
          </a:xfrm>
          <a:prstGeom prst="roundRect">
            <a:avLst>
              <a:gd name="adj" fmla="val 4000"/>
            </a:avLst>
          </a:prstGeom>
          <a:solidFill>
            <a:srgbClr val="F4F4F8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035040" y="10058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144768" y="1691640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3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&amp; Security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144768" y="2212848"/>
            <a:ext cx="25237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components mean a faulty driver won't crash the entire system.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144768" y="3264408"/>
            <a:ext cx="2523744" cy="18288"/>
          </a:xfrm>
          <a:prstGeom prst="rect">
            <a:avLst/>
          </a:prstGeom>
          <a:solidFill>
            <a:srgbClr val="E2E0EA"/>
          </a:solidFill>
          <a:ln w="12700">
            <a:solidFill>
              <a:srgbClr val="E2E0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44768" y="3337560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3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In QNX, a crashed audio driver doesn't affect navigation.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Layered System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3749040" cy="5943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93192" y="91440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80160" y="914400"/>
            <a:ext cx="2724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Programs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499616"/>
            <a:ext cx="3749040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591056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80160" y="1591056"/>
            <a:ext cx="2724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I/O Buffering &amp; Drivers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2176272"/>
            <a:ext cx="3749040" cy="594360"/>
          </a:xfrm>
          <a:prstGeom prst="rect">
            <a:avLst/>
          </a:prstGeom>
          <a:solidFill>
            <a:srgbClr val="7B52AB"/>
          </a:solidFill>
          <a:ln w="12700">
            <a:solidFill>
              <a:srgbClr val="7B52A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192" y="226771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80160" y="2267712"/>
            <a:ext cx="2724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Console Driver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0040" y="2852928"/>
            <a:ext cx="3749040" cy="594360"/>
          </a:xfrm>
          <a:prstGeom prst="rect">
            <a:avLst/>
          </a:prstGeom>
          <a:solidFill>
            <a:srgbClr val="533483"/>
          </a:solidFill>
          <a:ln w="12700">
            <a:solidFill>
              <a:srgbClr val="53348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3192" y="294436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80160" y="2944368"/>
            <a:ext cx="2724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Management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0040" y="3529584"/>
            <a:ext cx="3749040" cy="594360"/>
          </a:xfrm>
          <a:prstGeom prst="rect">
            <a:avLst/>
          </a:prstGeom>
          <a:solidFill>
            <a:srgbClr val="4B3FA0"/>
          </a:solidFill>
          <a:ln w="12700">
            <a:solidFill>
              <a:srgbClr val="4B3F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3192" y="3621024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80160" y="3621024"/>
            <a:ext cx="2724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Scheduling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0040" y="4206240"/>
            <a:ext cx="3749040" cy="59436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3192" y="429768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0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80160" y="4297680"/>
            <a:ext cx="2724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20040" y="64922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Highest Level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0040" y="477316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Lowest Level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251960" y="804672"/>
            <a:ext cx="4617720" cy="2057400"/>
          </a:xfrm>
          <a:prstGeom prst="roundRect">
            <a:avLst>
              <a:gd name="adj" fmla="val 4444"/>
            </a:avLst>
          </a:prstGeom>
          <a:solidFill>
            <a:srgbClr val="533483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407408" y="89611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Principle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407408" y="1325880"/>
            <a:ext cx="4297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uses only services of the layer BELOW it, and provides services to the layer ABOVE it.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layer skips another — strict hierarchy.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251960" y="2944368"/>
            <a:ext cx="219456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389120" y="303580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3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Advantages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389120" y="340156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Modular design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389120" y="381304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Easy testing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389120" y="422452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Clean abstraction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583680" y="2944368"/>
            <a:ext cx="219456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720840" y="303580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Disadvantages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720840" y="340156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Slower (overhead)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720840" y="381304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Hard to define layers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720840" y="422452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Not pure in practice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Kernel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8412480" cy="1051560"/>
          </a:xfrm>
          <a:prstGeom prst="roundRect">
            <a:avLst>
              <a:gd name="adj" fmla="val 8696"/>
            </a:avLst>
          </a:prstGeom>
          <a:solidFill>
            <a:srgbClr val="FFF0F3"/>
          </a:solidFill>
          <a:ln w="19050">
            <a:solidFill>
              <a:srgbClr val="E945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14400"/>
            <a:ext cx="80467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Kernel is the core of the OS — loaded first into memory, stays resident, and has full hardware access. Everything else depends on it.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2057400"/>
            <a:ext cx="8412480" cy="658368"/>
          </a:xfrm>
          <a:prstGeom prst="rect">
            <a:avLst/>
          </a:prstGeom>
          <a:solidFill>
            <a:srgbClr val="F4F4F8"/>
          </a:solidFill>
          <a:ln w="12700">
            <a:solidFill>
              <a:srgbClr val="F4F4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112264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3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Space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840480" y="2112264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3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(Chrome, Word, Games)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852928"/>
            <a:ext cx="8412480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907792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Call Interface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840480" y="2907792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cross here — the gateway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3429000"/>
            <a:ext cx="8412480" cy="658368"/>
          </a:xfrm>
          <a:prstGeom prst="rect">
            <a:avLst/>
          </a:prstGeom>
          <a:solidFill>
            <a:srgbClr val="533483"/>
          </a:solidFill>
          <a:ln w="12700">
            <a:solidFill>
              <a:srgbClr val="53348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483864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Space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840480" y="3483864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Mgmt | Memory | Drivers | File System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4224528"/>
            <a:ext cx="8412480" cy="658368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4279392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840480" y="4279392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| RAM | Disk | Network Cards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33483"/>
          </a:solidFill>
          <a:ln w="12700">
            <a:solidFill>
              <a:srgbClr val="53348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Monolithic Kernel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577840" y="2286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(Macro Kernel)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841248"/>
            <a:ext cx="4023360" cy="4041648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9326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Space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298448"/>
            <a:ext cx="3566160" cy="502920"/>
          </a:xfrm>
          <a:prstGeom prst="roundRect">
            <a:avLst>
              <a:gd name="adj" fmla="val 12727"/>
            </a:avLst>
          </a:prstGeom>
          <a:solidFill>
            <a:srgbClr val="F4F4F8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325880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(Chrome, Word…)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356616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88366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Call Interface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2176272"/>
            <a:ext cx="3566160" cy="2377440"/>
          </a:xfrm>
          <a:prstGeom prst="roundRect">
            <a:avLst>
              <a:gd name="adj" fmla="val 3077"/>
            </a:avLst>
          </a:prstGeom>
          <a:solidFill>
            <a:srgbClr val="533483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26771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SPACE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2670048"/>
            <a:ext cx="3291840" cy="292608"/>
          </a:xfrm>
          <a:prstGeom prst="roundRect">
            <a:avLst>
              <a:gd name="adj" fmla="val 15625"/>
            </a:avLst>
          </a:prstGeom>
          <a:solidFill>
            <a:srgbClr val="6B45A0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68833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Management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017520"/>
            <a:ext cx="3291840" cy="292608"/>
          </a:xfrm>
          <a:prstGeom prst="roundRect">
            <a:avLst>
              <a:gd name="adj" fmla="val 15625"/>
            </a:avLst>
          </a:prstGeom>
          <a:solidFill>
            <a:srgbClr val="6B45A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03580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Management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3364992"/>
            <a:ext cx="3291840" cy="292608"/>
          </a:xfrm>
          <a:prstGeom prst="roundRect">
            <a:avLst>
              <a:gd name="adj" fmla="val 15625"/>
            </a:avLst>
          </a:prstGeom>
          <a:solidFill>
            <a:srgbClr val="6B45A0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3832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System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3712464"/>
            <a:ext cx="3291840" cy="292608"/>
          </a:xfrm>
          <a:prstGeom prst="roundRect">
            <a:avLst>
              <a:gd name="adj" fmla="val 15625"/>
            </a:avLst>
          </a:prstGeom>
          <a:solidFill>
            <a:srgbClr val="6B45A0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73075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Drivers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4059936"/>
            <a:ext cx="3291840" cy="292608"/>
          </a:xfrm>
          <a:prstGeom prst="roundRect">
            <a:avLst>
              <a:gd name="adj" fmla="val 15625"/>
            </a:avLst>
          </a:prstGeom>
          <a:solidFill>
            <a:srgbClr val="6B45A0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07822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480560" y="822960"/>
            <a:ext cx="4389120" cy="1417320"/>
          </a:xfrm>
          <a:prstGeom prst="roundRect">
            <a:avLst>
              <a:gd name="adj" fmla="val 6452"/>
            </a:avLst>
          </a:prstGeom>
          <a:solidFill>
            <a:srgbClr val="16213E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617720" y="91440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OS services run together in one large kernel program in kernel space.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617720" y="17830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Examples: Linux, Unix, MS-DOS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480560" y="2395728"/>
            <a:ext cx="2057400" cy="2487168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617720" y="248716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3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617720" y="28803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Very fast — direct function calls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617720" y="344728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Mature and well-understood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617720" y="4014216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Simple communication between services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675120" y="2395728"/>
            <a:ext cx="2148840" cy="2487168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812280" y="24871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812280" y="28803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One buggy driver = whole OS crashes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812280" y="344728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Large, complex codebase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812280" y="401421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Hard to extend without recompile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Microkernel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274320" y="832012"/>
            <a:ext cx="4023360" cy="4041648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9326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SPACE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207008"/>
            <a:ext cx="3566160" cy="384048"/>
          </a:xfrm>
          <a:prstGeom prst="roundRect">
            <a:avLst>
              <a:gd name="adj" fmla="val 14286"/>
            </a:avLst>
          </a:prstGeom>
          <a:solidFill>
            <a:srgbClr val="F4F4F8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2344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(Chrome, Word…)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700784"/>
            <a:ext cx="1143000" cy="804672"/>
          </a:xfrm>
          <a:prstGeom prst="roundRect">
            <a:avLst>
              <a:gd name="adj" fmla="val 7955"/>
            </a:avLst>
          </a:prstGeom>
          <a:solidFill>
            <a:srgbClr val="7B52AB"/>
          </a:solidFill>
          <a:ln/>
        </p:spPr>
      </p:sp>
      <p:sp>
        <p:nvSpPr>
          <p:cNvPr id="9" name="Text 7"/>
          <p:cNvSpPr/>
          <p:nvPr/>
        </p:nvSpPr>
        <p:spPr>
          <a:xfrm>
            <a:off x="448056" y="1755648"/>
            <a:ext cx="1069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System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(Server)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664208" y="1700784"/>
            <a:ext cx="1143000" cy="804672"/>
          </a:xfrm>
          <a:prstGeom prst="roundRect">
            <a:avLst>
              <a:gd name="adj" fmla="val 7955"/>
            </a:avLst>
          </a:prstGeom>
          <a:solidFill>
            <a:srgbClr val="7B52AB"/>
          </a:solidFill>
          <a:ln/>
        </p:spPr>
      </p:sp>
      <p:sp>
        <p:nvSpPr>
          <p:cNvPr id="11" name="Text 9"/>
          <p:cNvSpPr/>
          <p:nvPr/>
        </p:nvSpPr>
        <p:spPr>
          <a:xfrm>
            <a:off x="1700784" y="1755648"/>
            <a:ext cx="1069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Driver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(Server)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907792" y="1700784"/>
            <a:ext cx="1234440" cy="804672"/>
          </a:xfrm>
          <a:prstGeom prst="roundRect">
            <a:avLst>
              <a:gd name="adj" fmla="val 7955"/>
            </a:avLst>
          </a:prstGeom>
          <a:solidFill>
            <a:srgbClr val="7B52AB"/>
          </a:solidFill>
          <a:ln/>
        </p:spPr>
      </p:sp>
      <p:sp>
        <p:nvSpPr>
          <p:cNvPr id="13" name="Text 11"/>
          <p:cNvSpPr/>
          <p:nvPr/>
        </p:nvSpPr>
        <p:spPr>
          <a:xfrm>
            <a:off x="2944368" y="1755648"/>
            <a:ext cx="11612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Stack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(Server)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615184"/>
            <a:ext cx="356616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8056" y="24231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Passing (IPC)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705885"/>
            <a:ext cx="3566160" cy="1143000"/>
          </a:xfrm>
          <a:prstGeom prst="roundRect">
            <a:avLst>
              <a:gd name="adj" fmla="val 6400"/>
            </a:avLst>
          </a:prstGeom>
          <a:solidFill>
            <a:srgbClr val="E94560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27889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MICROKERNEL (Kernel Space)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318211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  |  Basic Memory  |  CPU Scheduling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354787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(very small — only essentials)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3913632"/>
            <a:ext cx="3566160" cy="548640"/>
          </a:xfrm>
          <a:prstGeom prst="roundRect">
            <a:avLst>
              <a:gd name="adj" fmla="val 11667"/>
            </a:avLst>
          </a:prstGeom>
          <a:solidFill>
            <a:srgbClr val="16213E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395020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480560" y="822960"/>
            <a:ext cx="4389120" cy="1280160"/>
          </a:xfrm>
          <a:prstGeom prst="roundRect">
            <a:avLst>
              <a:gd name="adj" fmla="val 7143"/>
            </a:avLst>
          </a:prstGeom>
          <a:solidFill>
            <a:srgbClr val="16213E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617720" y="896112"/>
            <a:ext cx="4114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IPC, basic memory, and scheduling run in kernel space. Everything else runs in USER space as separate server processes.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4480560" y="2240280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F5A623"/>
          </a:solidFill>
          <a:ln/>
        </p:spPr>
      </p:sp>
      <p:sp>
        <p:nvSpPr>
          <p:cNvPr id="25" name="Text 23"/>
          <p:cNvSpPr/>
          <p:nvPr/>
        </p:nvSpPr>
        <p:spPr>
          <a:xfrm>
            <a:off x="4617720" y="23042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Examples: QNX, MINIX, Mach (macOS core), L4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480560" y="2944368"/>
            <a:ext cx="2084832" cy="1901952"/>
          </a:xfrm>
          <a:prstGeom prst="roundRect">
            <a:avLst>
              <a:gd name="adj" fmla="val 4808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572000" y="30175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3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Pros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0" y="3456432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 reliability &amp; security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0" y="385876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Fault isolation between services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0" y="4261104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Easy to extend — add servers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720840" y="2944368"/>
            <a:ext cx="2084832" cy="1901952"/>
          </a:xfrm>
          <a:prstGeom prst="roundRect">
            <a:avLst>
              <a:gd name="adj" fmla="val 4808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812280" y="30175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Cons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812280" y="3456432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Slower — IPC adds overhead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812280" y="385876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Complex programming model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812280" y="4261104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More context switches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480560" y="466344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  QNX Real World: Car infotainment — audio crash doesn't affect navigation!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33483"/>
          </a:solidFill>
          <a:ln w="12700">
            <a:solidFill>
              <a:srgbClr val="53348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Exokernel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303520" y="25603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(Research Concept)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841248"/>
            <a:ext cx="2560320" cy="1417320"/>
          </a:xfrm>
          <a:prstGeom prst="roundRect">
            <a:avLst>
              <a:gd name="adj" fmla="val 6452"/>
            </a:avLst>
          </a:prstGeom>
          <a:solidFill>
            <a:srgbClr val="7B52AB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960120"/>
            <a:ext cx="23774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1 + LibOS 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(Custom File System)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0" y="841248"/>
            <a:ext cx="2560320" cy="1417320"/>
          </a:xfrm>
          <a:prstGeom prst="roundRect">
            <a:avLst>
              <a:gd name="adj" fmla="val 6452"/>
            </a:avLst>
          </a:prstGeom>
          <a:solidFill>
            <a:srgbClr val="7B52AB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960120"/>
            <a:ext cx="23774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2 + LibOS B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(Custom Memory Mgr)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35040" y="841248"/>
            <a:ext cx="2560320" cy="1417320"/>
          </a:xfrm>
          <a:prstGeom prst="roundRect">
            <a:avLst>
              <a:gd name="adj" fmla="val 6452"/>
            </a:avLst>
          </a:prstGeom>
          <a:solidFill>
            <a:srgbClr val="7B52AB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126480" y="960120"/>
            <a:ext cx="23774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3 + LibOS C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(Database I/O)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377440"/>
            <a:ext cx="841248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407179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Multiplexing (secure resource allocation)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671152"/>
            <a:ext cx="8412480" cy="649132"/>
          </a:xfrm>
          <a:prstGeom prst="roundRect">
            <a:avLst>
              <a:gd name="adj" fmla="val 9756"/>
            </a:avLst>
          </a:prstGeom>
          <a:solidFill>
            <a:srgbClr val="16213E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6711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EXOKERNEL  (extremely tiny)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298195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Only: Secure hardware access | Resource tracking | Protection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383280"/>
            <a:ext cx="5303520" cy="1508760"/>
          </a:xfrm>
          <a:prstGeom prst="roundRect">
            <a:avLst>
              <a:gd name="adj" fmla="val 6061"/>
            </a:avLst>
          </a:prstGeom>
          <a:solidFill>
            <a:srgbClr val="F4F4F8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349300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3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Core Idea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2920" y="3886200"/>
            <a:ext cx="5029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abstractions from the kernel. Applications get raw hardware access safely. Each app uses its own Library OS (LibOS) for custom abstractions. Maximum performance!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852160" y="3383280"/>
            <a:ext cx="2926080" cy="1508760"/>
          </a:xfrm>
          <a:prstGeom prst="roundRect">
            <a:avLst>
              <a:gd name="adj" fmla="val 6061"/>
            </a:avLst>
          </a:prstGeom>
          <a:solidFill>
            <a:srgbClr val="533483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989320" y="349300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Real Example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989320" y="3913632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DB could manage its own disk I/O bypassing OS file system → 10x faster for large databases!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Kernel Types — Side by Side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41248"/>
          <a:ext cx="8595360" cy="3803904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Monolithic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348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Microkernel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45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Exokernel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C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Kernel Size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Extremely Small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C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Fast ⚡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Slower (IPC)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Fastest 🚀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C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⚠️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App-dependent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C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App-managed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C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Fault Isolation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Via LibOS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C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Ease of Extension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C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Examples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Linux, Unix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QNX, MINIX, macOS 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 Exokernel (research)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33483"/>
          </a:solidFill>
          <a:ln w="12700">
            <a:solidFill>
              <a:srgbClr val="53348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Client-Server Model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1024128"/>
            <a:ext cx="2011680" cy="2011680"/>
          </a:xfrm>
          <a:prstGeom prst="roundRect">
            <a:avLst>
              <a:gd name="adj" fmla="val 5455"/>
            </a:avLst>
          </a:prstGeom>
          <a:solidFill>
            <a:srgbClr val="533483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20700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77393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2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(Application)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41401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B5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Chrome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B5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Chrome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66160" y="1024128"/>
            <a:ext cx="2011680" cy="2011680"/>
          </a:xfrm>
          <a:prstGeom prst="roundRect">
            <a:avLst>
              <a:gd name="adj" fmla="val 5455"/>
            </a:avLst>
          </a:prstGeom>
          <a:solidFill>
            <a:srgbClr val="16213E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66160" y="120700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657600" y="177393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57600" y="21031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2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(Message Router)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0" y="241401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requests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C↔S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766560" y="1024128"/>
            <a:ext cx="2011680" cy="2011680"/>
          </a:xfrm>
          <a:prstGeom prst="roundRect">
            <a:avLst>
              <a:gd name="adj" fmla="val 5455"/>
            </a:avLst>
          </a:prstGeom>
          <a:solidFill>
            <a:srgbClr val="E94560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66560" y="120700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858000" y="177393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858000" y="21031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2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(OS Service)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58000" y="241401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System,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Network, Print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395728" y="1691640"/>
            <a:ext cx="1152144" cy="0"/>
          </a:xfrm>
          <a:prstGeom prst="line">
            <a:avLst/>
          </a:prstGeom>
          <a:noFill/>
          <a:ln w="3810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95728" y="1444752"/>
            <a:ext cx="1152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→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395728" y="2423160"/>
            <a:ext cx="1152144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95728" y="2468880"/>
            <a:ext cx="1152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response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596128" y="1691640"/>
            <a:ext cx="1152144" cy="0"/>
          </a:xfrm>
          <a:prstGeom prst="line">
            <a:avLst/>
          </a:prstGeom>
          <a:noFill/>
          <a:ln w="38100">
            <a:solidFill>
              <a:srgbClr val="F5A62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96128" y="1444752"/>
            <a:ext cx="1152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→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96128" y="2423160"/>
            <a:ext cx="1152144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96128" y="2468880"/>
            <a:ext cx="1152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result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" y="3218688"/>
            <a:ext cx="2743200" cy="1664208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29768" y="3310128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3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Advantage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29768" y="3703320"/>
            <a:ext cx="252374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run on different machines (distributed). A crashed server ≠ crashed OS.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200400" y="3218688"/>
            <a:ext cx="2743200" cy="1664208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310128" y="3310128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Disadvantage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310128" y="3703320"/>
            <a:ext cx="252374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passing overhead. More complex to implement.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080760" y="3218688"/>
            <a:ext cx="2743200" cy="1664208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190488" y="3310128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Real World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190488" y="3703320"/>
            <a:ext cx="252374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NFS, Windows file sharing (SMB), REST APIs, microservices architectures.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 Machines (VM)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47472" y="841248"/>
            <a:ext cx="2148840" cy="1024128"/>
          </a:xfrm>
          <a:prstGeom prst="roundRect">
            <a:avLst>
              <a:gd name="adj" fmla="val 8929"/>
            </a:avLst>
          </a:prstGeom>
          <a:solidFill>
            <a:srgbClr val="533483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20624" y="896112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OS 1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(Windows)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679192" y="841248"/>
            <a:ext cx="2148840" cy="1024128"/>
          </a:xfrm>
          <a:prstGeom prst="roundRect">
            <a:avLst>
              <a:gd name="adj" fmla="val 8929"/>
            </a:avLst>
          </a:prstGeom>
          <a:solidFill>
            <a:srgbClr val="7B52AB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52344" y="896112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OS 2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(Ubuntu Linux)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10912" y="841248"/>
            <a:ext cx="2148840" cy="1024128"/>
          </a:xfrm>
          <a:prstGeom prst="roundRect">
            <a:avLst>
              <a:gd name="adj" fmla="val 8929"/>
            </a:avLst>
          </a:prstGeom>
          <a:solidFill>
            <a:srgbClr val="4B3FA0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84064" y="896112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OS 3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(Kali Linux)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1956816"/>
            <a:ext cx="6949440" cy="685800"/>
          </a:xfrm>
          <a:prstGeom prst="roundRect">
            <a:avLst>
              <a:gd name="adj" fmla="val 10667"/>
            </a:avLst>
          </a:prstGeom>
          <a:solidFill>
            <a:srgbClr val="F5A623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029968"/>
            <a:ext cx="6748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Hypervisor / VMM (Virtual Machine Monitor)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47472" y="2734056"/>
            <a:ext cx="6949440" cy="566928"/>
          </a:xfrm>
          <a:prstGeom prst="roundRect">
            <a:avLst>
              <a:gd name="adj" fmla="val 12903"/>
            </a:avLst>
          </a:prstGeom>
          <a:solidFill>
            <a:srgbClr val="16213E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798064"/>
            <a:ext cx="67482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Hardware (CPU, RAM, Disk, Network)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452360" y="822960"/>
            <a:ext cx="1417320" cy="251460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498080" y="896112"/>
            <a:ext cx="12984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1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Bare Metal</a:t>
            </a:r>
            <a:endParaRPr lang="en-US" sz="1000" dirty="0"/>
          </a:p>
          <a:p>
            <a:pPr marL="0" indent="0" algn="ctr">
              <a:buNone/>
            </a:pP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VMware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ESXi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Hyper-V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Xen</a:t>
            </a:r>
            <a:endParaRPr lang="en-US" sz="1000" dirty="0"/>
          </a:p>
          <a:p>
            <a:pPr marL="0" indent="0" algn="ctr">
              <a:buNone/>
            </a:pP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(Data Centers,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429000"/>
            <a:ext cx="400507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3483864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3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 Cloud Computing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20240" y="350215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EC2, Azure, Google Cloud are all VMs on physical servers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99432" y="3429000"/>
            <a:ext cx="400507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09160" y="3483864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3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Isolation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72200" y="350215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VM is fully isolated — malware in VM1 can't affect VM2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47472" y="4206240"/>
            <a:ext cx="400507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57200" y="4261104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3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Multi-OS Testing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920240" y="427939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VirtualBox: Run Ubuntu + Windows on one laptop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599432" y="4206240"/>
            <a:ext cx="400507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09160" y="4261104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3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 Snapshots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172200" y="427939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VM state instantly — restore anytime (like game saves)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33483"/>
          </a:solidFill>
          <a:ln w="12700">
            <a:solidFill>
              <a:srgbClr val="53348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Shell — The OS Interface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0F0FF"/>
          </a:solidFill>
          <a:ln w="19050">
            <a:solidFill>
              <a:srgbClr val="53348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77824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= command-line interpreter that reads user commands and translates them into system calls for the kernel. It is NOT part of the kernel — it's a regular user-space program.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6642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53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→ types command → Shell → interprets → System Call → Kernel → Hardware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65760" y="2103120"/>
            <a:ext cx="4069080" cy="2788920"/>
          </a:xfrm>
          <a:prstGeom prst="roundRect">
            <a:avLst>
              <a:gd name="adj" fmla="val 3279"/>
            </a:avLst>
          </a:prstGeom>
          <a:solidFill>
            <a:srgbClr val="F4F4F8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219456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3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CLI Shells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" y="2633472"/>
            <a:ext cx="37947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6517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536192" y="265176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/ macOS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43200" y="265176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 Linux shell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3054096"/>
            <a:ext cx="3794760" cy="347472"/>
          </a:xfrm>
          <a:prstGeom prst="rect">
            <a:avLst/>
          </a:prstGeom>
          <a:solidFill>
            <a:srgbClr val="E2E0EA"/>
          </a:solidFill>
          <a:ln w="12700">
            <a:solidFill>
              <a:srgbClr val="E2E0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307238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Zsh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536192" y="307238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 (default)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43200" y="307238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on macOS Catalina+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3474720"/>
            <a:ext cx="37947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49300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536192" y="349300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43200" y="349300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Object-oriented, very powerful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2920" y="3895344"/>
            <a:ext cx="3794760" cy="347472"/>
          </a:xfrm>
          <a:prstGeom prst="rect">
            <a:avLst/>
          </a:prstGeom>
          <a:solidFill>
            <a:srgbClr val="E2E0EA"/>
          </a:solidFill>
          <a:ln w="12700">
            <a:solidFill>
              <a:srgbClr val="E2E0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91363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536192" y="391363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743200" y="391363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— Command Prompt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02920" y="4315968"/>
            <a:ext cx="37947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433425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536192" y="433425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743200" y="433425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Beginner-friendly, auto-suggest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617720" y="2103120"/>
            <a:ext cx="4206240" cy="2788920"/>
          </a:xfrm>
          <a:prstGeom prst="roundRect">
            <a:avLst>
              <a:gd name="adj" fmla="val 3279"/>
            </a:avLst>
          </a:prstGeom>
          <a:solidFill>
            <a:srgbClr val="16213E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754880" y="219456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a Shell Do?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754880" y="263347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 Run programs:  python script.py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754880" y="305409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 File operations:  cp, mv, rm, ls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4754880" y="3474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 Navigate dirs:  cd /home/user/docs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754880" y="389534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 Pipe commands:  ls | grep '.txt'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4754880" y="43159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 Write scripts:  automate tasks (.sh)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33483"/>
          </a:solidFill>
          <a:ln w="12700">
            <a:solidFill>
              <a:srgbClr val="53348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 2 — Key Takeaways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886968"/>
            <a:ext cx="347472" cy="347472"/>
          </a:xfrm>
          <a:prstGeom prst="ellipse">
            <a:avLst/>
          </a:prstGeom>
          <a:solidFill>
            <a:srgbClr val="533483"/>
          </a:solidFill>
          <a:ln w="12700">
            <a:solidFill>
              <a:srgbClr val="53348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869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841248"/>
            <a:ext cx="7909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Structure determines performance, reliability, and maintainability.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44168"/>
            <a:ext cx="347472" cy="347472"/>
          </a:xfrm>
          <a:prstGeom prst="ellipse">
            <a:avLst/>
          </a:prstGeom>
          <a:solidFill>
            <a:srgbClr val="533483"/>
          </a:solidFill>
          <a:ln w="12700">
            <a:solidFill>
              <a:srgbClr val="53348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344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1298448"/>
            <a:ext cx="7909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System: OS divided into levels — each layer uses only the one below.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1801368"/>
            <a:ext cx="347472" cy="347472"/>
          </a:xfrm>
          <a:prstGeom prst="ellipse">
            <a:avLst/>
          </a:prstGeom>
          <a:solidFill>
            <a:srgbClr val="533483"/>
          </a:solidFill>
          <a:ln w="12700">
            <a:solidFill>
              <a:srgbClr val="53348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8013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1755648"/>
            <a:ext cx="7909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Monolithic Kernel: All in one — fast but risky. Example: Linux.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258568"/>
            <a:ext cx="347472" cy="347472"/>
          </a:xfrm>
          <a:prstGeom prst="ellipse">
            <a:avLst/>
          </a:prstGeom>
          <a:solidFill>
            <a:srgbClr val="533483"/>
          </a:solidFill>
          <a:ln w="12700">
            <a:solidFill>
              <a:srgbClr val="53348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2585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2212848"/>
            <a:ext cx="7909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Microkernel: Minimal kernel — safe and extensible. Example: QNX, macOS core.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715768"/>
            <a:ext cx="347472" cy="347472"/>
          </a:xfrm>
          <a:prstGeom prst="ellipse">
            <a:avLst/>
          </a:prstGeom>
          <a:solidFill>
            <a:srgbClr val="533483"/>
          </a:solidFill>
          <a:ln w="12700">
            <a:solidFill>
              <a:srgbClr val="53348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15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2670048"/>
            <a:ext cx="7909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Exokernel: No abstractions — max performance. Research concept (MIT).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3172968"/>
            <a:ext cx="347472" cy="347472"/>
          </a:xfrm>
          <a:prstGeom prst="ellipse">
            <a:avLst/>
          </a:prstGeom>
          <a:solidFill>
            <a:srgbClr val="533483"/>
          </a:solidFill>
          <a:ln w="12700">
            <a:solidFill>
              <a:srgbClr val="53348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1729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3127248"/>
            <a:ext cx="7909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Client-Server: Kernel routes messages between app clients and OS servers.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" y="3630168"/>
            <a:ext cx="347472" cy="347472"/>
          </a:xfrm>
          <a:prstGeom prst="ellipse">
            <a:avLst/>
          </a:prstGeom>
          <a:solidFill>
            <a:srgbClr val="533483"/>
          </a:solidFill>
          <a:ln w="12700">
            <a:solidFill>
              <a:srgbClr val="53348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630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" y="3584448"/>
            <a:ext cx="7909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Machine: Multiple OS on one hardware via Hypervisor. Basis of Cloud (AWS).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65760" y="4087368"/>
            <a:ext cx="347472" cy="347472"/>
          </a:xfrm>
          <a:prstGeom prst="ellipse">
            <a:avLst/>
          </a:prstGeom>
          <a:solidFill>
            <a:srgbClr val="533483"/>
          </a:solidFill>
          <a:ln w="12700">
            <a:solidFill>
              <a:srgbClr val="53348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0873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22960" y="4041648"/>
            <a:ext cx="7909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Shell: User interface to the OS — interprets commands → system calls.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4617720"/>
            <a:ext cx="8229600" cy="420624"/>
          </a:xfrm>
          <a:prstGeom prst="roundRect">
            <a:avLst>
              <a:gd name="adj" fmla="val 17391"/>
            </a:avLst>
          </a:prstGeom>
          <a:solidFill>
            <a:srgbClr val="E94560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6451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➡️  Next: Unit 3 — Process Management (15 Hrs.) — the biggest unit!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5334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0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CACS251 — Operating System  |  Unit 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2697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D0C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structure is understanding the OS.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340156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Common Exam Questions: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45920" y="3822192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Differentiate Monolithic Kernel vs Microkernel (table)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645920" y="4059936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What is a Virtual Machine? List its advantages.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645920" y="4297680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Explain the layered structure with a diagram.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645920" y="4535424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What is a shell? Give 3 examples.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2019</Words>
  <Application>Microsoft Macintosh PowerPoint</Application>
  <PresentationFormat>On-screen Show (16:9)</PresentationFormat>
  <Paragraphs>294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OS Structure - Unit 2</dc:title>
  <dc:subject>PptxGenJS Presentation</dc:subject>
  <dc:creator>PptxGenJS</dc:creator>
  <cp:lastModifiedBy>Mukesh Karn</cp:lastModifiedBy>
  <cp:revision>3</cp:revision>
  <dcterms:created xsi:type="dcterms:W3CDTF">2026-06-11T08:42:09Z</dcterms:created>
  <dcterms:modified xsi:type="dcterms:W3CDTF">2026-06-17T14:24:40Z</dcterms:modified>
</cp:coreProperties>
</file>