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COMPLETE UPDATED deck for Unit 3, incorporating all topics from the textbook's chapter 3 table of contents including newly added sections on Process Life Cycle, Process Preemption, Process Hierarchies, Process Implementation, Cooperation methods, Thread Model details, ULT vs KLT, Dispatcher, CPU-I/O Burst Cycle, Context Switch, and Batch/Interactive/Real-Time scheduling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Process Life Cycle was missing. Draw this on the board step by step, asking students to predict the next transition. The key transitions to emphasize: preemption (Running→Ready) and I/O request (Running→Waiting). The 7-state model (suspended states) is used when a system has limited RAM and must swap processes to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Process Preemption was listed separately in the textbook. Key distinction: preemption = OS-forced removal. Voluntarily yielding (waiting for I/O) is not preemption. Ask: 'If you're playing a game and get a video call, does the OS PREEMPT the game?' Yes! The phone call handler has higher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Process Hierarchies and Implementation were separate topics in the book. For hierarchies: 'ps auxf' on Linux shows the tree live — show students if you have a Linux terminal available. For implementation: the Process Table is just an array of PCB pointers. When you do ps -aux on Linux, you're reading from this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Methods of Cooperation were listed separately in the book. Key takeaway: Shared Memory = fast but needs sync. Message Passing = safe but slower. Distributed systems MUST use message passing (network between machines, no shared memory). Android Intents is a great real-world message passing example students can relate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The Thread Model was listed as a separate topic in the book. Key visual: show students that threads are 'inside' a process — they share the process's memory. The table comparing Thread vs Process is exam-gold. Chrome example: when a tab crashes (one thread), the whole browser doesn't crash — because Chrome uses separate processes per tab (extra isolation). But within one tab, multiple threads share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ULT vs KLT was in the book's topic list. Key exam distinction: ULT = fast but can't use multiple cores, blocks all threads on I/O. KLT = slower but true parallelism. Most modern systems use KLT (Linux, Windows). The one-to-one model (most common) maps each ULT to a KLT.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Scheduling Queues and Dispatcher were listed separately in the book. Key distinction: Scheduler DECIDES which process runs next; Dispatcher EXECUTES that decision. Dispatch latency matters: on a 1GHz CPU with 1000 context switches/second, if each switch takes 10μs, that's 1% overhead. With heavy threading, this adds up!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CPU-I/O Burst Cycle and Context Switch were listed as separate topics. Key insight: Most processes are I/O-bound (text editors, browsers) — they spend more time waiting for I/O than actually computing. This motivates having MANY processes — while one waits for I/O, another can use the CPU. Context switch overhead is why we don't want too many threads/processes — each switch wastes CPU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— Batch/Interactive/Real-Time was listed as a separate category in the book. This gives students the BIG PICTURE of why different algorithms exist. Batch: we had this in Gen 2 computers (payroll punch cards). Interactive: what your laptop uses. Real-Time: critical systems. Ask students to classify: 'Is Instagram interactive or real-time?' Interactive! 'Is a car's ABS braking?' Real-time!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complete summary covers ALL topics from the textbook's Chapter 3 table of contents. Share this slide as a revision snapshot before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CACS251 — Operating System  |  Unit 3  |  15 Hrs.  |  COMPLETE EDITION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5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 Covered — Including Newly Added Sections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029968" cy="1444752"/>
          </a:xfrm>
          <a:prstGeom prst="roundRect">
            <a:avLst>
              <a:gd name="adj" fmla="val 632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703320"/>
            <a:ext cx="2029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Process Concepts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 Life Cycle, PCB, Preemption,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Hierarchies, Implementation, Cooperation)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2304" y="3657600"/>
            <a:ext cx="2029968" cy="1444752"/>
          </a:xfrm>
          <a:prstGeom prst="roundRect">
            <a:avLst>
              <a:gd name="adj" fmla="val 632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3703320"/>
            <a:ext cx="2029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Threads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(Thread Model, ULT vs KLT,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vs Process)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90288" y="3657600"/>
            <a:ext cx="2029968" cy="1444752"/>
          </a:xfrm>
          <a:prstGeom prst="roundRect">
            <a:avLst>
              <a:gd name="adj" fmla="val 632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3703320"/>
            <a:ext cx="2029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IPC &amp; Sync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(Race, CS, Semaphore,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Classic Problems)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48272" y="3657600"/>
            <a:ext cx="2029968" cy="1444752"/>
          </a:xfrm>
          <a:prstGeom prst="roundRect">
            <a:avLst>
              <a:gd name="adj" fmla="val 6329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48272" y="3703320"/>
            <a:ext cx="2029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D: Scheduling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(Queues, Dispatcher, Burst Cycle,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Switch, Batch/Interactive/RT)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Life 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Process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Life Cycle describes ALL stages a process goes through — from creation to final termination.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0606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82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194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initialized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assigned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E7D32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682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04872" y="2194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ready 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CPU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ready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0A162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682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16552" y="2194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running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at a time (single CPU)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6A1B9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32644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16552" y="377647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I/O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event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freed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57276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C6282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682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2194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released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removed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2176272"/>
            <a:ext cx="109728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176272"/>
            <a:ext cx="109728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176272"/>
            <a:ext cx="155448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1938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2898648"/>
            <a:ext cx="18288" cy="256032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971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wait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3822192"/>
            <a:ext cx="-987552" cy="-923544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done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1572768"/>
            <a:ext cx="-1947672" cy="969264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52628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7-State Model also includes: Suspended Ready (ready process swapped to disk) and Suspended Waiting (blocked process swapped to disk) — used when memory is limited.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Preemption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Processes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E0F7FA"/>
          </a:solidFill>
          <a:ln w="1905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96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Preemption = forcibly removing the CPU from a currently running process and allocating it to another process. The process's state is saved and it returns to the Ready queue.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224528" cy="3566160"/>
          </a:xfrm>
          <a:prstGeom prst="roundRect">
            <a:avLst>
              <a:gd name="adj" fmla="val 307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73352"/>
            <a:ext cx="4133088" cy="502920"/>
          </a:xfrm>
          <a:prstGeom prst="roundRect">
            <a:avLst>
              <a:gd name="adj" fmla="val 14545"/>
            </a:avLst>
          </a:prstGeom>
          <a:solidFill>
            <a:srgbClr val="00606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190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Preemptive Scheduling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" y="223113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OS can forcibly remove CPU at any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64261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Triggered by: timer interrupt, high-priority arrival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305409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 returns to Ready queue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34655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State saved in PCB for later resumption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387705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Examples: Round Robin, SRTF, Priority (P)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4334256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Fair, responsive, good for interactive 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466344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Context switch overhead, synchronization complexity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27632"/>
            <a:ext cx="4224528" cy="3566160"/>
          </a:xfrm>
          <a:prstGeom prst="roundRect">
            <a:avLst>
              <a:gd name="adj" fmla="val 307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673352"/>
            <a:ext cx="4133088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71907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Non-Preemptive Scheduling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82896" y="223113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 holds CPU until it voluntarily yields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2896" y="264261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Yields on: I/O request, exit(), waiting for event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305409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timer interrupts for scheduling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2896" y="34655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Simpler — no mid-execution interruption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2896" y="387705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Examples: FCFS, SJF (non-P), Priority (non-P)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82896" y="4334256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Simple, no sync issues during 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2896" y="466344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Long jobs can monopolize CPU — convoy effect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Hierarchies &amp;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Process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77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Process Hierarchies (Unix)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Unix/Linux, every process has exactly one parent. All processes form a TREE rooted at init (PID 1).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96596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20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(PID 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724912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7797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272491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06064"/>
          </a:solidFill>
          <a:ln/>
        </p:spPr>
      </p:sp>
      <p:sp>
        <p:nvSpPr>
          <p:cNvPr id="14" name="Text 12"/>
          <p:cNvSpPr/>
          <p:nvPr/>
        </p:nvSpPr>
        <p:spPr>
          <a:xfrm>
            <a:off x="1481328" y="2779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87168" y="2724912"/>
            <a:ext cx="1024128" cy="41148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277977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42900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483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87168" y="3429000"/>
            <a:ext cx="475488" cy="411480"/>
          </a:xfrm>
          <a:prstGeom prst="roundRect">
            <a:avLst>
              <a:gd name="adj" fmla="val 13333"/>
            </a:avLst>
          </a:prstGeom>
          <a:solidFill>
            <a:srgbClr val="00838F"/>
          </a:solidFill>
          <a:ln/>
        </p:spPr>
      </p:sp>
      <p:sp>
        <p:nvSpPr>
          <p:cNvPr id="20" name="Text 18"/>
          <p:cNvSpPr/>
          <p:nvPr/>
        </p:nvSpPr>
        <p:spPr>
          <a:xfrm>
            <a:off x="2487168" y="348386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35808" y="3429000"/>
            <a:ext cx="475488" cy="411480"/>
          </a:xfrm>
          <a:prstGeom prst="roundRect">
            <a:avLst>
              <a:gd name="adj" fmla="val 13333"/>
            </a:avLst>
          </a:prstGeom>
          <a:solidFill>
            <a:srgbClr val="00838F"/>
          </a:solidFill>
          <a:ln/>
        </p:spPr>
      </p:sp>
      <p:sp>
        <p:nvSpPr>
          <p:cNvPr id="22" name="Text 20"/>
          <p:cNvSpPr/>
          <p:nvPr/>
        </p:nvSpPr>
        <p:spPr>
          <a:xfrm>
            <a:off x="3035808" y="348386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133088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57F17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1879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0" y="2377440"/>
            <a:ext cx="-758952" cy="347472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377440"/>
            <a:ext cx="292608" cy="347472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2377440"/>
            <a:ext cx="1353312" cy="347472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" y="3136392"/>
            <a:ext cx="0" cy="292608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9232" y="3136392"/>
            <a:ext cx="-256032" cy="292608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136392"/>
            <a:ext cx="292608" cy="292608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3840480"/>
            <a:ext cx="0" cy="292608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55371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init (PID 1) = ancestor of all processes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Orphan process: parent died → adopted by init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Zombie: terminated but PCB not yet freed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Windows: less strict hierarchy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822960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82296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006064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877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Process Implementation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73168" y="13898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maintains these kernel data structures: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73168" y="1783080"/>
            <a:ext cx="4005072" cy="841248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Table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64608" y="2176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Array/list of all PCBs. OS finds process info via PID index. Entire system view.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73168" y="2715768"/>
            <a:ext cx="4005072" cy="841248"/>
          </a:xfrm>
          <a:prstGeom prst="roundRect">
            <a:avLst>
              <a:gd name="adj" fmla="val 8696"/>
            </a:avLst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2779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Queue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64608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PCBs of all Ready processes. Scheduler picks the head.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73168" y="3648456"/>
            <a:ext cx="4005072" cy="841248"/>
          </a:xfrm>
          <a:prstGeom prst="roundRect">
            <a:avLst>
              <a:gd name="adj" fmla="val 8696"/>
            </a:avLst>
          </a:prstGeom>
          <a:solidFill>
            <a:srgbClr val="006064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I/O Queues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64608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per device. PCBs of processes waiting for each device.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73168" y="3767328"/>
            <a:ext cx="4005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implementation 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Allocate new PCB  2. Assign unique PID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Copy parent memory (copy-on-write)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Copy open file descriptors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Initialize registers in PCB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Add to ready queue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Cooperating Processes — Methods of Cooperation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Process Concepts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E0F7FA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961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processes can affect or be affected by each other. They need mechanisms to share data and coordinate actions.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006064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276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Cooperation by Sharing (Shared Memory)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share a common REGION OF MEMORY. Once established, no kernel involvement — very fast.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743200"/>
            <a:ext cx="1005840" cy="50292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980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724912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57F17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724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100584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7980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89888" y="2999232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999232"/>
            <a:ext cx="256032" cy="0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01568"/>
            <a:ext cx="4005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calls: shmget(), shmat() (Unix)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SYNCHRONIZATION — race conditions possible!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 (no kernel per access)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 large data sharing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Synchronization complexity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Web server + logger sharing a log buffer in memory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572768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72768"/>
            <a:ext cx="4206240" cy="530352"/>
          </a:xfrm>
          <a:prstGeom prst="roundRect">
            <a:avLst>
              <a:gd name="adj" fmla="val 17241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6276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Cooperation by Communication (Message Passing)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73168" y="217627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exchange MESSAGES via kernel. No shared memory needed — OS mediates all communication.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73168" y="2743200"/>
            <a:ext cx="1005840" cy="502920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7980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27249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2743200"/>
            <a:ext cx="100584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7980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79008" y="2999232"/>
            <a:ext cx="256032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0" y="2999232"/>
            <a:ext cx="18288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401568"/>
            <a:ext cx="4005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send(P2, msg) — name recipient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send(mailbox, msg) — via port/mailbox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 — no race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in distributed systems (network)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Slower — kernel involved each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Android Intents: Gallery shares photo → WhatsApp via Intent message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Thread Model &amp; Thread vs. Process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Threads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434340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4160520" cy="502920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9611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The Thread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3950208" cy="3611880"/>
          </a:xfrm>
          <a:prstGeom prst="roundRect">
            <a:avLst>
              <a:gd name="adj" fmla="val 2532"/>
            </a:avLst>
          </a:prstGeom>
          <a:solidFill>
            <a:srgbClr val="F1F8F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81328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730752" cy="502920"/>
          </a:xfrm>
          <a:prstGeom prst="roundRect">
            <a:avLst>
              <a:gd name="adj" fmla="val 12727"/>
            </a:avLst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0195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| Data | Heap | Files  (SHARED)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1170432" cy="2487168"/>
          </a:xfrm>
          <a:prstGeom prst="roundRect">
            <a:avLst>
              <a:gd name="adj" fmla="val 6250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1078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64792" y="2423160"/>
            <a:ext cx="1170432" cy="2487168"/>
          </a:xfrm>
          <a:prstGeom prst="roundRect">
            <a:avLst>
              <a:gd name="adj" fmla="val 6250"/>
            </a:avLst>
          </a:prstGeom>
          <a:solidFill>
            <a:srgbClr val="006064"/>
          </a:solidFill>
          <a:ln/>
        </p:spPr>
      </p:sp>
      <p:sp>
        <p:nvSpPr>
          <p:cNvPr id="16" name="Text 14"/>
          <p:cNvSpPr/>
          <p:nvPr/>
        </p:nvSpPr>
        <p:spPr>
          <a:xfrm>
            <a:off x="1810512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10512" y="2999232"/>
            <a:ext cx="1078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26664" y="2423160"/>
            <a:ext cx="1170432" cy="2487168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3072384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72384" y="2999232"/>
            <a:ext cx="1078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841248"/>
            <a:ext cx="4206240" cy="434340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841248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896112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Thread vs. Process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17320"/>
          <a:ext cx="4041648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8988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separate 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process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(fork/exec)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 (slow)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memory (fast)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Switch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(full state)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(partial state)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itself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process may crash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Chrome: render+JS+network threads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User-Level vs Kernel-Level Threads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Threads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24528" cy="4434840"/>
          </a:xfrm>
          <a:prstGeom prst="roundRect">
            <a:avLst>
              <a:gd name="adj" fmla="val 259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133088" cy="502920"/>
          </a:xfrm>
          <a:prstGeom prst="roundRect">
            <a:avLst>
              <a:gd name="adj" fmla="val 14545"/>
            </a:avLst>
          </a:prstGeom>
          <a:solidFill>
            <a:srgbClr val="00606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User-Level Threads (ULT)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entirely by a user-space thread LIBRARY. The OS kernel is UNAWARE of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965960"/>
            <a:ext cx="4005072" cy="960120"/>
          </a:xfrm>
          <a:prstGeom prst="roundRect">
            <a:avLst>
              <a:gd name="adj" fmla="val 6667"/>
            </a:avLst>
          </a:prstGeom>
          <a:solidFill>
            <a:srgbClr val="00606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993392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T1  T2  T3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   ↓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Library (user space)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Kernel:     Process P  (only 1 seen)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99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switching — no kernel call needed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3291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on any 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3584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scheduling by library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38770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One blocks → ALL threads block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41696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use multiple CPU cores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4462272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Early Java green threads, GNU Pth, POSIX Pthreads (user mode)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224528" cy="4434840"/>
          </a:xfrm>
          <a:prstGeom prst="roundRect">
            <a:avLst>
              <a:gd name="adj" fmla="val 259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868680"/>
            <a:ext cx="4133088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144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Kernel-Level Threads (KLT)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4608" y="1426464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directly by the OS KERNEL. Kernel knows about and schedules each thread individually.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64608" y="1965960"/>
            <a:ext cx="4005072" cy="960120"/>
          </a:xfrm>
          <a:prstGeom prst="roundRect">
            <a:avLst>
              <a:gd name="adj" fmla="val 6667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993392"/>
            <a:ext cx="3886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T1   T2   T3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↓    ↓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Kernel: K1   K2   K3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(kernel schedules each)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9992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parallelism on multi-core CPUs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64608" y="3291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blocks → kernel runs another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64608" y="3584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OS-aware priorities and scheduling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64608" y="38770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Slower — thread ops need syscalls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41696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Higher overhead per thread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4462272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Linux pthreads (NPTL), Windows threads, Java threads (modern JVM)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Queues &amp; Dispatcher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— Process Scheduling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66360" cy="4370832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F57F17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77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Process Scheduling Queues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4956048" cy="868680"/>
          </a:xfrm>
          <a:prstGeom prst="roundRect">
            <a:avLst>
              <a:gd name="adj" fmla="val 8421"/>
            </a:avLst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48132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148132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processes in the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disk + in memory)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423160"/>
            <a:ext cx="4956048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871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Queue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48716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memory, waiting for CPU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PCBs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3429000"/>
            <a:ext cx="4956048" cy="868680"/>
          </a:xfrm>
          <a:prstGeom prst="roundRect">
            <a:avLst>
              <a:gd name="adj" fmla="val 8421"/>
            </a:avLst>
          </a:prstGeom>
          <a:solidFill>
            <a:srgbClr val="00606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4930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Queue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device)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493008"/>
            <a:ext cx="2880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specific I/O device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per device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286000"/>
            <a:ext cx="0" cy="137160"/>
          </a:xfrm>
          <a:prstGeom prst="line">
            <a:avLst/>
          </a:prstGeom>
          <a:noFill/>
          <a:ln w="31750">
            <a:solidFill>
              <a:srgbClr val="FFA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291840"/>
            <a:ext cx="0" cy="137160"/>
          </a:xfrm>
          <a:prstGeom prst="line">
            <a:avLst/>
          </a:prstGeom>
          <a:noFill/>
          <a:ln w="31750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31596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Analogy: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= all registered patients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Queue = patients in waiting room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Queue = patients waiting for X-ray / blood test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23560" y="822960"/>
            <a:ext cx="3246120" cy="4370832"/>
          </a:xfrm>
          <a:prstGeom prst="roundRect">
            <a:avLst>
              <a:gd name="adj" fmla="val 338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822960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742432" y="87782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Dispatcher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42432" y="14081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gives CPU control to the process SELECTED by the scheduler.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42432" y="19659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Functions: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42432" y="2304288"/>
            <a:ext cx="3035808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/>
        </p:spPr>
      </p:sp>
      <p:sp>
        <p:nvSpPr>
          <p:cNvPr id="26" name="Text 24"/>
          <p:cNvSpPr/>
          <p:nvPr/>
        </p:nvSpPr>
        <p:spPr>
          <a:xfrm>
            <a:off x="5833872" y="235915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 switch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(save A's state, load B's state)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42432" y="3108960"/>
            <a:ext cx="3035808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5833872" y="31638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Switch to user mode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(kernel → user privilege)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42432" y="3913632"/>
            <a:ext cx="3035808" cy="713232"/>
          </a:xfrm>
          <a:prstGeom prst="roundRect">
            <a:avLst>
              <a:gd name="adj" fmla="val 8974"/>
            </a:avLst>
          </a:prstGeom>
          <a:solidFill>
            <a:srgbClr val="112240"/>
          </a:solidFill>
          <a:ln/>
        </p:spPr>
      </p:sp>
      <p:sp>
        <p:nvSpPr>
          <p:cNvPr id="30" name="Text 28"/>
          <p:cNvSpPr/>
          <p:nvPr/>
        </p:nvSpPr>
        <p:spPr>
          <a:xfrm>
            <a:off x="5833872" y="396849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Jump to saved PC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(resume process B exactly)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42432" y="4754880"/>
            <a:ext cx="3035808" cy="347472"/>
          </a:xfrm>
          <a:prstGeom prst="roundRect">
            <a:avLst>
              <a:gd name="adj" fmla="val 18421"/>
            </a:avLst>
          </a:prstGeom>
          <a:solidFill>
            <a:srgbClr val="F57F17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479145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Latency = time taken for one context switch. Must be MINIMIZED.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CPU-I/O Burst Cycle &amp; Context Switch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— Process Scheduling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24528" cy="4370832"/>
          </a:xfrm>
          <a:prstGeom prst="roundRect">
            <a:avLst>
              <a:gd name="adj" fmla="val 259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24528" cy="502920"/>
          </a:xfrm>
          <a:prstGeom prst="roundRect">
            <a:avLst>
              <a:gd name="adj" fmla="val 18182"/>
            </a:avLst>
          </a:prstGeom>
          <a:solidFill>
            <a:srgbClr val="00606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77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CPU-I/O Burst Cycle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40817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alternate between CPU computation and waiting for I/O: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1828800"/>
            <a:ext cx="54864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1828800"/>
            <a:ext cx="548640" cy="2011680"/>
          </a:xfrm>
          <a:prstGeom prst="roundRect">
            <a:avLst>
              <a:gd name="adj" fmla="val 10000"/>
            </a:avLst>
          </a:prstGeom>
          <a:solidFill>
            <a:srgbClr val="006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810512" y="1828800"/>
            <a:ext cx="54864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1828800"/>
            <a:ext cx="548640" cy="2011680"/>
          </a:xfrm>
          <a:prstGeom prst="roundRect">
            <a:avLst>
              <a:gd name="adj" fmla="val 10000"/>
            </a:avLst>
          </a:prstGeom>
          <a:solidFill>
            <a:srgbClr val="006064"/>
          </a:solidFill>
          <a:ln/>
        </p:spPr>
      </p:sp>
      <p:sp>
        <p:nvSpPr>
          <p:cNvPr id="13" name="Shape 11"/>
          <p:cNvSpPr/>
          <p:nvPr/>
        </p:nvSpPr>
        <p:spPr>
          <a:xfrm>
            <a:off x="3090672" y="1828800"/>
            <a:ext cx="54864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1828800"/>
            <a:ext cx="548640" cy="20116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767328"/>
            <a:ext cx="4005072" cy="621792"/>
          </a:xfrm>
          <a:prstGeom prst="roundRect">
            <a:avLst>
              <a:gd name="adj" fmla="val 10294"/>
            </a:avLst>
          </a:prstGeom>
          <a:solidFill>
            <a:srgbClr val="00606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8221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Process: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76272" y="382219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SHORT CPU bursts, long I/O bursts.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CPU-idle most of time.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text editor, browser, 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4480560"/>
            <a:ext cx="4005072" cy="621792"/>
          </a:xfrm>
          <a:prstGeom prst="roundRect">
            <a:avLst>
              <a:gd name="adj" fmla="val 10294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45354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Process: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4535424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LONG CPU bursts, short I/O bursts.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busy most of time.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scientific calc, video encoding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224528" cy="4370832"/>
          </a:xfrm>
          <a:prstGeom prst="roundRect">
            <a:avLst>
              <a:gd name="adj" fmla="val 2597"/>
            </a:avLst>
          </a:prstGeom>
          <a:solidFill>
            <a:srgbClr val="F1F8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224528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877824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Context Switch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73168" y="1408176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the state of running process A and restoring the state of next process B: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73168" y="1847088"/>
            <a:ext cx="40050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8836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Save Process A's PC, registers, stack → PCB_A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73168" y="2258568"/>
            <a:ext cx="4005072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PCB_A state to Ready or Waiting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2670048"/>
            <a:ext cx="40050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066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Move PCB_A to appropriate queue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73168" y="3081528"/>
            <a:ext cx="4005072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18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 Process B's PC, registers ← PCB_B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73168" y="3493008"/>
            <a:ext cx="40050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PCB_B state to Running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3904488"/>
            <a:ext cx="4005072" cy="347472"/>
          </a:xfrm>
          <a:prstGeom prst="rect">
            <a:avLst/>
          </a:prstGeom>
          <a:solidFill>
            <a:srgbClr val="F1F8F1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9410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Jump to Process B's saved PC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73168" y="4343400"/>
            <a:ext cx="4005072" cy="73152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43799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Context switch = PURE OVERHEAD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useful work done during the switch!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1–10 microseconds per switch.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support (multiple register sets) reduces this.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Scheduling: Batch, Interactive &amp; Real-Time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— Process Scheduling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2816352" cy="437083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1752" y="86868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9144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Batch System Scheduling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systems processing large jobs sequentially. Response time not critical.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4231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Maximize throughput (jobs/hour)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715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Maximize CPU utilization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0083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Minimize turnaround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3375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36118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FCFS — First Come First Served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8679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SJF — Shortest Job First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41239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SRTF — Shortest Remaining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43799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HRN — Highest Response Ratio Next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263347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68172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Bank payroll processing, scientific simulations, report generation overnight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822960"/>
            <a:ext cx="2816352" cy="437083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86868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9144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Interactive System Scheduling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91840" y="150876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in real time. Quick response to user input is critical (&lt; 1 second ideal).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2148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24231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Minimize response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2715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Proportionality (fast for short tasks)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0083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starvation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3375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6118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 Robin — time quantum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8679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Scheduling + Aging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1239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Multilevel Feedback Queue (MLFQ)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3799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Lottery Scheduling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4645152"/>
            <a:ext cx="263347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468172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Desktop OS (Windows, macOS, Linux), web browsers, IDEs, online banking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822960"/>
            <a:ext cx="2816352" cy="437083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868680"/>
            <a:ext cx="2724912" cy="566928"/>
          </a:xfrm>
          <a:prstGeom prst="roundRect">
            <a:avLst>
              <a:gd name="adj" fmla="val 12903"/>
            </a:avLst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9144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System Scheduling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36208" y="150876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have strict deadlines. Missing a deadline may be catastrophic (hard) or degrading (soft).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36208" y="2148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36208" y="24231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Meet ALL deadlines (hard RT)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36208" y="2715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Predictability over throughput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36208" y="30083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Minimize miss rate (soft RT)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3375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36208" y="361188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Monotonic (RM)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6208" y="38679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Earliest Deadline First (EDF)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36208" y="41239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scheduling (fixed)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36208" y="43799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Preemptive scheduling always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36208" y="4645152"/>
            <a:ext cx="2633472" cy="18288"/>
          </a:xfrm>
          <a:prstGeom prst="rect">
            <a:avLst/>
          </a:prstGeom>
          <a:solidFill>
            <a:srgbClr val="E0EDE0"/>
          </a:solidFill>
          <a:ln w="12700">
            <a:solidFill>
              <a:srgbClr val="E0E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4681728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Hard: airbag, pacemaker, fly-by-wire, missile | Soft: Zoom, Netflix, gaming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— Complete Summary (All Topics)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078992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822960"/>
            <a:ext cx="1920240" cy="1042416"/>
          </a:xfrm>
          <a:prstGeom prst="roundRect">
            <a:avLst>
              <a:gd name="adj" fmla="val 7018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Process Concepts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267712" y="841248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 = program in execution. Life cycle: New→Ready→Running→Waiting→Terminated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67712" y="1051560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PCB: stores PID, state, PC, registers, memory info. Enables context switching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7712" y="1261872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Preemption: OS forcibly removes CPU. Non-preemptive: process runs until done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67712" y="1472184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Process Hierarchies: Unix tree (init→all). Implementation: Process Table, Ready/Device Queues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67712" y="1682496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Cooperation: by Sharing (shared memory, fast) or by Communication (message passing, safe)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1947672"/>
            <a:ext cx="8631936" cy="1078992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965960"/>
            <a:ext cx="1920240" cy="1042416"/>
          </a:xfrm>
          <a:prstGeom prst="roundRect">
            <a:avLst>
              <a:gd name="adj" fmla="val 7018"/>
            </a:avLst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57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Threads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67712" y="1984248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Thread = lightweight process. Shares code/data/heap. Own stack/registers/PC/TID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67712" y="2194560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Thread Model: single vs multithreaded. Thread vs Process: lighter, faster, shared memory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67712" y="2404872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ULT: managed by library, fast but all block on I/O, no multi-core. KLT: OS-managed, true parallelism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67712" y="2615184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Models: Many-to-One, One-to-One (most common, Linux/Windows), Many-to-Many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090672"/>
            <a:ext cx="8631936" cy="1078992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" y="3108960"/>
            <a:ext cx="1920240" cy="1042416"/>
          </a:xfrm>
          <a:prstGeom prst="roundRect">
            <a:avLst>
              <a:gd name="adj" fmla="val 7018"/>
            </a:avLst>
          </a:prstGeom>
          <a:solidFill>
            <a:srgbClr val="F57F1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IPC &amp; Sync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67712" y="3127248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Race condition → Critical section → 3 requirements: Mutual exclusion, Progress, Bounded wait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67712" y="3337560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Solutions: Disable interrupts, Lock variable, Peterson, TSL (hardware atomic)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67712" y="3547872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Semaphore (P/V), Monitor (Java synchronized), Message passing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67712" y="3758184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Classic problems: Dining Philosophers, Readers-Writers, Sleeping Barber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4233672"/>
            <a:ext cx="8631936" cy="1078992"/>
          </a:xfrm>
          <a:prstGeom prst="roundRect">
            <a:avLst>
              <a:gd name="adj" fmla="val 8475"/>
            </a:avLst>
          </a:prstGeom>
          <a:solidFill>
            <a:srgbClr val="112240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4251960"/>
            <a:ext cx="1920240" cy="1042416"/>
          </a:xfrm>
          <a:prstGeom prst="roundRect">
            <a:avLst>
              <a:gd name="adj" fmla="val 7018"/>
            </a:avLst>
          </a:prstGeom>
          <a:solidFill>
            <a:srgbClr val="FFA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343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D: Scheduling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267712" y="4270248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Queues: Job → Ready → Device. Dispatcher: context switch + switch to user mode + jump to PC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67712" y="4480560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CPU-I/O Burst Cycle: processes alternate CPU and I/O. Context switch = pure overhead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67712" y="4690872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Batch: FCFS, SJF, SRTF, HRN. Interactive: RR, Priority, MLFQ, Lottery. RT: RM, EDF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67712" y="4901184"/>
            <a:ext cx="6473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 formulas: TAT=CT-AT, WT=TAT-BT. Preemptive vs Non-preemptive tradeoffs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5394960"/>
            <a:ext cx="8631936" cy="347472"/>
          </a:xfrm>
          <a:prstGeom prst="roundRect">
            <a:avLst>
              <a:gd name="adj" fmla="val 18421"/>
            </a:avLst>
          </a:prstGeom>
          <a:solidFill>
            <a:srgbClr val="F57F17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5431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Next: Unit 4 — Deadlocks  |  Key formulas: TAT=CT−AT  |  WT=TAT−BT  |  Need=Max−Alloc (for Unit 4)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Management - Unit 3 UPDATED</dc:title>
  <dc:subject>PptxGenJS Presentation</dc:subject>
  <dc:creator>PptxGenJS</dc:creator>
  <cp:lastModifiedBy>PptxGenJS</cp:lastModifiedBy>
  <cp:revision>1</cp:revision>
  <dcterms:created xsi:type="dcterms:W3CDTF">2026-06-21T05:27:41Z</dcterms:created>
  <dcterms:modified xsi:type="dcterms:W3CDTF">2026-06-21T05:27:41Z</dcterms:modified>
</cp:coreProperties>
</file>