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23"/>
    <p:restoredTop sz="94610"/>
  </p:normalViewPr>
  <p:slideViewPr>
    <p:cSldViewPr snapToGrid="0" snapToObjects="1">
      <p:cViewPr varScale="1">
        <p:scale>
          <a:sx n="169" d="100"/>
          <a:sy n="169" d="100"/>
        </p:scale>
        <p:origin x="192" y="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40080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Unit 3 is the LARGEST unit — 15 hours! Split across many lectures. Start by asking: 'What happens when you double-click an app icon?' That journey (from file → running program) is what this unit is about. Preview the 4 parts.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distinction: the .exe FILE is the program. The RUNNING instance is the process. Task Manager (Ctrl+Shift+Esc) shows processes. Open it live to show students all the processes currently running.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analogy of a person's 'working area': Text = recipe book, Data = pantry, Heap = shopping cart (grows as needed), Stack = temporary notepad for current step. Stack overflow = notepad ran out of space!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Draw this diagram on the board first without the students seeing the slide. Ask them to guess transitions. The preemption arrow (Running→Ready) is the key one to emphasize for time-sharing systems.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insight: Without PCB, the OS cannot pause a process and later resume exactly where it left off. Every time you Alt+Tab, the OS is performing a context switch — saving one PCB, loading another. This is what makes multitasking possible.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Chrome example: When you open Chrome, it's ONE process. But inside: one thread renders your page, another thread handles JavaScript, another thread handles network requests. That's why Chrome is responsive even while loading a heavy page. Contrast with old single-threaded apps that 'freeze' while loading.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One-to-One is most common today (Linux, Windows). Many-to-Many is theoretically best but complex. Ask: 'Why can't we just use Many-to-One?' → On a 4-core CPU, you can only use 1 core — wasted hardware! One-to-One lets all 4 cores run threads in parallel.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ATM example is very relatable. Ask: 'Have you ever checked your balance and it seemed wrong after a transaction?' That could be a race condition! Banks prevent this using atomic transactions (like semaphores in software). The 3 requirements are EXAM FAVORITES — must memorize.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Semaphore P/V mnemonic: P = Proberen (Dutch: to test), V = Verhogen (Dutch: to increment) — from Dijkstra. For exam: P=wait=down=decrement. V=signal=up=increment. Parking lot semaphore is the best analogy. Java synchronized = monitor — very practical for students who know Java.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Dining Philosophers is the most exam-relevant. Draw 5 circles (philosophers) around a table with 5 sticks (forks) and make students trace the deadlock. The key insight: if EVERYONE picks the left fork simultaneously, nobody gets 2 forks and nobody eats — deadlock! The asymmetry solution breaks this.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insight: On a SINGLE-CORE CPU, only ONE process can run at a time. Scheduling makes it SEEM like multiple processes run simultaneously. Ask: 'Why not just run the longest job first?' → Convoy effect — short jobs wait forever. That's the motivation for SJF and RR.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FCFS convoy effect: Imagine a supermarket with one checkout. A person buying 200 items is in front of people with 1-2 items. SJF = express checkout lane for short jobs. Problem: how does the OS know burst time in advance? It estimates using exponential averaging of past history.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Round Robin analogy: A teacher giving each student exactly 5 minutes to ask questions, then moving to the next. No student waits more than 5×N minutes. Ask: 'What if q=1ms on a 1GHz CPU?' → millions of context switches per second — huge overhead! Optimal q balances responsiveness vs overhead.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MLFQ is the most practically important — it's what modern OS actually use. Linux CFS (Completely Fair Scheduler) and Windows Task Scheduler are based on these ideas. Priority aging is critical — without it, a low-priority process could literally NEVER run if high-priority processes keep arriving.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EXAM GOLD. Walk through FCFS and SJF step by step on the board. For RR, use a timeline on the board — draw a horizontal line and mark each time slice. Practice tip for students: ALWAYS draw the Gantt chart first, THEN fill in CT/TAT/WT — never calculate blindly from memory.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Tell students: 'Take a photo of this table — it's your revision cheat sheet.' For the exam, the most commonly compared pairs are: FCFS vs SJF, SJF vs SRTF, and RR vs Priority. Know which are preemptive/non-preemptive and which suffer starvation. MLFQ is the 'boss level' answer for 'which is best?'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Final review: Ask students: 'Name one scheduling algorithm and one real-world OS that uses it.' (RR → Linux for interactive tasks; MLFQ → Windows; Priority → RTOS like QNX). Homework: Solve given process table using all 3 algorithms (FCFS, SJF, RR). Preview Unit 4 — Deadlocks naturally follow process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Common student questions after this unit: 'Can a process become a thread?' No — but a process can CREATE threads. 'Is forking expensive?' Yes — that's why threads exist. 'Does Python have true threads?' No — due to GIL (Global Interpreter Lock), Python threads don't run in parallel on multiple cores — a great real-world limitation!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CACS251 — Operating System  |  Unit 3  |  15 Hrs.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078992"/>
            <a:ext cx="8229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</a:t>
            </a:r>
            <a:endParaRPr lang="en-US" sz="58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Management</a:t>
            </a:r>
            <a:endParaRPr lang="en-US" sz="5800" dirty="0"/>
          </a:p>
        </p:txBody>
      </p:sp>
      <p:sp>
        <p:nvSpPr>
          <p:cNvPr id="5" name="Text 3"/>
          <p:cNvSpPr/>
          <p:nvPr/>
        </p:nvSpPr>
        <p:spPr>
          <a:xfrm>
            <a:off x="457200" y="31089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FFA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Concepts  •  Threads  •  IPC &amp; Synchronization  •  Scheduling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0040" y="3730752"/>
            <a:ext cx="1965960" cy="1143000"/>
          </a:xfrm>
          <a:prstGeom prst="roundRect">
            <a:avLst>
              <a:gd name="adj" fmla="val 8000"/>
            </a:avLst>
          </a:prstGeom>
          <a:solidFill>
            <a:srgbClr val="112240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3767328"/>
            <a:ext cx="1965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A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A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Concepts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A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Hrs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468880" y="3730752"/>
            <a:ext cx="1965960" cy="1143000"/>
          </a:xfrm>
          <a:prstGeom prst="roundRect">
            <a:avLst>
              <a:gd name="adj" fmla="val 8000"/>
            </a:avLst>
          </a:prstGeom>
          <a:solidFill>
            <a:srgbClr val="112240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68880" y="3767328"/>
            <a:ext cx="1965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A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A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Threads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A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Hr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617720" y="3730752"/>
            <a:ext cx="1965960" cy="1143000"/>
          </a:xfrm>
          <a:prstGeom prst="roundRect">
            <a:avLst>
              <a:gd name="adj" fmla="val 8000"/>
            </a:avLst>
          </a:prstGeom>
          <a:solidFill>
            <a:srgbClr val="112240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17720" y="3767328"/>
            <a:ext cx="1965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A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C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A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IPC &amp; Sync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A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Hrs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766560" y="3730752"/>
            <a:ext cx="1965960" cy="1143000"/>
          </a:xfrm>
          <a:prstGeom prst="roundRect">
            <a:avLst>
              <a:gd name="adj" fmla="val 8000"/>
            </a:avLst>
          </a:prstGeom>
          <a:solidFill>
            <a:srgbClr val="112240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766560" y="3767328"/>
            <a:ext cx="1965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A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D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A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A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Hrs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Process?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 — Process Concepts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731520"/>
          </a:xfrm>
          <a:prstGeom prst="roundRect">
            <a:avLst>
              <a:gd name="adj" fmla="val 12500"/>
            </a:avLst>
          </a:prstGeom>
          <a:solidFill>
            <a:srgbClr val="E8F5E9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9728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process is a PROGRAM IN EXECUTION — an active entity with its own memory, state, and resources.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0040" y="1901952"/>
            <a:ext cx="4069080" cy="2926080"/>
          </a:xfrm>
          <a:prstGeom prst="roundRect">
            <a:avLst>
              <a:gd name="adj" fmla="val 3750"/>
            </a:avLst>
          </a:prstGeom>
          <a:solidFill>
            <a:srgbClr val="006064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1993392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PROGRAM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84632" y="2523744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Passive — stored on disk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4632" y="2962656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Static set of instructions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4632" y="340156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Does nothing by itself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4632" y="384048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One copy on disk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4632" y="427939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e.g.  chrome.exe  file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63440" y="1901952"/>
            <a:ext cx="4069080" cy="2926080"/>
          </a:xfrm>
          <a:prstGeom prst="roundRect">
            <a:avLst>
              <a:gd name="adj" fmla="val 3750"/>
            </a:avLst>
          </a:prstGeom>
          <a:solidFill>
            <a:srgbClr val="2E7D32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00600" y="1993392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PROCESS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828032" y="2523744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Active — running in memory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28032" y="2962656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Has state, resources, PID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28032" y="340156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Executes instructions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28032" y="384048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Multiple from one program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28032" y="427939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e.g.  3 Chrome tabs = 3 processes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20040" y="4709160"/>
            <a:ext cx="8503920" cy="384048"/>
          </a:xfrm>
          <a:prstGeom prst="roundRect">
            <a:avLst>
              <a:gd name="adj" fmla="val 19048"/>
            </a:avLst>
          </a:prstGeom>
          <a:solidFill>
            <a:srgbClr val="F57F17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47548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Double-click Word.exe → creates a process  |  Open 3 Word docs → 3 separate processes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6064"/>
          </a:solidFill>
          <a:ln w="12700">
            <a:solidFill>
              <a:srgbClr val="0060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 in Memory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2286000" y="841248"/>
            <a:ext cx="2743200" cy="914400"/>
          </a:xfrm>
          <a:prstGeom prst="rect">
            <a:avLst/>
          </a:prstGeom>
          <a:solidFill>
            <a:srgbClr val="2E7D32"/>
          </a:solidFill>
          <a:ln w="6350">
            <a:solidFill>
              <a:srgbClr val="E0ED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0" y="89611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286000" y="129844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0E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calls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D0E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variables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86000" y="1755648"/>
            <a:ext cx="2743200" cy="475488"/>
          </a:xfrm>
          <a:prstGeom prst="rect">
            <a:avLst/>
          </a:prstGeom>
          <a:solidFill>
            <a:srgbClr val="E8F5E9"/>
          </a:solidFill>
          <a:ln w="6350">
            <a:solidFill>
              <a:srgbClr val="E0ED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0" y="1847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3E5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↕  (grows toward each other)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286000" y="2231136"/>
            <a:ext cx="2743200" cy="868680"/>
          </a:xfrm>
          <a:prstGeom prst="rect">
            <a:avLst/>
          </a:prstGeom>
          <a:solidFill>
            <a:srgbClr val="00838F"/>
          </a:solidFill>
          <a:ln w="6350">
            <a:solidFill>
              <a:srgbClr val="E0ED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0" y="22860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Heap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286000" y="268833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0E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memory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D0E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(malloc, new)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286000" y="3099816"/>
            <a:ext cx="2743200" cy="832104"/>
          </a:xfrm>
          <a:prstGeom prst="rect">
            <a:avLst/>
          </a:prstGeom>
          <a:solidFill>
            <a:srgbClr val="006064"/>
          </a:solidFill>
          <a:ln w="6350">
            <a:solidFill>
              <a:srgbClr val="E0ED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86000" y="31546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(BSS)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286000" y="355701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0E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&amp; static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D0E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286000" y="3931920"/>
            <a:ext cx="2743200" cy="777240"/>
          </a:xfrm>
          <a:prstGeom prst="rect">
            <a:avLst/>
          </a:prstGeom>
          <a:solidFill>
            <a:srgbClr val="0A1628"/>
          </a:solidFill>
          <a:ln w="6350">
            <a:solidFill>
              <a:srgbClr val="E0ED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86000" y="390448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(Code)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286000" y="4306824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0E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instructions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D0E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(read-only)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166360" y="11155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6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Grows downward ↓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166360" y="25146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6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Grows upward ↑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29200" y="841248"/>
            <a:ext cx="3794760" cy="3794760"/>
          </a:xfrm>
          <a:prstGeom prst="roundRect">
            <a:avLst>
              <a:gd name="adj" fmla="val 2892"/>
            </a:avLst>
          </a:prstGeom>
          <a:solidFill>
            <a:srgbClr val="F1F8F1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166360" y="932688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Components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166360" y="1389888"/>
            <a:ext cx="3520440" cy="566928"/>
          </a:xfrm>
          <a:prstGeom prst="roundRect">
            <a:avLst>
              <a:gd name="adj" fmla="val 11290"/>
            </a:avLst>
          </a:prstGeom>
          <a:solidFill>
            <a:srgbClr val="0A1628"/>
          </a:solidFill>
          <a:ln/>
        </p:spPr>
      </p:sp>
      <p:sp>
        <p:nvSpPr>
          <p:cNvPr id="23" name="Text 21"/>
          <p:cNvSpPr/>
          <p:nvPr/>
        </p:nvSpPr>
        <p:spPr>
          <a:xfrm>
            <a:off x="5257800" y="1444752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(Code)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327648" y="1444752"/>
            <a:ext cx="22677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E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program's executable instructions — read-only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166360" y="2048256"/>
            <a:ext cx="3520440" cy="566928"/>
          </a:xfrm>
          <a:prstGeom prst="roundRect">
            <a:avLst>
              <a:gd name="adj" fmla="val 11290"/>
            </a:avLst>
          </a:prstGeom>
          <a:solidFill>
            <a:srgbClr val="006064"/>
          </a:solidFill>
          <a:ln/>
        </p:spPr>
      </p:sp>
      <p:sp>
        <p:nvSpPr>
          <p:cNvPr id="26" name="Text 24"/>
          <p:cNvSpPr/>
          <p:nvPr/>
        </p:nvSpPr>
        <p:spPr>
          <a:xfrm>
            <a:off x="5257800" y="2103120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327648" y="2103120"/>
            <a:ext cx="22677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E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and static variables initialized at start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166360" y="2706624"/>
            <a:ext cx="3520440" cy="566928"/>
          </a:xfrm>
          <a:prstGeom prst="roundRect">
            <a:avLst>
              <a:gd name="adj" fmla="val 11290"/>
            </a:avLst>
          </a:prstGeom>
          <a:solidFill>
            <a:srgbClr val="00838F"/>
          </a:solidFill>
          <a:ln/>
        </p:spPr>
      </p:sp>
      <p:sp>
        <p:nvSpPr>
          <p:cNvPr id="29" name="Text 27"/>
          <p:cNvSpPr/>
          <p:nvPr/>
        </p:nvSpPr>
        <p:spPr>
          <a:xfrm>
            <a:off x="5257800" y="2761488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Heap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327648" y="2761488"/>
            <a:ext cx="22677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E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Dynamically allocated memory — grows upward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166360" y="3364992"/>
            <a:ext cx="3520440" cy="566928"/>
          </a:xfrm>
          <a:prstGeom prst="roundRect">
            <a:avLst>
              <a:gd name="adj" fmla="val 11290"/>
            </a:avLst>
          </a:prstGeom>
          <a:solidFill>
            <a:srgbClr val="2E7D32"/>
          </a:solidFill>
          <a:ln/>
        </p:spPr>
      </p:sp>
      <p:sp>
        <p:nvSpPr>
          <p:cNvPr id="32" name="Text 30"/>
          <p:cNvSpPr/>
          <p:nvPr/>
        </p:nvSpPr>
        <p:spPr>
          <a:xfrm>
            <a:off x="5257800" y="3419856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327648" y="3419856"/>
            <a:ext cx="22677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E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call frames, local vars — grows downward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 State Diagram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65760" y="2011680"/>
            <a:ext cx="1719072" cy="896112"/>
          </a:xfrm>
          <a:prstGeom prst="ellipse">
            <a:avLst/>
          </a:prstGeom>
          <a:solidFill>
            <a:srgbClr val="006064"/>
          </a:solidFill>
          <a:ln w="12700">
            <a:solidFill>
              <a:srgbClr val="006064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2103120"/>
            <a:ext cx="1719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2487168"/>
            <a:ext cx="1719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0E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Being created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60320" y="960120"/>
            <a:ext cx="1719072" cy="89611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560320" y="1051560"/>
            <a:ext cx="1719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560320" y="1435608"/>
            <a:ext cx="1719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0E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 for CPU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46320" y="2011680"/>
            <a:ext cx="1719072" cy="896112"/>
          </a:xfrm>
          <a:prstGeom prst="ellipse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0" y="2103120"/>
            <a:ext cx="1719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46320" y="2487168"/>
            <a:ext cx="1719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0E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560320" y="3154680"/>
            <a:ext cx="1719072" cy="896112"/>
          </a:xfrm>
          <a:prstGeom prst="ellipse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560320" y="3246120"/>
            <a:ext cx="1719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560320" y="3630168"/>
            <a:ext cx="1719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0E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 for I/O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132320" y="2011680"/>
            <a:ext cx="1719072" cy="896112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132320" y="2103120"/>
            <a:ext cx="1719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TERMINATED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132320" y="2487168"/>
            <a:ext cx="1719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0E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Finished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 flipV="1">
            <a:off x="2084832" y="1609344"/>
            <a:ext cx="566928" cy="722376"/>
          </a:xfrm>
          <a:prstGeom prst="line">
            <a:avLst/>
          </a:prstGeom>
          <a:noFill/>
          <a:ln w="25400">
            <a:solidFill>
              <a:srgbClr val="F57F1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51560" y="19202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006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279392" y="1280160"/>
            <a:ext cx="566928" cy="932688"/>
          </a:xfrm>
          <a:prstGeom prst="line">
            <a:avLst/>
          </a:prstGeom>
          <a:noFill/>
          <a:ln w="25400">
            <a:solidFill>
              <a:srgbClr val="F57F1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15968" y="160020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006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966393" y="2720340"/>
            <a:ext cx="0" cy="777240"/>
          </a:xfrm>
          <a:prstGeom prst="line">
            <a:avLst/>
          </a:prstGeom>
          <a:noFill/>
          <a:ln w="25400">
            <a:solidFill>
              <a:srgbClr val="F57F1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15968" y="285292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006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I/O request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279392" y="3383280"/>
            <a:ext cx="0" cy="0"/>
          </a:xfrm>
          <a:prstGeom prst="line">
            <a:avLst/>
          </a:prstGeom>
          <a:noFill/>
          <a:ln w="25400">
            <a:solidFill>
              <a:srgbClr val="F57F1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057400" y="254203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006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I/O complete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565392" y="2331720"/>
            <a:ext cx="566928" cy="0"/>
          </a:xfrm>
          <a:prstGeom prst="line">
            <a:avLst/>
          </a:prstGeom>
          <a:noFill/>
          <a:ln w="25400">
            <a:solidFill>
              <a:srgbClr val="F57F1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10528" y="21031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006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46320" y="2103120"/>
            <a:ext cx="0" cy="0"/>
          </a:xfrm>
          <a:prstGeom prst="line">
            <a:avLst/>
          </a:prstGeom>
          <a:noFill/>
          <a:ln w="25400">
            <a:solidFill>
              <a:srgbClr val="F57F1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15968" y="178308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006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preempt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315200" y="841248"/>
            <a:ext cx="1463040" cy="347472"/>
          </a:xfrm>
          <a:prstGeom prst="rect">
            <a:avLst/>
          </a:prstGeom>
          <a:solidFill>
            <a:srgbClr val="006064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15200" y="87782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315200" y="1261872"/>
            <a:ext cx="1463040" cy="347472"/>
          </a:xfrm>
          <a:prstGeom prst="rect">
            <a:avLst/>
          </a:prstGeom>
          <a:solidFill>
            <a:srgbClr val="2E7D32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315200" y="129844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315200" y="1682496"/>
            <a:ext cx="1463040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315200" y="171907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7315200" y="2103120"/>
            <a:ext cx="1463040" cy="347472"/>
          </a:xfrm>
          <a:prstGeom prst="rect">
            <a:avLst/>
          </a:prstGeom>
          <a:solidFill>
            <a:srgbClr val="6A1B9A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315200" y="213969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7315200" y="2523744"/>
            <a:ext cx="1463040" cy="347472"/>
          </a:xfrm>
          <a:prstGeom prst="rect">
            <a:avLst/>
          </a:prstGeom>
          <a:solidFill>
            <a:srgbClr val="C62828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315200" y="25603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Terminated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20040" y="4224528"/>
            <a:ext cx="850392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457200" y="431596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06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 Example: Click 'Open File' in Word → Running → Waiting (disk read) → Ready → Running → File appears!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6064"/>
          </a:solidFill>
          <a:ln w="12700">
            <a:solidFill>
              <a:srgbClr val="0060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 Control Block (PCB)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20040" y="841248"/>
            <a:ext cx="4114800" cy="4160520"/>
          </a:xfrm>
          <a:prstGeom prst="roundRect">
            <a:avLst>
              <a:gd name="adj" fmla="val 2667"/>
            </a:avLst>
          </a:prstGeom>
          <a:solidFill>
            <a:srgbClr val="F1F8F1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932688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Control Block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38912" y="1371600"/>
            <a:ext cx="3886200" cy="384048"/>
          </a:xfrm>
          <a:prstGeom prst="rect">
            <a:avLst/>
          </a:prstGeom>
          <a:solidFill>
            <a:srgbClr val="155724"/>
          </a:solidFill>
          <a:ln w="12700">
            <a:solidFill>
              <a:srgbClr val="E0ED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39903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ID (PID)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487168" y="1399032"/>
            <a:ext cx="1755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C8F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PID = 1234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8912" y="1810512"/>
            <a:ext cx="3886200" cy="384048"/>
          </a:xfrm>
          <a:prstGeom prst="rect">
            <a:avLst/>
          </a:prstGeom>
          <a:solidFill>
            <a:srgbClr val="006064"/>
          </a:solidFill>
          <a:ln w="12700">
            <a:solidFill>
              <a:srgbClr val="E0ED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837944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State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487168" y="1837944"/>
            <a:ext cx="1755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C8F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/ Running / Waiting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38912" y="2249424"/>
            <a:ext cx="3886200" cy="384048"/>
          </a:xfrm>
          <a:prstGeom prst="rect">
            <a:avLst/>
          </a:prstGeom>
          <a:solidFill>
            <a:srgbClr val="155724"/>
          </a:solidFill>
          <a:ln w="12700">
            <a:solidFill>
              <a:srgbClr val="E0ED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276856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Counter (PC)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487168" y="2276856"/>
            <a:ext cx="1755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C8F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of next instruction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38912" y="2688336"/>
            <a:ext cx="3886200" cy="384048"/>
          </a:xfrm>
          <a:prstGeom prst="rect">
            <a:avLst/>
          </a:prstGeom>
          <a:solidFill>
            <a:srgbClr val="006064"/>
          </a:solidFill>
          <a:ln w="12700">
            <a:solidFill>
              <a:srgbClr val="E0ED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71576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Registers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2487168" y="2715768"/>
            <a:ext cx="1755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C8F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AX, BX, SP, BP — saved on switch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38912" y="3127248"/>
            <a:ext cx="3886200" cy="384048"/>
          </a:xfrm>
          <a:prstGeom prst="rect">
            <a:avLst/>
          </a:prstGeom>
          <a:solidFill>
            <a:srgbClr val="155724"/>
          </a:solidFill>
          <a:ln w="12700">
            <a:solidFill>
              <a:srgbClr val="E0ED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1546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 Info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2487168" y="3154680"/>
            <a:ext cx="1755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C8F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Priority, queue pointers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38912" y="3566160"/>
            <a:ext cx="3886200" cy="384048"/>
          </a:xfrm>
          <a:prstGeom prst="rect">
            <a:avLst/>
          </a:prstGeom>
          <a:solidFill>
            <a:srgbClr val="006064"/>
          </a:solidFill>
          <a:ln w="12700">
            <a:solidFill>
              <a:srgbClr val="E0ED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59359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Management Info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2487168" y="3593592"/>
            <a:ext cx="1755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C8F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tables, segment tables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38912" y="4005072"/>
            <a:ext cx="3886200" cy="384048"/>
          </a:xfrm>
          <a:prstGeom prst="rect">
            <a:avLst/>
          </a:prstGeom>
          <a:solidFill>
            <a:srgbClr val="155724"/>
          </a:solidFill>
          <a:ln w="12700">
            <a:solidFill>
              <a:srgbClr val="E0ED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4032504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Accounting Info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2487168" y="4032504"/>
            <a:ext cx="1755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C8F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time used, start time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38912" y="4443984"/>
            <a:ext cx="3886200" cy="384048"/>
          </a:xfrm>
          <a:prstGeom prst="rect">
            <a:avLst/>
          </a:prstGeom>
          <a:solidFill>
            <a:srgbClr val="006064"/>
          </a:solidFill>
          <a:ln w="12700">
            <a:solidFill>
              <a:srgbClr val="E0ED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4471416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I/O Status Info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2487168" y="4471416"/>
            <a:ext cx="1755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C8F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files, assigned devices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617720" y="841248"/>
            <a:ext cx="4206240" cy="2011680"/>
          </a:xfrm>
          <a:prstGeom prst="roundRect">
            <a:avLst>
              <a:gd name="adj" fmla="val 5455"/>
            </a:avLst>
          </a:prstGeom>
          <a:solidFill>
            <a:srgbClr val="0A1628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754880" y="93268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A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Context Switch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4754880" y="1389888"/>
            <a:ext cx="393192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CPU switches from one process to another: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Save current process state → its PCB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Load next process state ← its PCB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Resume execution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PCB is the 'identity card' of a process.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4617720" y="3017520"/>
            <a:ext cx="4206240" cy="1993392"/>
          </a:xfrm>
          <a:prstGeom prst="roundRect">
            <a:avLst>
              <a:gd name="adj" fmla="val 4587"/>
            </a:avLst>
          </a:prstGeom>
          <a:solidFill>
            <a:srgbClr val="F1F8F1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754880" y="31089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PCB Matters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4754880" y="354787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Without PCB → OS cannot pause/resume processes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4754880" y="393192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Alt+Tab between apps = OS saves/restores PCBs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4754880" y="431596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PCB enables multitasking on a single CPU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4754880" y="4700016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Modern OS maintain thousands of PCBs simultaneously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88E3C"/>
          </a:solidFill>
          <a:ln w="12700">
            <a:solidFill>
              <a:srgbClr val="388E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Threads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754880" y="256032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i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— Threads  |  1 Hr.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20040" y="841248"/>
            <a:ext cx="8503920" cy="658368"/>
          </a:xfrm>
          <a:prstGeom prst="roundRect">
            <a:avLst>
              <a:gd name="adj" fmla="val 13889"/>
            </a:avLst>
          </a:prstGeom>
          <a:solidFill>
            <a:srgbClr val="E8F5E9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96112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thread is the smallest unit of CPU execution within a process. Multiple threads share the same process memory space.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320040" y="1627632"/>
            <a:ext cx="8503920" cy="315468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" y="1700784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084832"/>
            <a:ext cx="8229600" cy="502920"/>
          </a:xfrm>
          <a:prstGeom prst="roundRect">
            <a:avLst>
              <a:gd name="adj" fmla="val 12727"/>
            </a:avLst>
          </a:prstGeom>
          <a:solidFill>
            <a:srgbClr val="006064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1488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 |  Data  |  Heap  |  Open Files         ← SHARED by all threads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94360" y="2697480"/>
            <a:ext cx="2468880" cy="1783080"/>
          </a:xfrm>
          <a:prstGeom prst="roundRect">
            <a:avLst>
              <a:gd name="adj" fmla="val 5128"/>
            </a:avLst>
          </a:prstGeom>
          <a:solidFill>
            <a:srgbClr val="2E7D32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5800" y="27889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 1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(Render UI)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85800" y="3310128"/>
            <a:ext cx="2286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8F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Own: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C8F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C8F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Registers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C8F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Counter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291840" y="2697480"/>
            <a:ext cx="2468880" cy="1783080"/>
          </a:xfrm>
          <a:prstGeom prst="roundRect">
            <a:avLst>
              <a:gd name="adj" fmla="val 5128"/>
            </a:avLst>
          </a:prstGeom>
          <a:solidFill>
            <a:srgbClr val="00838F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383280" y="27889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 2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(Handle Input)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383280" y="3310128"/>
            <a:ext cx="2286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8F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Own: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C8F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C8F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Registers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C8F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Counter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989320" y="2697480"/>
            <a:ext cx="2468880" cy="1783080"/>
          </a:xfrm>
          <a:prstGeom prst="roundRect">
            <a:avLst>
              <a:gd name="adj" fmla="val 5128"/>
            </a:avLst>
          </a:prstGeom>
          <a:solidFill>
            <a:srgbClr val="006064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080760" y="27889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 3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(Load Images)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080760" y="3310128"/>
            <a:ext cx="2286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8F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Own: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C8F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C8F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Registers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C8F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Counter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20040" y="4864608"/>
            <a:ext cx="2743200" cy="457200"/>
          </a:xfrm>
          <a:prstGeom prst="roundRect">
            <a:avLst>
              <a:gd name="adj" fmla="val 14000"/>
            </a:avLst>
          </a:prstGeom>
          <a:solidFill>
            <a:srgbClr val="F57F17"/>
          </a:solidFill>
          <a:ln/>
        </p:spPr>
      </p:sp>
      <p:sp>
        <p:nvSpPr>
          <p:cNvPr id="21" name="Text 19"/>
          <p:cNvSpPr/>
          <p:nvPr/>
        </p:nvSpPr>
        <p:spPr>
          <a:xfrm>
            <a:off x="411480" y="4901184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Responsive:  Other threads work while one waits for I/O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227832" y="4864608"/>
            <a:ext cx="2743200" cy="457200"/>
          </a:xfrm>
          <a:prstGeom prst="roundRect">
            <a:avLst>
              <a:gd name="adj" fmla="val 14000"/>
            </a:avLst>
          </a:prstGeom>
          <a:solidFill>
            <a:srgbClr val="F57F17"/>
          </a:solidFill>
          <a:ln/>
        </p:spPr>
      </p:sp>
      <p:sp>
        <p:nvSpPr>
          <p:cNvPr id="23" name="Text 21"/>
          <p:cNvSpPr/>
          <p:nvPr/>
        </p:nvSpPr>
        <p:spPr>
          <a:xfrm>
            <a:off x="3319272" y="4901184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  Shared Memory:  Cheaper than processes — share heap/data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135624" y="4864608"/>
            <a:ext cx="2743200" cy="457200"/>
          </a:xfrm>
          <a:prstGeom prst="roundRect">
            <a:avLst>
              <a:gd name="adj" fmla="val 14000"/>
            </a:avLst>
          </a:prstGeom>
          <a:solidFill>
            <a:srgbClr val="F57F17"/>
          </a:solidFill>
          <a:ln/>
        </p:spPr>
      </p:sp>
      <p:sp>
        <p:nvSpPr>
          <p:cNvPr id="25" name="Text 23"/>
          <p:cNvSpPr/>
          <p:nvPr/>
        </p:nvSpPr>
        <p:spPr>
          <a:xfrm>
            <a:off x="6227064" y="4901184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🔀  Parallelism:  Run on multiple cores simultaneously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6064"/>
          </a:solidFill>
          <a:ln w="12700">
            <a:solidFill>
              <a:srgbClr val="0060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Multithreading Models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2788920" cy="4315968"/>
          </a:xfrm>
          <a:prstGeom prst="roundRect">
            <a:avLst>
              <a:gd name="adj" fmla="val 3934"/>
            </a:avLst>
          </a:prstGeom>
          <a:solidFill>
            <a:srgbClr val="F1F8F1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9184" y="886968"/>
            <a:ext cx="2679192" cy="594360"/>
          </a:xfrm>
          <a:prstGeom prst="roundRect">
            <a:avLst>
              <a:gd name="adj" fmla="val 12308"/>
            </a:avLst>
          </a:prstGeom>
          <a:solidFill>
            <a:srgbClr val="C62828"/>
          </a:solidFill>
          <a:ln/>
        </p:spPr>
      </p:sp>
      <p:sp>
        <p:nvSpPr>
          <p:cNvPr id="6" name="Text 4"/>
          <p:cNvSpPr/>
          <p:nvPr/>
        </p:nvSpPr>
        <p:spPr>
          <a:xfrm>
            <a:off x="329184" y="923544"/>
            <a:ext cx="2679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Many-to-One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84048" y="1499616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3E5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user → 1 kernel thread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84048" y="1783080"/>
            <a:ext cx="2578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6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Space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11480" y="2029968"/>
            <a:ext cx="777240" cy="347472"/>
          </a:xfrm>
          <a:prstGeom prst="roundRect">
            <a:avLst>
              <a:gd name="adj" fmla="val 13158"/>
            </a:avLst>
          </a:prstGeom>
          <a:solidFill>
            <a:srgbClr val="C62828"/>
          </a:solidFill>
          <a:ln/>
        </p:spPr>
      </p:sp>
      <p:sp>
        <p:nvSpPr>
          <p:cNvPr id="10" name="Text 8"/>
          <p:cNvSpPr/>
          <p:nvPr/>
        </p:nvSpPr>
        <p:spPr>
          <a:xfrm>
            <a:off x="411480" y="205740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234440" y="2029968"/>
            <a:ext cx="777240" cy="347472"/>
          </a:xfrm>
          <a:prstGeom prst="roundRect">
            <a:avLst>
              <a:gd name="adj" fmla="val 13158"/>
            </a:avLst>
          </a:prstGeom>
          <a:solidFill>
            <a:srgbClr val="C62828"/>
          </a:solidFill>
          <a:ln/>
        </p:spPr>
      </p:sp>
      <p:sp>
        <p:nvSpPr>
          <p:cNvPr id="12" name="Text 10"/>
          <p:cNvSpPr/>
          <p:nvPr/>
        </p:nvSpPr>
        <p:spPr>
          <a:xfrm>
            <a:off x="1234440" y="205740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057400" y="2029968"/>
            <a:ext cx="777240" cy="347472"/>
          </a:xfrm>
          <a:prstGeom prst="roundRect">
            <a:avLst>
              <a:gd name="adj" fmla="val 13158"/>
            </a:avLst>
          </a:prstGeom>
          <a:solidFill>
            <a:srgbClr val="C62828"/>
          </a:solidFill>
          <a:ln/>
        </p:spPr>
      </p:sp>
      <p:sp>
        <p:nvSpPr>
          <p:cNvPr id="14" name="Text 12"/>
          <p:cNvSpPr/>
          <p:nvPr/>
        </p:nvSpPr>
        <p:spPr>
          <a:xfrm>
            <a:off x="2057400" y="205740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94360" y="2487168"/>
            <a:ext cx="2148840" cy="0"/>
          </a:xfrm>
          <a:prstGeom prst="line">
            <a:avLst/>
          </a:prstGeom>
          <a:noFill/>
          <a:ln w="25400">
            <a:solidFill>
              <a:srgbClr val="F57F1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423160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↕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84048" y="2578608"/>
            <a:ext cx="2578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6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Space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38912" y="2834640"/>
            <a:ext cx="2240280" cy="347472"/>
          </a:xfrm>
          <a:prstGeom prst="roundRect">
            <a:avLst>
              <a:gd name="adj" fmla="val 13158"/>
            </a:avLst>
          </a:prstGeom>
          <a:solidFill>
            <a:srgbClr val="0A1628"/>
          </a:solidFill>
          <a:ln/>
        </p:spPr>
      </p:sp>
      <p:sp>
        <p:nvSpPr>
          <p:cNvPr id="19" name="Text 17"/>
          <p:cNvSpPr/>
          <p:nvPr/>
        </p:nvSpPr>
        <p:spPr>
          <a:xfrm>
            <a:off x="438912" y="2862072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K1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84048" y="3273552"/>
            <a:ext cx="2578608" cy="18288"/>
          </a:xfrm>
          <a:prstGeom prst="rect">
            <a:avLst/>
          </a:prstGeom>
          <a:solidFill>
            <a:srgbClr val="E0EDE0"/>
          </a:solidFill>
          <a:ln w="12700">
            <a:solidFill>
              <a:srgbClr val="E0ED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" y="3337560"/>
            <a:ext cx="2578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Simple, no OS overhead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84048" y="3749040"/>
            <a:ext cx="2578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 parallelism. If one blocks, ALL block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84048" y="4160520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6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Early Java green threads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18688" y="841248"/>
            <a:ext cx="2788920" cy="4315968"/>
          </a:xfrm>
          <a:prstGeom prst="roundRect">
            <a:avLst>
              <a:gd name="adj" fmla="val 3934"/>
            </a:avLst>
          </a:prstGeom>
          <a:solidFill>
            <a:srgbClr val="F1F8F1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73552" y="886968"/>
            <a:ext cx="2679192" cy="594360"/>
          </a:xfrm>
          <a:prstGeom prst="roundRect">
            <a:avLst>
              <a:gd name="adj" fmla="val 12308"/>
            </a:avLst>
          </a:prstGeom>
          <a:solidFill>
            <a:srgbClr val="2E7D32"/>
          </a:solidFill>
          <a:ln/>
        </p:spPr>
      </p:sp>
      <p:sp>
        <p:nvSpPr>
          <p:cNvPr id="26" name="Text 24"/>
          <p:cNvSpPr/>
          <p:nvPr/>
        </p:nvSpPr>
        <p:spPr>
          <a:xfrm>
            <a:off x="3273552" y="923544"/>
            <a:ext cx="2679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One-to-One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3328416" y="1499616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3E5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user → 1 kernel thread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328416" y="1783080"/>
            <a:ext cx="2578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6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Space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355848" y="2029968"/>
            <a:ext cx="777240" cy="347472"/>
          </a:xfrm>
          <a:prstGeom prst="roundRect">
            <a:avLst>
              <a:gd name="adj" fmla="val 13158"/>
            </a:avLst>
          </a:prstGeom>
          <a:solidFill>
            <a:srgbClr val="2E7D32"/>
          </a:solidFill>
          <a:ln/>
        </p:spPr>
      </p:sp>
      <p:sp>
        <p:nvSpPr>
          <p:cNvPr id="30" name="Text 28"/>
          <p:cNvSpPr/>
          <p:nvPr/>
        </p:nvSpPr>
        <p:spPr>
          <a:xfrm>
            <a:off x="3355848" y="205740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178808" y="2029968"/>
            <a:ext cx="777240" cy="347472"/>
          </a:xfrm>
          <a:prstGeom prst="roundRect">
            <a:avLst>
              <a:gd name="adj" fmla="val 13158"/>
            </a:avLst>
          </a:prstGeom>
          <a:solidFill>
            <a:srgbClr val="2E7D32"/>
          </a:solidFill>
          <a:ln/>
        </p:spPr>
      </p:sp>
      <p:sp>
        <p:nvSpPr>
          <p:cNvPr id="32" name="Text 30"/>
          <p:cNvSpPr/>
          <p:nvPr/>
        </p:nvSpPr>
        <p:spPr>
          <a:xfrm>
            <a:off x="4178808" y="205740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001768" y="2029968"/>
            <a:ext cx="777240" cy="347472"/>
          </a:xfrm>
          <a:prstGeom prst="roundRect">
            <a:avLst>
              <a:gd name="adj" fmla="val 13158"/>
            </a:avLst>
          </a:prstGeom>
          <a:solidFill>
            <a:srgbClr val="2E7D32"/>
          </a:solidFill>
          <a:ln/>
        </p:spPr>
      </p:sp>
      <p:sp>
        <p:nvSpPr>
          <p:cNvPr id="34" name="Text 32"/>
          <p:cNvSpPr/>
          <p:nvPr/>
        </p:nvSpPr>
        <p:spPr>
          <a:xfrm>
            <a:off x="5001768" y="205740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538728" y="2487168"/>
            <a:ext cx="2148840" cy="0"/>
          </a:xfrm>
          <a:prstGeom prst="line">
            <a:avLst/>
          </a:prstGeom>
          <a:noFill/>
          <a:ln w="25400">
            <a:solidFill>
              <a:srgbClr val="F57F1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538728" y="2423160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↕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328416" y="2578608"/>
            <a:ext cx="2578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6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Space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383280" y="2834640"/>
            <a:ext cx="746760" cy="347472"/>
          </a:xfrm>
          <a:prstGeom prst="roundRect">
            <a:avLst>
              <a:gd name="adj" fmla="val 13158"/>
            </a:avLst>
          </a:prstGeom>
          <a:solidFill>
            <a:srgbClr val="0A1628"/>
          </a:solidFill>
          <a:ln/>
        </p:spPr>
      </p:sp>
      <p:sp>
        <p:nvSpPr>
          <p:cNvPr id="39" name="Text 37"/>
          <p:cNvSpPr/>
          <p:nvPr/>
        </p:nvSpPr>
        <p:spPr>
          <a:xfrm>
            <a:off x="3383280" y="2862072"/>
            <a:ext cx="746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K1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181856" y="2834640"/>
            <a:ext cx="746760" cy="347472"/>
          </a:xfrm>
          <a:prstGeom prst="roundRect">
            <a:avLst>
              <a:gd name="adj" fmla="val 13158"/>
            </a:avLst>
          </a:prstGeom>
          <a:solidFill>
            <a:srgbClr val="0A1628"/>
          </a:solidFill>
          <a:ln/>
        </p:spPr>
      </p:sp>
      <p:sp>
        <p:nvSpPr>
          <p:cNvPr id="41" name="Text 39"/>
          <p:cNvSpPr/>
          <p:nvPr/>
        </p:nvSpPr>
        <p:spPr>
          <a:xfrm>
            <a:off x="4181856" y="2862072"/>
            <a:ext cx="746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K2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980432" y="2834640"/>
            <a:ext cx="746760" cy="347472"/>
          </a:xfrm>
          <a:prstGeom prst="roundRect">
            <a:avLst>
              <a:gd name="adj" fmla="val 13158"/>
            </a:avLst>
          </a:prstGeom>
          <a:solidFill>
            <a:srgbClr val="0A1628"/>
          </a:solidFill>
          <a:ln/>
        </p:spPr>
      </p:sp>
      <p:sp>
        <p:nvSpPr>
          <p:cNvPr id="43" name="Text 41"/>
          <p:cNvSpPr/>
          <p:nvPr/>
        </p:nvSpPr>
        <p:spPr>
          <a:xfrm>
            <a:off x="4980432" y="2862072"/>
            <a:ext cx="746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K3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3328416" y="3273552"/>
            <a:ext cx="2578608" cy="18288"/>
          </a:xfrm>
          <a:prstGeom prst="rect">
            <a:avLst/>
          </a:prstGeom>
          <a:solidFill>
            <a:srgbClr val="E0EDE0"/>
          </a:solidFill>
          <a:ln w="12700">
            <a:solidFill>
              <a:srgbClr val="E0EDE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328416" y="3337560"/>
            <a:ext cx="2578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True parallelism on multi-core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3328416" y="3749040"/>
            <a:ext cx="2578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Creating many threads = expensive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3328416" y="4160520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6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Linux pthreads, Windows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163056" y="841248"/>
            <a:ext cx="2788920" cy="4315968"/>
          </a:xfrm>
          <a:prstGeom prst="roundRect">
            <a:avLst>
              <a:gd name="adj" fmla="val 3934"/>
            </a:avLst>
          </a:prstGeom>
          <a:solidFill>
            <a:srgbClr val="F1F8F1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6217920" y="886968"/>
            <a:ext cx="2679192" cy="594360"/>
          </a:xfrm>
          <a:prstGeom prst="roundRect">
            <a:avLst>
              <a:gd name="adj" fmla="val 12308"/>
            </a:avLst>
          </a:prstGeom>
          <a:solidFill>
            <a:srgbClr val="006064"/>
          </a:solidFill>
          <a:ln/>
        </p:spPr>
      </p:sp>
      <p:sp>
        <p:nvSpPr>
          <p:cNvPr id="50" name="Text 48"/>
          <p:cNvSpPr/>
          <p:nvPr/>
        </p:nvSpPr>
        <p:spPr>
          <a:xfrm>
            <a:off x="6217920" y="923544"/>
            <a:ext cx="2679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Many-to-Many</a:t>
            </a:r>
            <a:endParaRPr lang="en-US" sz="1500" dirty="0"/>
          </a:p>
        </p:txBody>
      </p:sp>
      <p:sp>
        <p:nvSpPr>
          <p:cNvPr id="51" name="Text 49"/>
          <p:cNvSpPr/>
          <p:nvPr/>
        </p:nvSpPr>
        <p:spPr>
          <a:xfrm>
            <a:off x="6272784" y="1499616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3E5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user → many kernel (≤ user)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6272784" y="1783080"/>
            <a:ext cx="2578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6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Space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300216" y="2029968"/>
            <a:ext cx="582930" cy="347472"/>
          </a:xfrm>
          <a:prstGeom prst="roundRect">
            <a:avLst>
              <a:gd name="adj" fmla="val 13158"/>
            </a:avLst>
          </a:prstGeom>
          <a:solidFill>
            <a:srgbClr val="006064"/>
          </a:solidFill>
          <a:ln/>
        </p:spPr>
      </p:sp>
      <p:sp>
        <p:nvSpPr>
          <p:cNvPr id="54" name="Text 52"/>
          <p:cNvSpPr/>
          <p:nvPr/>
        </p:nvSpPr>
        <p:spPr>
          <a:xfrm>
            <a:off x="6300216" y="2057400"/>
            <a:ext cx="5829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6917436" y="2029968"/>
            <a:ext cx="582930" cy="347472"/>
          </a:xfrm>
          <a:prstGeom prst="roundRect">
            <a:avLst>
              <a:gd name="adj" fmla="val 13158"/>
            </a:avLst>
          </a:prstGeom>
          <a:solidFill>
            <a:srgbClr val="006064"/>
          </a:solidFill>
          <a:ln/>
        </p:spPr>
      </p:sp>
      <p:sp>
        <p:nvSpPr>
          <p:cNvPr id="56" name="Text 54"/>
          <p:cNvSpPr/>
          <p:nvPr/>
        </p:nvSpPr>
        <p:spPr>
          <a:xfrm>
            <a:off x="6917436" y="2057400"/>
            <a:ext cx="5829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7534656" y="2029968"/>
            <a:ext cx="582930" cy="347472"/>
          </a:xfrm>
          <a:prstGeom prst="roundRect">
            <a:avLst>
              <a:gd name="adj" fmla="val 13158"/>
            </a:avLst>
          </a:prstGeom>
          <a:solidFill>
            <a:srgbClr val="006064"/>
          </a:solidFill>
          <a:ln/>
        </p:spPr>
      </p:sp>
      <p:sp>
        <p:nvSpPr>
          <p:cNvPr id="58" name="Text 56"/>
          <p:cNvSpPr/>
          <p:nvPr/>
        </p:nvSpPr>
        <p:spPr>
          <a:xfrm>
            <a:off x="7534656" y="2057400"/>
            <a:ext cx="5829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8151876" y="2029968"/>
            <a:ext cx="582930" cy="347472"/>
          </a:xfrm>
          <a:prstGeom prst="roundRect">
            <a:avLst>
              <a:gd name="adj" fmla="val 13158"/>
            </a:avLst>
          </a:prstGeom>
          <a:solidFill>
            <a:srgbClr val="006064"/>
          </a:solidFill>
          <a:ln/>
        </p:spPr>
      </p:sp>
      <p:sp>
        <p:nvSpPr>
          <p:cNvPr id="60" name="Text 58"/>
          <p:cNvSpPr/>
          <p:nvPr/>
        </p:nvSpPr>
        <p:spPr>
          <a:xfrm>
            <a:off x="8151876" y="2057400"/>
            <a:ext cx="5829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T4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6483096" y="2487168"/>
            <a:ext cx="2148840" cy="0"/>
          </a:xfrm>
          <a:prstGeom prst="line">
            <a:avLst/>
          </a:prstGeom>
          <a:noFill/>
          <a:ln w="25400">
            <a:solidFill>
              <a:srgbClr val="F57F17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483096" y="2423160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↕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6272784" y="2578608"/>
            <a:ext cx="2578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6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Space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6327648" y="2834640"/>
            <a:ext cx="1120140" cy="347472"/>
          </a:xfrm>
          <a:prstGeom prst="roundRect">
            <a:avLst>
              <a:gd name="adj" fmla="val 13158"/>
            </a:avLst>
          </a:prstGeom>
          <a:solidFill>
            <a:srgbClr val="0A1628"/>
          </a:solidFill>
          <a:ln/>
        </p:spPr>
      </p:sp>
      <p:sp>
        <p:nvSpPr>
          <p:cNvPr id="65" name="Text 63"/>
          <p:cNvSpPr/>
          <p:nvPr/>
        </p:nvSpPr>
        <p:spPr>
          <a:xfrm>
            <a:off x="6327648" y="2862072"/>
            <a:ext cx="11201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K1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7525512" y="2834640"/>
            <a:ext cx="1120140" cy="347472"/>
          </a:xfrm>
          <a:prstGeom prst="roundRect">
            <a:avLst>
              <a:gd name="adj" fmla="val 13158"/>
            </a:avLst>
          </a:prstGeom>
          <a:solidFill>
            <a:srgbClr val="0A1628"/>
          </a:solidFill>
          <a:ln/>
        </p:spPr>
      </p:sp>
      <p:sp>
        <p:nvSpPr>
          <p:cNvPr id="67" name="Text 65"/>
          <p:cNvSpPr/>
          <p:nvPr/>
        </p:nvSpPr>
        <p:spPr>
          <a:xfrm>
            <a:off x="7525512" y="2862072"/>
            <a:ext cx="11201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K2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6272784" y="3273552"/>
            <a:ext cx="2578608" cy="18288"/>
          </a:xfrm>
          <a:prstGeom prst="rect">
            <a:avLst/>
          </a:prstGeom>
          <a:solidFill>
            <a:srgbClr val="E0EDE0"/>
          </a:solidFill>
          <a:ln w="12700">
            <a:solidFill>
              <a:srgbClr val="E0EDE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272784" y="3337560"/>
            <a:ext cx="2578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Best of both — parallelism + efficiency</a:t>
            </a:r>
            <a:endParaRPr lang="en-US" sz="1150" dirty="0"/>
          </a:p>
        </p:txBody>
      </p:sp>
      <p:sp>
        <p:nvSpPr>
          <p:cNvPr id="70" name="Text 68"/>
          <p:cNvSpPr/>
          <p:nvPr/>
        </p:nvSpPr>
        <p:spPr>
          <a:xfrm>
            <a:off x="6272784" y="3749040"/>
            <a:ext cx="2578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Complex to implement</a:t>
            </a:r>
            <a:endParaRPr lang="en-US" sz="1100" dirty="0"/>
          </a:p>
        </p:txBody>
      </p:sp>
      <p:sp>
        <p:nvSpPr>
          <p:cNvPr id="71" name="Text 69"/>
          <p:cNvSpPr/>
          <p:nvPr/>
        </p:nvSpPr>
        <p:spPr>
          <a:xfrm>
            <a:off x="6272784" y="4160520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6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Solaris, Windows with fibers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Race Condition &amp; Critical Section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C — IPC &amp; Synchronization  |  6 Hrs.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024128"/>
            <a:ext cx="5074920" cy="2944368"/>
          </a:xfrm>
          <a:prstGeom prst="roundRect">
            <a:avLst>
              <a:gd name="adj" fmla="val 3727"/>
            </a:avLst>
          </a:prstGeom>
          <a:solidFill>
            <a:srgbClr val="0A1628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115568"/>
            <a:ext cx="4828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A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Race Condition — Bank Example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1572768"/>
            <a:ext cx="4828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= $1000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938528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A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A (Deposit $200)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02920" y="230428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Read balance = $1000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71576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Add 200 = $1200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312724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Write $1200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816352" y="1938528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A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B (Withdraw $300)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816352" y="230428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Read balance = $1000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816352" y="271576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Sub 300 = $700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816352" y="312724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Write $700   ← WINS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3584448"/>
            <a:ext cx="4828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= $700  ←  WRONG! Should be $900!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577840" y="1024128"/>
            <a:ext cx="3246120" cy="2944368"/>
          </a:xfrm>
          <a:prstGeom prst="roundRect">
            <a:avLst>
              <a:gd name="adj" fmla="val 372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715000" y="1115568"/>
            <a:ext cx="29992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6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Section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006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715000" y="1847088"/>
            <a:ext cx="384048" cy="38404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715000" y="1865376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172200" y="18288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Exclusion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172200" y="208483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E5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1 process in CS at a time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715000" y="2532888"/>
            <a:ext cx="384048" cy="38404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715000" y="2551176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172200" y="25146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172200" y="277063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E5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CS empty, waiting process enters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715000" y="3218688"/>
            <a:ext cx="384048" cy="38404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715000" y="3236976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172200" y="32004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Waiting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172200" y="345643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E5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process waits forever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20040" y="4069080"/>
            <a:ext cx="8503920" cy="987552"/>
          </a:xfrm>
          <a:prstGeom prst="roundRect">
            <a:avLst>
              <a:gd name="adj" fmla="val 9259"/>
            </a:avLst>
          </a:prstGeom>
          <a:solidFill>
            <a:srgbClr val="006064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" y="41605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while(true) {  [Entry Section]  →  [Critical Section]  →  [Exit Section]  →  [Remainder Section]  }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Synchronization Mechanisms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2788920" cy="4343400"/>
          </a:xfrm>
          <a:prstGeom prst="roundRect">
            <a:avLst>
              <a:gd name="adj" fmla="val 3934"/>
            </a:avLst>
          </a:prstGeom>
          <a:solidFill>
            <a:srgbClr val="F1F8F1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9184" y="886968"/>
            <a:ext cx="2679192" cy="566928"/>
          </a:xfrm>
          <a:prstGeom prst="roundRect">
            <a:avLst>
              <a:gd name="adj" fmla="val 12903"/>
            </a:avLst>
          </a:prstGeom>
          <a:solidFill>
            <a:srgbClr val="2E7D32"/>
          </a:solidFill>
          <a:ln/>
        </p:spPr>
      </p:sp>
      <p:sp>
        <p:nvSpPr>
          <p:cNvPr id="6" name="Text 4"/>
          <p:cNvSpPr/>
          <p:nvPr/>
        </p:nvSpPr>
        <p:spPr>
          <a:xfrm>
            <a:off x="329184" y="923544"/>
            <a:ext cx="26791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🚦  Semaphore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02336" y="1508760"/>
            <a:ext cx="25420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E5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 variable accessed ONLY via 2 atomic operations: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02336" y="2066544"/>
            <a:ext cx="2542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wait(S) / P: Decrement S; if S&lt;0, sleep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02336" y="2505456"/>
            <a:ext cx="2542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signal(S) / V: Increment S; wake a process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02336" y="2944368"/>
            <a:ext cx="2542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Binary Semaphore = mutex (0 or 1)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02336" y="3383280"/>
            <a:ext cx="2542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Counting Semaphore = resource pool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02336" y="4059936"/>
            <a:ext cx="2542032" cy="18288"/>
          </a:xfrm>
          <a:prstGeom prst="rect">
            <a:avLst/>
          </a:prstGeom>
          <a:solidFill>
            <a:srgbClr val="E0EDE0"/>
          </a:solidFill>
          <a:ln w="12700">
            <a:solidFill>
              <a:srgbClr val="E0ED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2336" y="4114800"/>
            <a:ext cx="254203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Parking lot: 10 spaces = semaphore=10. Car enters→wait(). Car exits→signal().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18688" y="841248"/>
            <a:ext cx="2788920" cy="4343400"/>
          </a:xfrm>
          <a:prstGeom prst="roundRect">
            <a:avLst>
              <a:gd name="adj" fmla="val 3934"/>
            </a:avLst>
          </a:prstGeom>
          <a:solidFill>
            <a:srgbClr val="F1F8F1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73552" y="886968"/>
            <a:ext cx="2679192" cy="566928"/>
          </a:xfrm>
          <a:prstGeom prst="roundRect">
            <a:avLst>
              <a:gd name="adj" fmla="val 12903"/>
            </a:avLst>
          </a:prstGeom>
          <a:solidFill>
            <a:srgbClr val="006064"/>
          </a:solidFill>
          <a:ln/>
        </p:spPr>
      </p:sp>
      <p:sp>
        <p:nvSpPr>
          <p:cNvPr id="16" name="Text 14"/>
          <p:cNvSpPr/>
          <p:nvPr/>
        </p:nvSpPr>
        <p:spPr>
          <a:xfrm>
            <a:off x="3273552" y="923544"/>
            <a:ext cx="26791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 Monitor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346704" y="1508760"/>
            <a:ext cx="25420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E5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construct — mutual exclusion is AUTOMATIC inside: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346704" y="2066544"/>
            <a:ext cx="2542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Only 1 process active in monitor at a time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46704" y="2505456"/>
            <a:ext cx="2542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Uses condition variables: wait() and signal()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46704" y="2944368"/>
            <a:ext cx="2542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Programmer-friendly — no manual locking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346704" y="3383280"/>
            <a:ext cx="2542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Java's synchronized keyword = monitor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346704" y="4059936"/>
            <a:ext cx="2542032" cy="18288"/>
          </a:xfrm>
          <a:prstGeom prst="rect">
            <a:avLst/>
          </a:prstGeom>
          <a:solidFill>
            <a:srgbClr val="E0EDE0"/>
          </a:solidFill>
          <a:ln w="12700">
            <a:solidFill>
              <a:srgbClr val="E0ED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46704" y="4114800"/>
            <a:ext cx="254203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006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Java synchronized method: only 1 thread runs it at a time — OS handles locking.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163056" y="841248"/>
            <a:ext cx="2788920" cy="4343400"/>
          </a:xfrm>
          <a:prstGeom prst="roundRect">
            <a:avLst>
              <a:gd name="adj" fmla="val 3934"/>
            </a:avLst>
          </a:prstGeom>
          <a:solidFill>
            <a:srgbClr val="F1F8F1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217920" y="886968"/>
            <a:ext cx="2679192" cy="566928"/>
          </a:xfrm>
          <a:prstGeom prst="roundRect">
            <a:avLst>
              <a:gd name="adj" fmla="val 12903"/>
            </a:avLst>
          </a:prstGeom>
          <a:solidFill>
            <a:srgbClr val="6A1B9A"/>
          </a:solidFill>
          <a:ln/>
        </p:spPr>
      </p:sp>
      <p:sp>
        <p:nvSpPr>
          <p:cNvPr id="26" name="Text 24"/>
          <p:cNvSpPr/>
          <p:nvPr/>
        </p:nvSpPr>
        <p:spPr>
          <a:xfrm>
            <a:off x="6217920" y="923544"/>
            <a:ext cx="26791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Peterson's Solution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291072" y="1508760"/>
            <a:ext cx="25420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E5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solution for 2 processes using flag[] and turn: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291072" y="2066544"/>
            <a:ext cx="2542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flag[i]=true means 'I want to enter'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291072" y="2505456"/>
            <a:ext cx="2542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turn=j means 'You go first'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291072" y="2944368"/>
            <a:ext cx="2542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Satisfies all 3 CS requirements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291072" y="3383280"/>
            <a:ext cx="2542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Works only for 2 processes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291072" y="4059936"/>
            <a:ext cx="2542032" cy="18288"/>
          </a:xfrm>
          <a:prstGeom prst="rect">
            <a:avLst/>
          </a:prstGeom>
          <a:solidFill>
            <a:srgbClr val="E0EDE0"/>
          </a:solidFill>
          <a:ln w="12700">
            <a:solidFill>
              <a:srgbClr val="E0EDE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91072" y="4114800"/>
            <a:ext cx="254203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Like 2 people at a door: 'After you.' 'No, after you.' Peterson breaks deadlock by setting turn.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6064"/>
          </a:solidFill>
          <a:ln w="12700">
            <a:solidFill>
              <a:srgbClr val="0060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Classical IPC Problems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2788920" cy="4343400"/>
          </a:xfrm>
          <a:prstGeom prst="roundRect">
            <a:avLst>
              <a:gd name="adj" fmla="val 3934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9184" y="886968"/>
            <a:ext cx="2679192" cy="502920"/>
          </a:xfrm>
          <a:prstGeom prst="roundRect">
            <a:avLst>
              <a:gd name="adj" fmla="val 14545"/>
            </a:avLst>
          </a:prstGeom>
          <a:solidFill>
            <a:srgbClr val="006064"/>
          </a:solidFill>
          <a:ln/>
        </p:spPr>
      </p:sp>
      <p:sp>
        <p:nvSpPr>
          <p:cNvPr id="6" name="Text 4"/>
          <p:cNvSpPr/>
          <p:nvPr/>
        </p:nvSpPr>
        <p:spPr>
          <a:xfrm>
            <a:off x="329184" y="923544"/>
            <a:ext cx="26791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🍝  Dining Philosophers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02336" y="1463040"/>
            <a:ext cx="25420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Setup: 5 philosophers, 5 forks. Need 2 forks to eat.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02336" y="1975104"/>
            <a:ext cx="2542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Deadlock: everyone picks left fork, waits for right → forever!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02336" y="2395728"/>
            <a:ext cx="2542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Solution: One philosopher picks RIGHT fork first (breaks symmetry)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02336" y="2816352"/>
            <a:ext cx="2542032" cy="1115568"/>
          </a:xfrm>
          <a:prstGeom prst="roundRect">
            <a:avLst>
              <a:gd name="adj" fmla="val 4918"/>
            </a:avLst>
          </a:prstGeom>
          <a:solidFill>
            <a:srgbClr val="F5F5F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852928"/>
            <a:ext cx="242316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16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sem fork[5]={1,1,1,1,1}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A16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wait(fork[i]); wait(fork[(i+1)%5]);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A16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eat();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A16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signal(fork[i]); signal(fork[(i+1)%5]);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02336" y="3977640"/>
            <a:ext cx="2542032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006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Database locks: Multiple transactions needing multiple table locks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18688" y="841248"/>
            <a:ext cx="2788920" cy="4343400"/>
          </a:xfrm>
          <a:prstGeom prst="roundRect">
            <a:avLst>
              <a:gd name="adj" fmla="val 3934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73552" y="886968"/>
            <a:ext cx="2679192" cy="502920"/>
          </a:xfrm>
          <a:prstGeom prst="roundRect">
            <a:avLst>
              <a:gd name="adj" fmla="val 14545"/>
            </a:avLst>
          </a:prstGeom>
          <a:solidFill>
            <a:srgbClr val="2E7D32"/>
          </a:solidFill>
          <a:ln/>
        </p:spPr>
      </p:sp>
      <p:sp>
        <p:nvSpPr>
          <p:cNvPr id="15" name="Text 13"/>
          <p:cNvSpPr/>
          <p:nvPr/>
        </p:nvSpPr>
        <p:spPr>
          <a:xfrm>
            <a:off x="3273552" y="923544"/>
            <a:ext cx="26791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Readers-Writers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346704" y="1463040"/>
            <a:ext cx="25420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Setup: Multiple readers can read simultaneously. Writers need exclusive access.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46704" y="1975104"/>
            <a:ext cx="2542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Allow concurrent reads but ensure writes are exclusive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46704" y="2395728"/>
            <a:ext cx="2542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Readers: track count; last reader releases DB lock. Writers: exclusive lock.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346704" y="2816352"/>
            <a:ext cx="2542032" cy="1115568"/>
          </a:xfrm>
          <a:prstGeom prst="roundRect">
            <a:avLst>
              <a:gd name="adj" fmla="val 4918"/>
            </a:avLst>
          </a:prstGeom>
          <a:solidFill>
            <a:srgbClr val="F5F5F5"/>
          </a:solidFill>
          <a:ln/>
        </p:spPr>
      </p:sp>
      <p:sp>
        <p:nvSpPr>
          <p:cNvPr id="20" name="Text 18"/>
          <p:cNvSpPr/>
          <p:nvPr/>
        </p:nvSpPr>
        <p:spPr>
          <a:xfrm>
            <a:off x="3401568" y="2852928"/>
            <a:ext cx="242316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16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wait(mutex); readcount++;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A16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if(readcount==1) wait(db);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A16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signal(mutex);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A16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read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A16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wait(mutex); readcount--;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A16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if(readcount==0) signal(db);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346704" y="3977640"/>
            <a:ext cx="2542032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Wikipedia: thousands read simultaneously, but edits lock the page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163056" y="841248"/>
            <a:ext cx="2788920" cy="4343400"/>
          </a:xfrm>
          <a:prstGeom prst="roundRect">
            <a:avLst>
              <a:gd name="adj" fmla="val 3934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217920" y="886968"/>
            <a:ext cx="2679192" cy="502920"/>
          </a:xfrm>
          <a:prstGeom prst="roundRect">
            <a:avLst>
              <a:gd name="adj" fmla="val 14545"/>
            </a:avLst>
          </a:prstGeom>
          <a:solidFill>
            <a:srgbClr val="0A1628"/>
          </a:solidFill>
          <a:ln/>
        </p:spPr>
      </p:sp>
      <p:sp>
        <p:nvSpPr>
          <p:cNvPr id="24" name="Text 22"/>
          <p:cNvSpPr/>
          <p:nvPr/>
        </p:nvSpPr>
        <p:spPr>
          <a:xfrm>
            <a:off x="6217920" y="923544"/>
            <a:ext cx="26791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💈  Sleeping Barber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291072" y="1463040"/>
            <a:ext cx="25420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Setup: 1 barber, 1 barber chair, N waiting chairs.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291072" y="1975104"/>
            <a:ext cx="2542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Barber sleeps if no customers. Customer leaves if all chairs full.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91072" y="2395728"/>
            <a:ext cx="2542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3 semaphores: customers, barbers, mutex. Customer wakes barber.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291072" y="2816352"/>
            <a:ext cx="2542032" cy="1115568"/>
          </a:xfrm>
          <a:prstGeom prst="roundRect">
            <a:avLst>
              <a:gd name="adj" fmla="val 4918"/>
            </a:avLst>
          </a:prstGeom>
          <a:solidFill>
            <a:srgbClr val="F5F5F5"/>
          </a:solidFill>
          <a:ln/>
        </p:spPr>
      </p:sp>
      <p:sp>
        <p:nvSpPr>
          <p:cNvPr id="29" name="Text 27"/>
          <p:cNvSpPr/>
          <p:nvPr/>
        </p:nvSpPr>
        <p:spPr>
          <a:xfrm>
            <a:off x="6345936" y="2852928"/>
            <a:ext cx="242316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16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Customer: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A16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wait(mutex);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A16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if(waiting &lt; CHAIRS){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A16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waiting++; signal(customers);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A16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signal(mutex); wait(barbers);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A16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get_haircut();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A16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291072" y="3977640"/>
            <a:ext cx="2542032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Web server thread pool: barber=thread, customer=HTTP request, chairs=queue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7F17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CPU Scheduling — Introduction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D — Process Scheduling  |  5 Hrs.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8503920" cy="621792"/>
          </a:xfrm>
          <a:prstGeom prst="roundRect">
            <a:avLst>
              <a:gd name="adj" fmla="val 14706"/>
            </a:avLst>
          </a:prstGeom>
          <a:solidFill>
            <a:srgbClr val="FFF8E1"/>
          </a:solidFill>
          <a:ln w="19050">
            <a:solidFill>
              <a:srgbClr val="F57F1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60704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Scheduling = deciding WHICH process in the ready queue gets the CPU next. Goal: maximize utilization, minimize waiting time.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" y="1755648"/>
            <a:ext cx="4160520" cy="3310128"/>
          </a:xfrm>
          <a:prstGeom prst="roundRect">
            <a:avLst>
              <a:gd name="adj" fmla="val 3315"/>
            </a:avLst>
          </a:prstGeom>
          <a:solidFill>
            <a:srgbClr val="F1F8F1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1847088"/>
            <a:ext cx="3913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Performance Metrics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38912" y="2304288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D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34086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Utilization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395728" y="2350008"/>
            <a:ext cx="749808" cy="310896"/>
          </a:xfrm>
          <a:prstGeom prst="roundRect">
            <a:avLst>
              <a:gd name="adj" fmla="val 14706"/>
            </a:avLst>
          </a:prstGeom>
          <a:solidFill>
            <a:srgbClr val="2E7D32"/>
          </a:solidFill>
          <a:ln/>
        </p:spPr>
      </p:sp>
      <p:sp>
        <p:nvSpPr>
          <p:cNvPr id="12" name="Text 10"/>
          <p:cNvSpPr/>
          <p:nvPr/>
        </p:nvSpPr>
        <p:spPr>
          <a:xfrm>
            <a:off x="2395728" y="2368296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Maximize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00400" y="2350008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E5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time CPU is busy (40-90%)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38912" y="2852928"/>
            <a:ext cx="3931920" cy="475488"/>
          </a:xfrm>
          <a:prstGeom prst="rect">
            <a:avLst/>
          </a:prstGeom>
          <a:solidFill>
            <a:srgbClr val="E0EDE0"/>
          </a:solidFill>
          <a:ln w="12700">
            <a:solidFill>
              <a:srgbClr val="E0ED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88950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395728" y="2898648"/>
            <a:ext cx="749808" cy="310896"/>
          </a:xfrm>
          <a:prstGeom prst="roundRect">
            <a:avLst>
              <a:gd name="adj" fmla="val 14706"/>
            </a:avLst>
          </a:prstGeom>
          <a:solidFill>
            <a:srgbClr val="2E7D32"/>
          </a:solidFill>
          <a:ln/>
        </p:spPr>
      </p:sp>
      <p:sp>
        <p:nvSpPr>
          <p:cNvPr id="17" name="Text 15"/>
          <p:cNvSpPr/>
          <p:nvPr/>
        </p:nvSpPr>
        <p:spPr>
          <a:xfrm>
            <a:off x="2395728" y="2916936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Maximize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200400" y="2898648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E5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processes completed / sec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38912" y="3401568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D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43814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Turnaround Time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395728" y="3447288"/>
            <a:ext cx="749808" cy="310896"/>
          </a:xfrm>
          <a:prstGeom prst="roundRect">
            <a:avLst>
              <a:gd name="adj" fmla="val 14706"/>
            </a:avLst>
          </a:prstGeom>
          <a:solidFill>
            <a:srgbClr val="C62828"/>
          </a:solidFill>
          <a:ln/>
        </p:spPr>
      </p:sp>
      <p:sp>
        <p:nvSpPr>
          <p:cNvPr id="22" name="Text 20"/>
          <p:cNvSpPr/>
          <p:nvPr/>
        </p:nvSpPr>
        <p:spPr>
          <a:xfrm>
            <a:off x="2395728" y="3465576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200400" y="3447288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E5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 − Arrival time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38912" y="3950208"/>
            <a:ext cx="3931920" cy="475488"/>
          </a:xfrm>
          <a:prstGeom prst="rect">
            <a:avLst/>
          </a:prstGeom>
          <a:solidFill>
            <a:srgbClr val="E0EDE0"/>
          </a:solidFill>
          <a:ln w="12700">
            <a:solidFill>
              <a:srgbClr val="E0ED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398678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 Time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395728" y="3995928"/>
            <a:ext cx="749808" cy="310896"/>
          </a:xfrm>
          <a:prstGeom prst="roundRect">
            <a:avLst>
              <a:gd name="adj" fmla="val 14706"/>
            </a:avLst>
          </a:prstGeom>
          <a:solidFill>
            <a:srgbClr val="C62828"/>
          </a:solidFill>
          <a:ln/>
        </p:spPr>
      </p:sp>
      <p:sp>
        <p:nvSpPr>
          <p:cNvPr id="27" name="Text 25"/>
          <p:cNvSpPr/>
          <p:nvPr/>
        </p:nvSpPr>
        <p:spPr>
          <a:xfrm>
            <a:off x="2395728" y="4014216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200400" y="3995928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E5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spent in ready queue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38912" y="4498848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DE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453542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Time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2395728" y="4544568"/>
            <a:ext cx="749808" cy="310896"/>
          </a:xfrm>
          <a:prstGeom prst="roundRect">
            <a:avLst>
              <a:gd name="adj" fmla="val 14706"/>
            </a:avLst>
          </a:prstGeom>
          <a:solidFill>
            <a:srgbClr val="C62828"/>
          </a:solidFill>
          <a:ln/>
        </p:spPr>
      </p:sp>
      <p:sp>
        <p:nvSpPr>
          <p:cNvPr id="32" name="Text 30"/>
          <p:cNvSpPr/>
          <p:nvPr/>
        </p:nvSpPr>
        <p:spPr>
          <a:xfrm>
            <a:off x="2395728" y="4562856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200400" y="4544568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E5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first response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663440" y="1755648"/>
            <a:ext cx="4160520" cy="1508760"/>
          </a:xfrm>
          <a:prstGeom prst="roundRect">
            <a:avLst>
              <a:gd name="adj" fmla="val 6061"/>
            </a:avLst>
          </a:prstGeom>
          <a:solidFill>
            <a:srgbClr val="F1F8F1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800600" y="1847088"/>
            <a:ext cx="3913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6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Scheduling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4800600" y="226771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Preemptive: 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6172200" y="2267712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forcibly removes CPU from running process (RR, SRTF)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4800600" y="27432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Non-Preemptive: 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6172200" y="274320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runs until done or voluntarily yields (FCFS, SJF)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4663440" y="3337560"/>
            <a:ext cx="4160520" cy="1737360"/>
          </a:xfrm>
          <a:prstGeom prst="roundRect">
            <a:avLst>
              <a:gd name="adj" fmla="val 5263"/>
            </a:avLst>
          </a:prstGeom>
          <a:solidFill>
            <a:srgbClr val="0A1628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4800600" y="3429000"/>
            <a:ext cx="3913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A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Formulas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4800600" y="3858768"/>
            <a:ext cx="3913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Turnaround Time = Completion Time − Arrival Time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4800600" y="4242816"/>
            <a:ext cx="3913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 Time = Turnaround Time − Burst Time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4800600" y="4626864"/>
            <a:ext cx="3913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Time = First Response − Arrival Time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Scheduling Algorithms — FCFS &amp; SJF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4114800" cy="4315968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22960"/>
            <a:ext cx="4114800" cy="548640"/>
          </a:xfrm>
          <a:prstGeom prst="roundRect">
            <a:avLst>
              <a:gd name="adj" fmla="val 16667"/>
            </a:avLst>
          </a:prstGeom>
          <a:solidFill>
            <a:srgbClr val="006064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877824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FCFS — First Come First Served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142646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E5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Non-preemptive. Processes run in order of arrival.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10512"/>
          <a:ext cx="3310128" cy="1389888"/>
        </p:xfrm>
        <a:graphic>
          <a:graphicData uri="http://schemas.openxmlformats.org/drawingml/2006/table">
            <a:tbl>
              <a:tblPr/>
              <a:tblGrid>
                <a:gridCol w="6583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69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69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6692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57200" y="32004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E5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Gantt Chart: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57200" y="3493008"/>
            <a:ext cx="1645920" cy="384048"/>
          </a:xfrm>
          <a:prstGeom prst="rect">
            <a:avLst/>
          </a:prstGeom>
          <a:solidFill>
            <a:srgbClr val="00606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3529584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2103120" y="3493008"/>
            <a:ext cx="411480" cy="384048"/>
          </a:xfrm>
          <a:prstGeom prst="rect">
            <a:avLst/>
          </a:prstGeom>
          <a:solidFill>
            <a:srgbClr val="00606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10"/>
          <p:cNvSpPr/>
          <p:nvPr/>
        </p:nvSpPr>
        <p:spPr>
          <a:xfrm>
            <a:off x="2103120" y="3529584"/>
            <a:ext cx="41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2514600" y="3493008"/>
            <a:ext cx="411480" cy="384048"/>
          </a:xfrm>
          <a:prstGeom prst="rect">
            <a:avLst/>
          </a:prstGeom>
          <a:solidFill>
            <a:srgbClr val="00606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514600" y="3529584"/>
            <a:ext cx="41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57200" y="3950208"/>
            <a:ext cx="3767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Waiting = (0+23+25)/3 = 16 ms  ⚠️ High due to convoy effect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57200" y="4407408"/>
            <a:ext cx="37673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E5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Simple  ❌ Convoy effect — short jobs wait behind long ones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709160" y="822960"/>
            <a:ext cx="4114800" cy="4315968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709160" y="822960"/>
            <a:ext cx="4114800" cy="548640"/>
          </a:xfrm>
          <a:prstGeom prst="roundRect">
            <a:avLst>
              <a:gd name="adj" fmla="val 16667"/>
            </a:avLst>
          </a:prstGeom>
          <a:solidFill>
            <a:srgbClr val="2E7D32"/>
          </a:solidFill>
          <a:ln/>
        </p:spPr>
      </p:sp>
      <p:sp>
        <p:nvSpPr>
          <p:cNvPr id="20" name="Text 17"/>
          <p:cNvSpPr/>
          <p:nvPr/>
        </p:nvSpPr>
        <p:spPr>
          <a:xfrm>
            <a:off x="4828032" y="877824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SJF — Shortest Job First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4828032" y="142646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E5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Non-preemptive. Shortest burst time runs next. OPTIMAL average wait.</a:t>
            </a:r>
            <a:endParaRPr lang="en-US" sz="1200" dirty="0"/>
          </a:p>
        </p:txBody>
      </p:sp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28032" y="1810512"/>
          <a:ext cx="3310128" cy="1737360"/>
        </p:xfrm>
        <a:graphic>
          <a:graphicData uri="http://schemas.openxmlformats.org/drawingml/2006/table">
            <a:tbl>
              <a:tblPr/>
              <a:tblGrid>
                <a:gridCol w="6583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69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69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6692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3" name="Text 19"/>
          <p:cNvSpPr/>
          <p:nvPr/>
        </p:nvSpPr>
        <p:spPr>
          <a:xfrm>
            <a:off x="4828032" y="3524280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Order: P4(3)→P1(6)→P3(7)→P2(8)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4828032" y="3811513"/>
            <a:ext cx="457200" cy="384048"/>
          </a:xfrm>
          <a:prstGeom prst="rect">
            <a:avLst/>
          </a:prstGeom>
          <a:solidFill>
            <a:srgbClr val="F57F1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1"/>
          <p:cNvSpPr/>
          <p:nvPr/>
        </p:nvSpPr>
        <p:spPr>
          <a:xfrm>
            <a:off x="4828032" y="3834096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5285232" y="3811513"/>
            <a:ext cx="731520" cy="384048"/>
          </a:xfrm>
          <a:prstGeom prst="rect">
            <a:avLst/>
          </a:prstGeom>
          <a:solidFill>
            <a:srgbClr val="2E7D3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5285232" y="3834096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200" dirty="0"/>
          </a:p>
        </p:txBody>
      </p:sp>
      <p:sp>
        <p:nvSpPr>
          <p:cNvPr id="28" name="Shape 24"/>
          <p:cNvSpPr/>
          <p:nvPr/>
        </p:nvSpPr>
        <p:spPr>
          <a:xfrm>
            <a:off x="6016752" y="3811513"/>
            <a:ext cx="822960" cy="384048"/>
          </a:xfrm>
          <a:prstGeom prst="rect">
            <a:avLst/>
          </a:prstGeom>
          <a:solidFill>
            <a:srgbClr val="00606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6016752" y="3834096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1200" dirty="0"/>
          </a:p>
        </p:txBody>
      </p:sp>
      <p:sp>
        <p:nvSpPr>
          <p:cNvPr id="30" name="Shape 26"/>
          <p:cNvSpPr/>
          <p:nvPr/>
        </p:nvSpPr>
        <p:spPr>
          <a:xfrm>
            <a:off x="6839712" y="3811513"/>
            <a:ext cx="987552" cy="384048"/>
          </a:xfrm>
          <a:prstGeom prst="rect">
            <a:avLst/>
          </a:prstGeom>
          <a:solidFill>
            <a:srgbClr val="0A162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839712" y="3834096"/>
            <a:ext cx="987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200" dirty="0"/>
          </a:p>
        </p:txBody>
      </p:sp>
      <p:sp>
        <p:nvSpPr>
          <p:cNvPr id="32" name="Text 28"/>
          <p:cNvSpPr/>
          <p:nvPr/>
        </p:nvSpPr>
        <p:spPr>
          <a:xfrm>
            <a:off x="4828032" y="4160520"/>
            <a:ext cx="3767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Waiting = (0+6+22+6)/4 = 8.5 ms  ✅ Better than FCFS!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4828032" y="4370832"/>
            <a:ext cx="37673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E5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Optimal avg wait  ❌ Starvation of long jobs  ❌ Need burst time in advance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7F17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Round Robin Scheduling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8503920" cy="621792"/>
          </a:xfrm>
          <a:prstGeom prst="roundRect">
            <a:avLst>
              <a:gd name="adj" fmla="val 14706"/>
            </a:avLst>
          </a:prstGeom>
          <a:solidFill>
            <a:srgbClr val="FFF8E1"/>
          </a:solidFill>
          <a:ln w="19050">
            <a:solidFill>
              <a:srgbClr val="F57F1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686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process gets a fixed time quantum (q). After q expires, preempted and moved to end of ready queue. Designed for TIME-SHARING systems.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1572768"/>
            <a:ext cx="3200400" cy="3493008"/>
          </a:xfrm>
          <a:prstGeom prst="roundRect">
            <a:avLst>
              <a:gd name="adj" fmla="val 2857"/>
            </a:avLst>
          </a:prstGeom>
          <a:solidFill>
            <a:srgbClr val="F1F8F1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664208"/>
            <a:ext cx="2944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 (q = 4ms)</a:t>
            </a:r>
            <a:endParaRPr lang="en-US" sz="1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057400"/>
          <a:ext cx="1828800" cy="1389888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7F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7F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D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D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D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D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57200" y="2834640"/>
            <a:ext cx="2944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E5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Gantt Chart: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57200" y="3154680"/>
            <a:ext cx="347472" cy="384048"/>
          </a:xfrm>
          <a:prstGeom prst="rect">
            <a:avLst/>
          </a:prstGeom>
          <a:solidFill>
            <a:srgbClr val="F57F1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3191256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804672" y="3154680"/>
            <a:ext cx="347472" cy="384048"/>
          </a:xfrm>
          <a:prstGeom prst="rect">
            <a:avLst/>
          </a:prstGeom>
          <a:solidFill>
            <a:srgbClr val="2E7D3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04672" y="3191256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100" dirty="0"/>
          </a:p>
        </p:txBody>
      </p:sp>
      <p:sp>
        <p:nvSpPr>
          <p:cNvPr id="8" name="Shape 11"/>
          <p:cNvSpPr/>
          <p:nvPr/>
        </p:nvSpPr>
        <p:spPr>
          <a:xfrm>
            <a:off x="1152144" y="3154680"/>
            <a:ext cx="347472" cy="384048"/>
          </a:xfrm>
          <a:prstGeom prst="rect">
            <a:avLst/>
          </a:prstGeom>
          <a:solidFill>
            <a:srgbClr val="00606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152144" y="3191256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1499616" y="3154680"/>
            <a:ext cx="347472" cy="384048"/>
          </a:xfrm>
          <a:prstGeom prst="rect">
            <a:avLst/>
          </a:prstGeom>
          <a:solidFill>
            <a:srgbClr val="F57F1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499616" y="3191256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1847088" y="3154680"/>
            <a:ext cx="347472" cy="384048"/>
          </a:xfrm>
          <a:prstGeom prst="rect">
            <a:avLst/>
          </a:prstGeom>
          <a:solidFill>
            <a:srgbClr val="F57F1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847088" y="3191256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2194560" y="3154680"/>
            <a:ext cx="347472" cy="384048"/>
          </a:xfrm>
          <a:prstGeom prst="rect">
            <a:avLst/>
          </a:prstGeom>
          <a:solidFill>
            <a:srgbClr val="F57F1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194560" y="3191256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2542032" y="3154680"/>
            <a:ext cx="347472" cy="384048"/>
          </a:xfrm>
          <a:prstGeom prst="rect">
            <a:avLst/>
          </a:prstGeom>
          <a:solidFill>
            <a:srgbClr val="F57F1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2542032" y="3191256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2889504" y="3154680"/>
            <a:ext cx="347472" cy="384048"/>
          </a:xfrm>
          <a:prstGeom prst="rect">
            <a:avLst/>
          </a:prstGeom>
          <a:solidFill>
            <a:srgbClr val="F57F1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889504" y="3191256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384048" y="356616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E5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731520" y="356616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E5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1078992" y="356616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E5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1426464" y="356616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E5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1773936" y="356616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E5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2121408" y="356616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E5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2468880" y="356616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E5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2816352" y="356616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E5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3163824" y="356616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E5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50" dirty="0"/>
          </a:p>
        </p:txBody>
      </p:sp>
      <p:sp>
        <p:nvSpPr>
          <p:cNvPr id="35" name="Text 32"/>
          <p:cNvSpPr/>
          <p:nvPr/>
        </p:nvSpPr>
        <p:spPr>
          <a:xfrm>
            <a:off x="457200" y="3886200"/>
            <a:ext cx="2944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Waiting = (6+4+7)/3 ≈ 5.67 ms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457200" y="4206240"/>
            <a:ext cx="2944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6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P2, P3 finish at t=7, t=10  ✅ No starvation!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3657600" y="1572768"/>
            <a:ext cx="5166360" cy="3493008"/>
          </a:xfrm>
          <a:prstGeom prst="roundRect">
            <a:avLst>
              <a:gd name="adj" fmla="val 3141"/>
            </a:avLst>
          </a:prstGeom>
          <a:solidFill>
            <a:srgbClr val="0A1628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8" name="Text 35"/>
          <p:cNvSpPr/>
          <p:nvPr/>
        </p:nvSpPr>
        <p:spPr>
          <a:xfrm>
            <a:off x="3794760" y="1664208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A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Robin — Key Points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3794760" y="210312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A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Time Quantum (q):</a:t>
            </a:r>
            <a:endParaRPr lang="en-US" sz="1300" dirty="0"/>
          </a:p>
        </p:txBody>
      </p:sp>
      <p:sp>
        <p:nvSpPr>
          <p:cNvPr id="40" name="Text 37"/>
          <p:cNvSpPr/>
          <p:nvPr/>
        </p:nvSpPr>
        <p:spPr>
          <a:xfrm>
            <a:off x="5852160" y="210312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Typically, 10–100ms. Must be larger than context switch time.</a:t>
            </a: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3794760" y="265176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A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Large q → FCFS:</a:t>
            </a:r>
            <a:endParaRPr lang="en-US" sz="1300" dirty="0"/>
          </a:p>
        </p:txBody>
      </p:sp>
      <p:sp>
        <p:nvSpPr>
          <p:cNvPr id="42" name="Text 39"/>
          <p:cNvSpPr/>
          <p:nvPr/>
        </p:nvSpPr>
        <p:spPr>
          <a:xfrm>
            <a:off x="5852160" y="265176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q is very large, each process runs to completion = FCFS behavior.</a:t>
            </a:r>
            <a:endParaRPr lang="en-US" sz="1200" dirty="0"/>
          </a:p>
        </p:txBody>
      </p:sp>
      <p:sp>
        <p:nvSpPr>
          <p:cNvPr id="43" name="Text 40"/>
          <p:cNvSpPr/>
          <p:nvPr/>
        </p:nvSpPr>
        <p:spPr>
          <a:xfrm>
            <a:off x="3794760" y="320040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A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Small q → overhead:</a:t>
            </a:r>
            <a:endParaRPr lang="en-US" sz="1300" dirty="0"/>
          </a:p>
        </p:txBody>
      </p:sp>
      <p:sp>
        <p:nvSpPr>
          <p:cNvPr id="44" name="Text 41"/>
          <p:cNvSpPr/>
          <p:nvPr/>
        </p:nvSpPr>
        <p:spPr>
          <a:xfrm>
            <a:off x="5852160" y="320040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 q = too many context switches = CPU wasted on switching.</a:t>
            </a:r>
            <a:endParaRPr lang="en-US" sz="1200" dirty="0"/>
          </a:p>
        </p:txBody>
      </p:sp>
      <p:sp>
        <p:nvSpPr>
          <p:cNvPr id="45" name="Text 42"/>
          <p:cNvSpPr/>
          <p:nvPr/>
        </p:nvSpPr>
        <p:spPr>
          <a:xfrm>
            <a:off x="3794760" y="374904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A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No starvation:</a:t>
            </a:r>
            <a:endParaRPr lang="en-US" sz="1300" dirty="0"/>
          </a:p>
        </p:txBody>
      </p:sp>
      <p:sp>
        <p:nvSpPr>
          <p:cNvPr id="46" name="Text 43"/>
          <p:cNvSpPr/>
          <p:nvPr/>
        </p:nvSpPr>
        <p:spPr>
          <a:xfrm>
            <a:off x="5852160" y="374904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process gets CPU within q × n time — guaranteed fairness.</a:t>
            </a:r>
            <a:endParaRPr lang="en-US" sz="1200" dirty="0"/>
          </a:p>
        </p:txBody>
      </p:sp>
      <p:sp>
        <p:nvSpPr>
          <p:cNvPr id="47" name="Text 44"/>
          <p:cNvSpPr/>
          <p:nvPr/>
        </p:nvSpPr>
        <p:spPr>
          <a:xfrm>
            <a:off x="3794760" y="429768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A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Best for time-sharing:</a:t>
            </a:r>
            <a:endParaRPr lang="en-US" sz="1300" dirty="0"/>
          </a:p>
        </p:txBody>
      </p:sp>
      <p:sp>
        <p:nvSpPr>
          <p:cNvPr id="48" name="Text 45"/>
          <p:cNvSpPr/>
          <p:nvPr/>
        </p:nvSpPr>
        <p:spPr>
          <a:xfrm>
            <a:off x="5852160" y="429768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systems, web servers, general-purpose OS.</a:t>
            </a:r>
            <a:endParaRPr lang="en-US" sz="1200" dirty="0"/>
          </a:p>
        </p:txBody>
      </p:sp>
      <p:sp>
        <p:nvSpPr>
          <p:cNvPr id="49" name="Shape 46"/>
          <p:cNvSpPr/>
          <p:nvPr/>
        </p:nvSpPr>
        <p:spPr>
          <a:xfrm>
            <a:off x="320040" y="4709160"/>
            <a:ext cx="8503920" cy="384048"/>
          </a:xfrm>
          <a:prstGeom prst="roundRect">
            <a:avLst>
              <a:gd name="adj" fmla="val 19048"/>
            </a:avLst>
          </a:prstGeom>
          <a:solidFill>
            <a:srgbClr val="2E7D32"/>
          </a:solidFill>
          <a:ln/>
        </p:spPr>
      </p:sp>
      <p:sp>
        <p:nvSpPr>
          <p:cNvPr id="50" name="Text 47"/>
          <p:cNvSpPr/>
          <p:nvPr/>
        </p:nvSpPr>
        <p:spPr>
          <a:xfrm>
            <a:off x="457200" y="47548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 Your OS gives every open app a time slice — that's Round Robin! That's why 10 apps 'seem' to run at once on 1 CPU.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1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Other Scheduling Algorithms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4224528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9184" y="923544"/>
            <a:ext cx="4114800" cy="475488"/>
          </a:xfrm>
          <a:prstGeom prst="roundRect">
            <a:avLst>
              <a:gd name="adj" fmla="val 15385"/>
            </a:avLst>
          </a:prstGeom>
          <a:solidFill>
            <a:srgbClr val="6A1B9A"/>
          </a:solidFill>
          <a:ln/>
        </p:spPr>
      </p:sp>
      <p:sp>
        <p:nvSpPr>
          <p:cNvPr id="6" name="Text 4"/>
          <p:cNvSpPr/>
          <p:nvPr/>
        </p:nvSpPr>
        <p:spPr>
          <a:xfrm>
            <a:off x="329184" y="96012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Scheduling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1472184"/>
            <a:ext cx="3950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CPU → highest priority process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11480" y="1837944"/>
            <a:ext cx="3950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Preemptive or non-preemptive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11480" y="2203704"/>
            <a:ext cx="3950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Starvation: low-priority waits forever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11480" y="2569464"/>
            <a:ext cx="3950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Solution: AGING — gradually boost priority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736592" y="868680"/>
            <a:ext cx="4224528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91456" y="923544"/>
            <a:ext cx="4114800" cy="475488"/>
          </a:xfrm>
          <a:prstGeom prst="roundRect">
            <a:avLst>
              <a:gd name="adj" fmla="val 15385"/>
            </a:avLst>
          </a:prstGeom>
          <a:solidFill>
            <a:srgbClr val="006064"/>
          </a:solidFill>
          <a:ln/>
        </p:spPr>
      </p:sp>
      <p:sp>
        <p:nvSpPr>
          <p:cNvPr id="13" name="Text 11"/>
          <p:cNvSpPr/>
          <p:nvPr/>
        </p:nvSpPr>
        <p:spPr>
          <a:xfrm>
            <a:off x="4791456" y="96012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HRN (Highest Response Ratio)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73752" y="1472184"/>
            <a:ext cx="3950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Response Ratio = (Wait + Service) / Service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873752" y="1837944"/>
            <a:ext cx="3950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Balances short jobs AND long-waiting jobs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873752" y="2203704"/>
            <a:ext cx="3950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Non-preemptive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873752" y="2569464"/>
            <a:ext cx="3950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No starvation — waiting increases ratio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74320" y="3172968"/>
            <a:ext cx="4224528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9184" y="3227832"/>
            <a:ext cx="4114800" cy="475488"/>
          </a:xfrm>
          <a:prstGeom prst="roundRect">
            <a:avLst>
              <a:gd name="adj" fmla="val 15385"/>
            </a:avLst>
          </a:prstGeom>
          <a:solidFill>
            <a:srgbClr val="1B5E20"/>
          </a:solidFill>
          <a:ln/>
        </p:spPr>
      </p:sp>
      <p:sp>
        <p:nvSpPr>
          <p:cNvPr id="20" name="Text 18"/>
          <p:cNvSpPr/>
          <p:nvPr/>
        </p:nvSpPr>
        <p:spPr>
          <a:xfrm>
            <a:off x="329184" y="3264408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Lottery Scheduling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11480" y="3776472"/>
            <a:ext cx="3950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Each process gets lottery tickets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11480" y="4142232"/>
            <a:ext cx="3950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Random draw → winner gets CPU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11480" y="4507992"/>
            <a:ext cx="3950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More tickets = more CPU share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11480" y="4873752"/>
            <a:ext cx="3950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Probabilistically fair; simple to implement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736592" y="3172968"/>
            <a:ext cx="4224528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91456" y="3227832"/>
            <a:ext cx="4114800" cy="475488"/>
          </a:xfrm>
          <a:prstGeom prst="roundRect">
            <a:avLst>
              <a:gd name="adj" fmla="val 15385"/>
            </a:avLst>
          </a:prstGeom>
          <a:solidFill>
            <a:srgbClr val="0A1628"/>
          </a:solidFill>
          <a:ln/>
        </p:spPr>
      </p:sp>
      <p:sp>
        <p:nvSpPr>
          <p:cNvPr id="27" name="Text 25"/>
          <p:cNvSpPr/>
          <p:nvPr/>
        </p:nvSpPr>
        <p:spPr>
          <a:xfrm>
            <a:off x="4791456" y="3264408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MLFQ (Multilevel Feedback Queue)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873752" y="3776472"/>
            <a:ext cx="3950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Multiple queues with different priorities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873752" y="4142232"/>
            <a:ext cx="3950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CPU-bound → demoted; I/O-bound → promoted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873752" y="4507992"/>
            <a:ext cx="3950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Interactive apps get high priority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873752" y="4873752"/>
            <a:ext cx="3950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Used in Windows &amp; Linux schedulers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82880" y="5248656"/>
            <a:ext cx="8595360" cy="457200"/>
          </a:xfrm>
          <a:prstGeom prst="roundRect">
            <a:avLst>
              <a:gd name="adj" fmla="val 16000"/>
            </a:avLst>
          </a:prstGeom>
          <a:solidFill>
            <a:srgbClr val="0A1628"/>
          </a:solidFill>
          <a:ln/>
        </p:spPr>
      </p:sp>
      <p:sp>
        <p:nvSpPr>
          <p:cNvPr id="33" name="Text 31"/>
          <p:cNvSpPr/>
          <p:nvPr/>
        </p:nvSpPr>
        <p:spPr>
          <a:xfrm>
            <a:off x="320040" y="5294376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MLFQ Example:  Queue 0 (RR q=8ms, highest) → Queue 1 (RR q=16ms) → Queue 2 (FCFS, lowest). Processes move DOWN if CPU-heavy, UP if I/O-heavy.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6064"/>
          </a:solidFill>
          <a:ln w="12700">
            <a:solidFill>
              <a:srgbClr val="0060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Scheduling — Worked Example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8503920" cy="475488"/>
          </a:xfrm>
          <a:prstGeom prst="roundRect">
            <a:avLst>
              <a:gd name="adj" fmla="val 15385"/>
            </a:avLst>
          </a:prstGeom>
          <a:solidFill>
            <a:srgbClr val="0A162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877824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A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Given: Process table — solve using FCFS, SJF (non-preemptive), and Round Robin (q=2)</a:t>
            </a:r>
            <a:endParaRPr lang="en-US" sz="13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0" y="1389888"/>
          <a:ext cx="4572000" cy="192024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Arrival Time (AT)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Burst Time (BT)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20040" y="2926080"/>
            <a:ext cx="2651760" cy="2194560"/>
          </a:xfrm>
          <a:prstGeom prst="roundRect">
            <a:avLst>
              <a:gd name="adj" fmla="val 4167"/>
            </a:avLst>
          </a:prstGeom>
          <a:solidFill>
            <a:srgbClr val="F1F8F1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457200" y="29992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6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FCFS</a:t>
            </a:r>
            <a:endParaRPr lang="en-US" sz="1500" dirty="0"/>
          </a:p>
        </p:txBody>
      </p:sp>
      <p:graphicFrame>
        <p:nvGraphicFramePr>
          <p:cNvPr id="3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3401568"/>
          <a:ext cx="2450592" cy="1600200"/>
        </p:xfrm>
        <a:graphic>
          <a:graphicData uri="http://schemas.openxmlformats.org/drawingml/2006/table">
            <a:tbl>
              <a:tblPr/>
              <a:tblGrid>
                <a:gridCol w="5669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9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D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D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D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D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D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D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D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D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411480" y="4754880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6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TAT=11.25  Avg WT=5.75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3246120" y="2926080"/>
            <a:ext cx="2651760" cy="2194560"/>
          </a:xfrm>
          <a:prstGeom prst="roundRect">
            <a:avLst>
              <a:gd name="adj" fmla="val 4167"/>
            </a:avLst>
          </a:prstGeom>
          <a:solidFill>
            <a:srgbClr val="F1F8F1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3383280" y="29992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SJF (Non-Preemptive)</a:t>
            </a:r>
            <a:endParaRPr lang="en-US" sz="1300" dirty="0"/>
          </a:p>
        </p:txBody>
      </p:sp>
      <p:graphicFrame>
        <p:nvGraphicFramePr>
          <p:cNvPr id="46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337560" y="3401568"/>
          <a:ext cx="2450592" cy="1600200"/>
        </p:xfrm>
        <a:graphic>
          <a:graphicData uri="http://schemas.openxmlformats.org/drawingml/2006/table">
            <a:tbl>
              <a:tblPr/>
              <a:tblGrid>
                <a:gridCol w="5669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9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D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D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D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D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D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D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D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D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" name="Text 9"/>
          <p:cNvSpPr/>
          <p:nvPr/>
        </p:nvSpPr>
        <p:spPr>
          <a:xfrm>
            <a:off x="3337560" y="4754880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TAT=10.75  Avg WT=5.25 ✅ Better!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6172200" y="2926080"/>
            <a:ext cx="2651760" cy="2194560"/>
          </a:xfrm>
          <a:prstGeom prst="roundRect">
            <a:avLst>
              <a:gd name="adj" fmla="val 4167"/>
            </a:avLst>
          </a:prstGeom>
          <a:solidFill>
            <a:srgbClr val="0A1628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Text 11"/>
          <p:cNvSpPr/>
          <p:nvPr/>
        </p:nvSpPr>
        <p:spPr>
          <a:xfrm>
            <a:off x="6309360" y="29992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A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Robin (q=2)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6309360" y="3401568"/>
            <a:ext cx="23774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Gantt Chart: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P1(0-2)|P2(2-4)|P3(4-6)|P4(6-8)|P1(8-9)|P2(9-10)|P3(10-12)|P4(12-14)|P3(14-16)|P4(16-17)|P3(17-19)|P3(19-20)</a:t>
            </a:r>
            <a:endParaRPr lang="en-US" sz="1050" dirty="0"/>
          </a:p>
        </p:txBody>
      </p:sp>
      <p:sp>
        <p:nvSpPr>
          <p:cNvPr id="18" name="Text 13"/>
          <p:cNvSpPr/>
          <p:nvPr/>
        </p:nvSpPr>
        <p:spPr>
          <a:xfrm>
            <a:off x="6309360" y="475488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A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TAT ≈ 11.25  Avg WT ≈ 6.5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1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Scheduling Algorithms — Quick Reference</a:t>
            </a:r>
            <a:endParaRPr lang="en-US" sz="30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77240"/>
          <a:ext cx="8595360" cy="4114800"/>
        </p:xfrm>
        <a:graphic>
          <a:graphicData uri="http://schemas.openxmlformats.org/drawingml/2006/table">
            <a:tbl>
              <a:tblPr/>
              <a:tblGrid>
                <a:gridCol w="1508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Algorithm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Criteria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Starvation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FCFS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Non-preemptive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Arrival order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 batch systems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SJF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Non-preemptive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Shortest burst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⚠️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Batch, minimizing wait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SRTF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Preemptive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Shortest remaining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⚠️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Time-sharing optimal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Round Robin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Preemptive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quantum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Interactive/time-sharing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 value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⚠️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Real-time systems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HRN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Non-preemptive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Response ratio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Batch, fair to long jobs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Lottery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Preemptive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tickets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Fair-share systems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MLFQ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Preemptive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Behavior-adaptive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Modern general-purpose 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Unit 3 — Key Takeaways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4224528" cy="1993392"/>
          </a:xfrm>
          <a:prstGeom prst="roundRect">
            <a:avLst>
              <a:gd name="adj" fmla="val 4587"/>
            </a:avLst>
          </a:prstGeom>
          <a:solidFill>
            <a:srgbClr val="112240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9184" y="923544"/>
            <a:ext cx="4114800" cy="384048"/>
          </a:xfrm>
          <a:prstGeom prst="roundRect">
            <a:avLst>
              <a:gd name="adj" fmla="val 16667"/>
            </a:avLst>
          </a:prstGeom>
          <a:solidFill>
            <a:srgbClr val="2E7D32"/>
          </a:solidFill>
          <a:ln/>
        </p:spPr>
      </p:sp>
      <p:sp>
        <p:nvSpPr>
          <p:cNvPr id="6" name="Text 4"/>
          <p:cNvSpPr/>
          <p:nvPr/>
        </p:nvSpPr>
        <p:spPr>
          <a:xfrm>
            <a:off x="329184" y="960120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A: Process Concepts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02336" y="1371600"/>
            <a:ext cx="4005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Process = program in execution (program is passive, process is active)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02336" y="1719072"/>
            <a:ext cx="4005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5 states: New → Ready → Running → Waiting → Terminated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02336" y="2066544"/>
            <a:ext cx="4005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PCB stores all process info — enables context switching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02336" y="2414016"/>
            <a:ext cx="4005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fork() creates child processes; cascading termination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36592" y="868680"/>
            <a:ext cx="4224528" cy="1993392"/>
          </a:xfrm>
          <a:prstGeom prst="roundRect">
            <a:avLst>
              <a:gd name="adj" fmla="val 4587"/>
            </a:avLst>
          </a:prstGeom>
          <a:solidFill>
            <a:srgbClr val="112240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91456" y="923544"/>
            <a:ext cx="4114800" cy="384048"/>
          </a:xfrm>
          <a:prstGeom prst="roundRect">
            <a:avLst>
              <a:gd name="adj" fmla="val 16667"/>
            </a:avLst>
          </a:prstGeom>
          <a:solidFill>
            <a:srgbClr val="00838F"/>
          </a:solidFill>
          <a:ln/>
        </p:spPr>
      </p:sp>
      <p:sp>
        <p:nvSpPr>
          <p:cNvPr id="13" name="Text 11"/>
          <p:cNvSpPr/>
          <p:nvPr/>
        </p:nvSpPr>
        <p:spPr>
          <a:xfrm>
            <a:off x="4791456" y="960120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B: Threads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64608" y="1371600"/>
            <a:ext cx="4005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Thread = smallest CPU execution unit within a process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864608" y="1719072"/>
            <a:ext cx="4005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Share: code, data, heap, files. Own: stack, registers, PC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864608" y="2066544"/>
            <a:ext cx="4005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3 models: Many-to-One, One-to-One (most common), Many-to-Many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864608" y="2414016"/>
            <a:ext cx="4005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Benefits: responsiveness, resource sharing, scalability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74320" y="2971800"/>
            <a:ext cx="4224528" cy="1993392"/>
          </a:xfrm>
          <a:prstGeom prst="roundRect">
            <a:avLst>
              <a:gd name="adj" fmla="val 4587"/>
            </a:avLst>
          </a:prstGeom>
          <a:solidFill>
            <a:srgbClr val="112240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9184" y="3026664"/>
            <a:ext cx="4114800" cy="384048"/>
          </a:xfrm>
          <a:prstGeom prst="roundRect">
            <a:avLst>
              <a:gd name="adj" fmla="val 16667"/>
            </a:avLst>
          </a:prstGeom>
          <a:solidFill>
            <a:srgbClr val="006064"/>
          </a:solidFill>
          <a:ln/>
        </p:spPr>
      </p:sp>
      <p:sp>
        <p:nvSpPr>
          <p:cNvPr id="20" name="Text 18"/>
          <p:cNvSpPr/>
          <p:nvPr/>
        </p:nvSpPr>
        <p:spPr>
          <a:xfrm>
            <a:off x="329184" y="3063240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C: IPC &amp; Sync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02336" y="3474720"/>
            <a:ext cx="4005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Race condition → need synchronization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02336" y="3822192"/>
            <a:ext cx="4005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Critical section: mutual exclusion, progress, bounded waiting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02336" y="4169664"/>
            <a:ext cx="4005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Semaphore (P/V), Monitor, Peterson, TSL — solutions to sync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02336" y="4517136"/>
            <a:ext cx="4005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Dining Philosophers, Readers-Writers, Sleeping Barber = classics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736592" y="2971800"/>
            <a:ext cx="4224528" cy="1993392"/>
          </a:xfrm>
          <a:prstGeom prst="roundRect">
            <a:avLst>
              <a:gd name="adj" fmla="val 4587"/>
            </a:avLst>
          </a:prstGeom>
          <a:solidFill>
            <a:srgbClr val="112240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91456" y="3026664"/>
            <a:ext cx="4114800" cy="384048"/>
          </a:xfrm>
          <a:prstGeom prst="roundRect">
            <a:avLst>
              <a:gd name="adj" fmla="val 16667"/>
            </a:avLst>
          </a:prstGeom>
          <a:solidFill>
            <a:srgbClr val="F57F17"/>
          </a:solidFill>
          <a:ln/>
        </p:spPr>
      </p:sp>
      <p:sp>
        <p:nvSpPr>
          <p:cNvPr id="27" name="Text 25"/>
          <p:cNvSpPr/>
          <p:nvPr/>
        </p:nvSpPr>
        <p:spPr>
          <a:xfrm>
            <a:off x="4791456" y="3063240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D: Scheduling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64608" y="3474720"/>
            <a:ext cx="4005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FCFS simple; SJF optimal; RR fair; Priority flexible; MLFQ adaptive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864608" y="3822192"/>
            <a:ext cx="4005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TAT = CT−AT  |  WT = TAT−BT  |  Response = first response−AT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864608" y="4169664"/>
            <a:ext cx="4005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RR quantum: 10-100ms. No starvation. Best for time-sharing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864608" y="4517136"/>
            <a:ext cx="4005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MLFQ used in Windows/Linux — adapts to process behavior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20040" y="4919472"/>
            <a:ext cx="8503920" cy="384048"/>
          </a:xfrm>
          <a:prstGeom prst="roundRect">
            <a:avLst>
              <a:gd name="adj" fmla="val 19048"/>
            </a:avLst>
          </a:prstGeom>
          <a:solidFill>
            <a:srgbClr val="F57F17"/>
          </a:solidFill>
          <a:ln/>
        </p:spPr>
      </p:sp>
      <p:sp>
        <p:nvSpPr>
          <p:cNvPr id="33" name="Text 31"/>
          <p:cNvSpPr/>
          <p:nvPr/>
        </p:nvSpPr>
        <p:spPr>
          <a:xfrm>
            <a:off x="457200" y="4956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➡️  Next: Unit 4 — Deadlocks (4 Hrs.) — What happens when processes wait forever?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A8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CACS251 — Operating System  |  Unit 3  |  15 Hrs.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457200" y="2606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C8F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 are the heart of every OS.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71600" y="327355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A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Exam Questions: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645920" y="3703320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Draw the process state diagram with transitions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645920" y="3941064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Differentiate process vs thread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645920" y="4178808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Explain semaphore P &amp; V operations with an example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645920" y="4416552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Solve scheduling problem using FCFS, SJF, RR (Gantt chart + TAT/WT)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645920" y="4654296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Explain Dining Philosophers problem and solution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3601</Words>
  <Application>Microsoft Macintosh PowerPoint</Application>
  <PresentationFormat>On-screen Show (16:9)</PresentationFormat>
  <Paragraphs>601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Process Management - Unit 3</dc:title>
  <dc:subject>PptxGenJS Presentation</dc:subject>
  <dc:creator>PptxGenJS</dc:creator>
  <cp:lastModifiedBy>Mukesh Karn</cp:lastModifiedBy>
  <cp:revision>4</cp:revision>
  <dcterms:created xsi:type="dcterms:W3CDTF">2026-06-11T17:32:11Z</dcterms:created>
  <dcterms:modified xsi:type="dcterms:W3CDTF">2026-06-11T18:07:00Z</dcterms:modified>
</cp:coreProperties>
</file>