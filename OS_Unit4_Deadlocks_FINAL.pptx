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'Have you ever seen two people in a corridor both stepping the same way?' That's a deadlock! Unit 4 is 4 hours — exam-heavy. Banker's Algorithm numerical is almost always in exams.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Traffic gridlock is the best analogy. Database deadlock is very practical for CS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preemptable vs non-preemptable. Deadlocks involving printers are serious because you cannot pull the printer mid-job.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ALL FOUR must be present. Removing even ONE prevents deadlock. M-H-N-C is the key mnemonic for exams.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Case 1 and Case 2 on the board. Trace the cycle P1-&gt;R1-&gt;P2-&gt;R2-&gt;P1 for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Ostrich Algorithm surprises students: 'The OS just IGNORES it?' Yes — most desktop systems do. A BSOD is essentially the OS giving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commonly asked: 'How does resource ordering prevent circular wait?' Nobody can hold a higher-numbered resource and request a lower one — circular chain cannot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Banker's Algorithm is THE most important numerical. We simulate the allocation first and only grant if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step by step on the board. At each step, find ANY process whose Need &lt;= Work. Practice 3+ numericals before exam!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MySQL/PostgreSQL automatically detect and kill the cheapest transaction in a deadlock — victim rolled back and retried.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lab programs: Banker's Safety, Banker's Resource Request, RAG cycle detection using DFS. Full C code is in the notes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Banker's Algorithm numerical is ALWAYS in the exam. Key: Need = Max - Allocation. Practice 3+ numericals!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Q: Why does not the OS always use Banker's Algorithm? Requires processes to declare max needs upfront (often impossible) and is slow for large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CACS251 — Operating System  |  Unit 4  |  4 Hrs.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Deadlocks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Processes Wait Forever...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3246120"/>
            <a:ext cx="2011680" cy="1508760"/>
          </a:xfrm>
          <a:prstGeom prst="roundRect">
            <a:avLst>
              <a:gd name="adj" fmla="val 6061"/>
            </a:avLst>
          </a:prstGeom>
          <a:solidFill>
            <a:srgbClr val="2C1010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3192" y="333756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93192" y="4041648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Coffman (M-H-N-C)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3246120"/>
            <a:ext cx="2011680" cy="1508760"/>
          </a:xfrm>
          <a:prstGeom prst="roundRect">
            <a:avLst>
              <a:gd name="adj" fmla="val 6061"/>
            </a:avLst>
          </a:prstGeom>
          <a:solidFill>
            <a:srgbClr val="2C1010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333756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(RAG)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542032" y="4041648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Alloc. Graph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3246120"/>
            <a:ext cx="2011680" cy="1508760"/>
          </a:xfrm>
          <a:prstGeom prst="roundRect">
            <a:avLst>
              <a:gd name="adj" fmla="val 6061"/>
            </a:avLst>
          </a:prstGeom>
          <a:solidFill>
            <a:srgbClr val="2C1010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90872" y="333756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&amp;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90872" y="4041648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Algorithm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3246120"/>
            <a:ext cx="2011680" cy="1508760"/>
          </a:xfrm>
          <a:prstGeom prst="roundRect">
            <a:avLst>
              <a:gd name="adj" fmla="val 6061"/>
            </a:avLst>
          </a:prstGeom>
          <a:solidFill>
            <a:srgbClr val="2C1010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39712" y="333756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39712" y="4041648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Fix Deadlock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4864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Deadlock?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8631936" cy="658368"/>
          </a:xfrm>
          <a:prstGeom prst="roundRect">
            <a:avLst>
              <a:gd name="adj" fmla="val 11111"/>
            </a:avLst>
          </a:prstGeom>
          <a:solidFill>
            <a:srgbClr val="FFEBEE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77824"/>
            <a:ext cx="837590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deadlock is a situation where a set of processes are permanently blocked, each waiting for a resource held by another — and none can ever proceed.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1417320" cy="5669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71907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3154680"/>
            <a:ext cx="1417320" cy="56692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20954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B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11680" y="1664208"/>
            <a:ext cx="1463040" cy="566928"/>
          </a:xfrm>
          <a:prstGeom prst="roundRect">
            <a:avLst>
              <a:gd name="adj" fmla="val 11290"/>
            </a:avLst>
          </a:prstGeom>
          <a:solidFill>
            <a:srgbClr val="E65100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168249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(Printer)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11680" y="3154680"/>
            <a:ext cx="1463040" cy="566928"/>
          </a:xfrm>
          <a:prstGeom prst="roundRect">
            <a:avLst>
              <a:gd name="adj" fmla="val 11290"/>
            </a:avLst>
          </a:prstGeom>
          <a:solidFill>
            <a:srgbClr val="00695C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31729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(Scanner)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691640" y="1947672"/>
            <a:ext cx="320040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9928" y="173736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91640" y="3438144"/>
            <a:ext cx="320040" cy="0"/>
          </a:xfrm>
          <a:prstGeom prst="line">
            <a:avLst/>
          </a:prstGeom>
          <a:noFill/>
          <a:ln w="25400">
            <a:solidFill>
              <a:srgbClr val="006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09928" y="32278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11680" y="3246120"/>
            <a:ext cx="0" cy="-1005840"/>
          </a:xfrm>
          <a:prstGeom prst="line">
            <a:avLst/>
          </a:prstGeom>
          <a:noFill/>
          <a:ln w="25400">
            <a:solidFill>
              <a:srgbClr val="B71C1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084832" y="23317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waits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11680" y="1947672"/>
            <a:ext cx="0" cy="1188720"/>
          </a:xfrm>
          <a:prstGeom prst="line">
            <a:avLst/>
          </a:prstGeom>
          <a:noFill/>
          <a:ln w="25400">
            <a:solidFill>
              <a:srgbClr val="B71C1C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2084832" y="26974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waits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377440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B7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39572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moves!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49040" y="1627632"/>
            <a:ext cx="5138928" cy="3310128"/>
          </a:xfrm>
          <a:prstGeom prst="roundRect">
            <a:avLst>
              <a:gd name="adj" fmla="val 2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86200" y="1719072"/>
            <a:ext cx="4864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886200" y="214884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Gridlock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86200" y="2404872"/>
            <a:ext cx="4864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intersection — each car blocks another. Nobody moves.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86200" y="283464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Bridge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86200" y="3090672"/>
            <a:ext cx="4864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walking towards each other — each waits for the other to step back.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86200" y="352044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Bowing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86200" y="3776472"/>
            <a:ext cx="4864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waits for the other to straighten first — infinite polite loop!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86200" y="420624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Locks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86200" y="4462272"/>
            <a:ext cx="4864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 locks Table1, waits for Table2. B locks Table2, waits for Table1.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4864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8631936" cy="530352"/>
          </a:xfrm>
          <a:prstGeom prst="roundRect">
            <a:avLst>
              <a:gd name="adj" fmla="val 13793"/>
            </a:avLst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59536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Usage Sequence:   Request  -&gt;  Allocate  -&gt;  Use  -&gt;  Release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426464"/>
            <a:ext cx="4224528" cy="3584448"/>
          </a:xfrm>
          <a:prstGeom prst="roundRect">
            <a:avLst>
              <a:gd name="adj" fmla="val 2551"/>
            </a:avLst>
          </a:prstGeom>
          <a:solidFill>
            <a:srgbClr val="FFF8F8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3464" y="1472184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00695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508760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Preemptable Resources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56616" y="2048256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taken away from a process WITHOUT causing failure. Work resumes after resource is returned.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6616" y="274320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" y="301752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CPU — preempted by scheduler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6616" y="3364992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Main Memory — pages swapped out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6616" y="3712464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Process can save/restore state safely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6616" y="4553712"/>
            <a:ext cx="3950208" cy="384048"/>
          </a:xfrm>
          <a:prstGeom prst="roundRect">
            <a:avLst>
              <a:gd name="adj" fmla="val 16667"/>
            </a:avLst>
          </a:prstGeom>
          <a:solidFill>
            <a:srgbClr val="00695C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" y="459028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Deadlocks RARELY involve preemptable resources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90872" y="1426464"/>
            <a:ext cx="4224528" cy="3584448"/>
          </a:xfrm>
          <a:prstGeom prst="roundRect">
            <a:avLst>
              <a:gd name="adj" fmla="val 2551"/>
            </a:avLst>
          </a:prstGeom>
          <a:solidFill>
            <a:srgbClr val="FFF8F8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45736" y="1472184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B7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4782312" y="1508760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Non-Preemptable Resources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818888" y="2048256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forcibly taken away without causing the process to FAIL. Must be voluntarily released.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18888" y="274320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18888" y="301752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Printer — cannot pull paper mid-print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18888" y="3364992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CD-ROM burner — cannot interrupt burn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18888" y="3712464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Tape drive, specialized hardware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18888" y="4553712"/>
            <a:ext cx="3950208" cy="384048"/>
          </a:xfrm>
          <a:prstGeom prst="roundRect">
            <a:avLst>
              <a:gd name="adj" fmla="val 16667"/>
            </a:avLst>
          </a:prstGeom>
          <a:solidFill>
            <a:srgbClr val="B71C1C"/>
          </a:solidFill>
          <a:ln/>
        </p:spPr>
      </p:sp>
      <p:sp>
        <p:nvSpPr>
          <p:cNvPr id="25" name="Text 23"/>
          <p:cNvSpPr/>
          <p:nvPr/>
        </p:nvSpPr>
        <p:spPr>
          <a:xfrm>
            <a:off x="4855464" y="459028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Deadlocks PRIMARILY involve non-preemptable resources!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4864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Conditions for Deadlock  (Coffman Conditions)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56032" y="786384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must hold simultaneously — remove even ONE to prevent deadlock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422452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46888" y="1161288"/>
            <a:ext cx="4133088" cy="420624"/>
          </a:xfrm>
          <a:prstGeom prst="roundRect">
            <a:avLst>
              <a:gd name="adj" fmla="val 17391"/>
            </a:avLst>
          </a:prstGeom>
          <a:solidFill>
            <a:srgbClr val="B71C1C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119786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Mutual Exclusion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92608" y="1636776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resource held in non-shareable mode. Only one process can use it at a time.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209397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eg. Only ONE process can print at a time. If two try, one must wait.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608" y="2633472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Break: Share resources where possible (e.g. spooling).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36008" y="1115568"/>
            <a:ext cx="422452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1161288"/>
            <a:ext cx="4133088" cy="420624"/>
          </a:xfrm>
          <a:prstGeom prst="roundRect">
            <a:avLst>
              <a:gd name="adj" fmla="val 17391"/>
            </a:avLst>
          </a:prstGeom>
          <a:solidFill>
            <a:srgbClr val="E6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4727448" y="119786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Hold and Wait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27448" y="1636776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holds at least one resource AND waits to acquire additional resources held by others.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27448" y="209397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eg. Process A holds the Printer AND is waiting for the Scanner.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27448" y="2633472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Break: Request ALL needed resources at once before starting.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" y="3108960"/>
            <a:ext cx="422452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" y="3154680"/>
            <a:ext cx="4133088" cy="420624"/>
          </a:xfrm>
          <a:prstGeom prst="roundRect">
            <a:avLst>
              <a:gd name="adj" fmla="val 17391"/>
            </a:avLst>
          </a:prstGeom>
          <a:solidFill>
            <a:srgbClr val="6A1B9A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3191256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No Preemption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92608" y="363016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cannot be forcibly taken from a process. Must be voluntarily released.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2608" y="4087368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eg. Cannot pull the printer from Process A mid-job without ruining the print.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2608" y="4626864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Break: Allow OS to preempt resources from waiting processes.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36008" y="3108960"/>
            <a:ext cx="422452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3154680"/>
            <a:ext cx="4133088" cy="420624"/>
          </a:xfrm>
          <a:prstGeom prst="roundRect">
            <a:avLst>
              <a:gd name="adj" fmla="val 17391"/>
            </a:avLst>
          </a:prstGeom>
          <a:solidFill>
            <a:srgbClr val="00695C"/>
          </a:solidFill>
          <a:ln/>
        </p:spPr>
      </p:sp>
      <p:sp>
        <p:nvSpPr>
          <p:cNvPr id="25" name="Text 23"/>
          <p:cNvSpPr/>
          <p:nvPr/>
        </p:nvSpPr>
        <p:spPr>
          <a:xfrm>
            <a:off x="4727448" y="3191256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Circular Wait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727448" y="363016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chain of processes — each holds a resource needed by the next in the chain.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27448" y="4087368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eg. P1 waits for P2's resource. P2 waits for P3's. P3 waits for P1's.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27448" y="4626864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Break: Impose total ordering on resource types; request in increasing order.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1168" y="4846320"/>
            <a:ext cx="8741664" cy="256032"/>
          </a:xfrm>
          <a:prstGeom prst="roundRect">
            <a:avLst>
              <a:gd name="adj" fmla="val 25000"/>
            </a:avLst>
          </a:prstGeom>
          <a:solidFill>
            <a:srgbClr val="1A0A0A"/>
          </a:solidFill>
          <a:ln/>
        </p:spPr>
      </p:sp>
      <p:sp>
        <p:nvSpPr>
          <p:cNvPr id="30" name="Text 28"/>
          <p:cNvSpPr/>
          <p:nvPr/>
        </p:nvSpPr>
        <p:spPr>
          <a:xfrm>
            <a:off x="256032" y="4873752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Trick:  M-H-N-C  -&gt;  Mutual exclusion, Hold &amp; wait, No preemption, Circular wait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4864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Allocation Graph (RAG)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8631936" cy="438912"/>
          </a:xfrm>
          <a:prstGeom prst="roundRect">
            <a:avLst>
              <a:gd name="adj" fmla="val 16667"/>
            </a:avLst>
          </a:prstGeom>
          <a:solidFill>
            <a:srgbClr val="E0F7FA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41248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= Process  |  Rectangle = Resource  |  Dot inside = instance  |  P-&gt;R = Request  |  R-&gt;P = Assignment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8600" y="1316736"/>
            <a:ext cx="2697480" cy="3547872"/>
          </a:xfrm>
          <a:prstGeom prst="roundRect">
            <a:avLst>
              <a:gd name="adj" fmla="val 3390"/>
            </a:avLst>
          </a:prstGeom>
          <a:solidFill>
            <a:srgbClr val="FFF8F8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16736"/>
            <a:ext cx="2697480" cy="438912"/>
          </a:xfrm>
          <a:prstGeom prst="roundRect">
            <a:avLst>
              <a:gd name="adj" fmla="val 16667"/>
            </a:avLst>
          </a:prstGeom>
          <a:solidFill>
            <a:srgbClr val="00695C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3533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— NO Deadlock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1901952"/>
            <a:ext cx="960120" cy="5303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9568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72768" y="1901952"/>
            <a:ext cx="1005840" cy="530352"/>
          </a:xfrm>
          <a:prstGeom prst="roundRect">
            <a:avLst>
              <a:gd name="adj" fmla="val 10345"/>
            </a:avLst>
          </a:prstGeom>
          <a:solidFill>
            <a:srgbClr val="E65100"/>
          </a:solidFill>
          <a:ln/>
        </p:spPr>
      </p:sp>
      <p:sp>
        <p:nvSpPr>
          <p:cNvPr id="12" name="Text 10"/>
          <p:cNvSpPr/>
          <p:nvPr/>
        </p:nvSpPr>
        <p:spPr>
          <a:xfrm>
            <a:off x="1572768" y="19476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 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" y="2743200"/>
            <a:ext cx="960120" cy="53035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79806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44168" y="2167128"/>
            <a:ext cx="228600" cy="0"/>
          </a:xfrm>
          <a:prstGeom prst="line">
            <a:avLst/>
          </a:prstGeom>
          <a:noFill/>
          <a:ln w="254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197510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request-&gt;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572768" y="3008376"/>
            <a:ext cx="-594360" cy="0"/>
          </a:xfrm>
          <a:prstGeom prst="line">
            <a:avLst/>
          </a:prstGeom>
          <a:noFill/>
          <a:ln w="25400">
            <a:solidFill>
              <a:srgbClr val="006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06324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&lt;-assigned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2608" y="4315968"/>
            <a:ext cx="2487168" cy="384048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" y="435254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cycle -&gt; NO DEADLOCK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1316736"/>
            <a:ext cx="2697480" cy="3547872"/>
          </a:xfrm>
          <a:prstGeom prst="roundRect">
            <a:avLst>
              <a:gd name="adj" fmla="val 3390"/>
            </a:avLst>
          </a:prstGeom>
          <a:solidFill>
            <a:srgbClr val="FFF8F8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1316736"/>
            <a:ext cx="2697480" cy="438912"/>
          </a:xfrm>
          <a:prstGeom prst="roundRect">
            <a:avLst>
              <a:gd name="adj" fmla="val 16667"/>
            </a:avLst>
          </a:prstGeom>
          <a:solidFill>
            <a:srgbClr val="B7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13533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— DEADLOCK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1901952"/>
            <a:ext cx="960120" cy="5303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19568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91840" y="2944368"/>
            <a:ext cx="960120" cy="53035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9992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44568" y="1901952"/>
            <a:ext cx="1005840" cy="530352"/>
          </a:xfrm>
          <a:prstGeom prst="roundRect">
            <a:avLst>
              <a:gd name="adj" fmla="val 10345"/>
            </a:avLst>
          </a:prstGeom>
          <a:solidFill>
            <a:srgbClr val="E65100"/>
          </a:solidFill>
          <a:ln/>
        </p:spPr>
      </p:sp>
      <p:sp>
        <p:nvSpPr>
          <p:cNvPr id="29" name="Text 27"/>
          <p:cNvSpPr/>
          <p:nvPr/>
        </p:nvSpPr>
        <p:spPr>
          <a:xfrm>
            <a:off x="4544568" y="19476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 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44568" y="2944368"/>
            <a:ext cx="1005840" cy="530352"/>
          </a:xfrm>
          <a:prstGeom prst="roundRect">
            <a:avLst>
              <a:gd name="adj" fmla="val 10345"/>
            </a:avLst>
          </a:prstGeom>
          <a:solidFill>
            <a:srgbClr val="00695C"/>
          </a:solidFill>
          <a:ln/>
        </p:spPr>
      </p:sp>
      <p:sp>
        <p:nvSpPr>
          <p:cNvPr id="31" name="Text 29"/>
          <p:cNvSpPr/>
          <p:nvPr/>
        </p:nvSpPr>
        <p:spPr>
          <a:xfrm>
            <a:off x="4544568" y="29900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 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51960" y="2167128"/>
            <a:ext cx="292608" cy="0"/>
          </a:xfrm>
          <a:prstGeom prst="line">
            <a:avLst/>
          </a:prstGeom>
          <a:noFill/>
          <a:ln w="25400">
            <a:solidFill>
              <a:srgbClr val="B71C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44568" y="3035808"/>
            <a:ext cx="-1207008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51960" y="3209544"/>
            <a:ext cx="292608" cy="0"/>
          </a:xfrm>
          <a:prstGeom prst="line">
            <a:avLst/>
          </a:prstGeom>
          <a:noFill/>
          <a:ln w="25400">
            <a:solidFill>
              <a:srgbClr val="B71C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44568" y="2167128"/>
            <a:ext cx="-1207008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39319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holds R2, waits R1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holds R1, waits R2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-&gt; DEADLOCK!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18688" y="4389120"/>
            <a:ext cx="2487168" cy="365760"/>
          </a:xfrm>
          <a:prstGeom prst="roundRect">
            <a:avLst>
              <a:gd name="adj" fmla="val 17500"/>
            </a:avLst>
          </a:prstGeom>
          <a:solidFill>
            <a:srgbClr val="B71C1C"/>
          </a:solidFill>
          <a:ln/>
        </p:spPr>
      </p:sp>
      <p:sp>
        <p:nvSpPr>
          <p:cNvPr id="38" name="Text 36"/>
          <p:cNvSpPr/>
          <p:nvPr/>
        </p:nvSpPr>
        <p:spPr>
          <a:xfrm>
            <a:off x="3218688" y="442569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-&gt; DEADLOCK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53328" y="1316736"/>
            <a:ext cx="2834640" cy="3547872"/>
          </a:xfrm>
          <a:prstGeom prst="roundRect">
            <a:avLst>
              <a:gd name="adj" fmla="val 3226"/>
            </a:avLst>
          </a:prstGeom>
          <a:solidFill>
            <a:srgbClr val="1A0A0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99632" y="140817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Rules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172200" y="18745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2C1010"/>
          </a:solidFill>
          <a:ln/>
        </p:spPr>
      </p:sp>
      <p:sp>
        <p:nvSpPr>
          <p:cNvPr id="42" name="Text 40"/>
          <p:cNvSpPr/>
          <p:nvPr/>
        </p:nvSpPr>
        <p:spPr>
          <a:xfrm>
            <a:off x="6236208" y="19202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No cycle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236208" y="228600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NO deadlock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172200" y="28803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2C1010"/>
          </a:solidFill>
          <a:ln/>
        </p:spPr>
      </p:sp>
      <p:sp>
        <p:nvSpPr>
          <p:cNvPr id="45" name="Text 43"/>
          <p:cNvSpPr/>
          <p:nvPr/>
        </p:nvSpPr>
        <p:spPr>
          <a:xfrm>
            <a:off x="6236208" y="292608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Cycle + single instances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236208" y="329184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DEADLOCK exists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172200" y="38862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2C1010"/>
          </a:solidFill>
          <a:ln/>
        </p:spPr>
      </p:sp>
      <p:sp>
        <p:nvSpPr>
          <p:cNvPr id="48" name="Text 46"/>
          <p:cNvSpPr/>
          <p:nvPr/>
        </p:nvSpPr>
        <p:spPr>
          <a:xfrm>
            <a:off x="6236208" y="39319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Cycle + multiple instances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236208" y="429768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Deadlock POSSIBLE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4864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of Handling Deadlocks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8686800" cy="1024128"/>
          </a:xfrm>
          <a:prstGeom prst="roundRect">
            <a:avLst>
              <a:gd name="adj" fmla="val 8929"/>
            </a:avLst>
          </a:prstGeom>
          <a:solidFill>
            <a:srgbClr val="1A0A0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8503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OSTRICH Algorithm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7472" y="11978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IGNORE the problem — pretend deadlocks don't exist.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896112"/>
            <a:ext cx="4407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overhead  |  Used by UNIX, Linux, Windows  |  Can cause instability  |  Not for critical systems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" y="1901952"/>
            <a:ext cx="2816352" cy="3127248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" y="1947672"/>
            <a:ext cx="2724912" cy="438912"/>
          </a:xfrm>
          <a:prstGeom prst="roundRect">
            <a:avLst>
              <a:gd name="adj" fmla="val 16667"/>
            </a:avLst>
          </a:prstGeom>
          <a:solidFill>
            <a:srgbClr val="00695C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9842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92608" y="2450592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at least ONE Coffman condition can NEVER hold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" y="290779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Attack mutual exclusion (spooling)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" y="325526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Request all resources upfront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2608" y="360273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Allow preemption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2608" y="395020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 resource ordering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" y="4727448"/>
            <a:ext cx="2633472" cy="18288"/>
          </a:xfrm>
          <a:prstGeom prst="rect">
            <a:avLst/>
          </a:prstGeom>
          <a:solidFill>
            <a:srgbClr val="F5E8E8"/>
          </a:solidFill>
          <a:ln w="12700">
            <a:solidFill>
              <a:srgbClr val="F5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475488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High — restricts resource usage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45536" y="1901952"/>
            <a:ext cx="2816352" cy="3127248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91256" y="1947672"/>
            <a:ext cx="2724912" cy="43891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3218688" y="19842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236976" y="2450592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resources ONLY if it leads to a safe state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36976" y="290779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Banker's Algorithm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36976" y="325526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Requires max resource info upfront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36976" y="360273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Checks safety before each allocation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36976" y="395020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Never enters unsafe state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36976" y="4727448"/>
            <a:ext cx="2633472" cy="18288"/>
          </a:xfrm>
          <a:prstGeom prst="rect">
            <a:avLst/>
          </a:prstGeom>
          <a:solidFill>
            <a:srgbClr val="F5E8E8"/>
          </a:solidFill>
          <a:ln w="12700">
            <a:solidFill>
              <a:srgbClr val="F5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36976" y="475488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Medium — needs advance info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9904" y="1901952"/>
            <a:ext cx="2816352" cy="3127248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35624" y="1947672"/>
            <a:ext cx="2724912" cy="438912"/>
          </a:xfrm>
          <a:prstGeom prst="roundRect">
            <a:avLst>
              <a:gd name="adj" fmla="val 16667"/>
            </a:avLst>
          </a:prstGeom>
          <a:solidFill>
            <a:srgbClr val="6A1B9A"/>
          </a:solidFill>
          <a:ln/>
        </p:spPr>
      </p:sp>
      <p:sp>
        <p:nvSpPr>
          <p:cNvPr id="30" name="Text 28"/>
          <p:cNvSpPr/>
          <p:nvPr/>
        </p:nvSpPr>
        <p:spPr>
          <a:xfrm>
            <a:off x="6163056" y="19842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+ Recovery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181344" y="2450592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deadlocks; periodically detect and recover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81344" y="290779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Run detection algorithm periodically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81344" y="325526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Kill one/more deadlocked processes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81344" y="360273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Preempt resources and rollback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81344" y="395020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Restart affected processes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81344" y="4727448"/>
            <a:ext cx="2633472" cy="18288"/>
          </a:xfrm>
          <a:prstGeom prst="rect">
            <a:avLst/>
          </a:prstGeom>
          <a:solidFill>
            <a:srgbClr val="F5E8E8"/>
          </a:solidFill>
          <a:ln w="12700">
            <a:solidFill>
              <a:srgbClr val="F5E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81344" y="475488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Periodic overhead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4864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Deadlock Prevention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56032" y="786384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at least ONE of the four Coffman conditions to prevent deadlock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4224528" cy="1901952"/>
          </a:xfrm>
          <a:prstGeom prst="roundRect">
            <a:avLst>
              <a:gd name="adj" fmla="val 4808"/>
            </a:avLst>
          </a:prstGeom>
          <a:solidFill>
            <a:srgbClr val="FFF8F8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46888" y="1161288"/>
            <a:ext cx="4133088" cy="402336"/>
          </a:xfrm>
          <a:prstGeom prst="roundRect">
            <a:avLst>
              <a:gd name="adj" fmla="val 18182"/>
            </a:avLst>
          </a:prstGeom>
          <a:solidFill>
            <a:srgbClr val="B71C1C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119786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Attack Mutual Exclusion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1609344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SPOOLING — a daemon manages the resource; processes write to a spool queue instead of accessing the device directly.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" y="2103120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eg. Print Spooler: Chrome sends job to queue. Spooler manages printer. Chrome never holds it.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" y="26334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Not all resources can be spooled (e.g. RAM).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36008" y="1115568"/>
            <a:ext cx="4224528" cy="1901952"/>
          </a:xfrm>
          <a:prstGeom prst="roundRect">
            <a:avLst>
              <a:gd name="adj" fmla="val 4808"/>
            </a:avLst>
          </a:prstGeom>
          <a:solidFill>
            <a:srgbClr val="FFF8F8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1161288"/>
            <a:ext cx="4133088" cy="402336"/>
          </a:xfrm>
          <a:prstGeom prst="roundRect">
            <a:avLst>
              <a:gd name="adj" fmla="val 18182"/>
            </a:avLst>
          </a:prstGeom>
          <a:solidFill>
            <a:srgbClr val="E6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4727448" y="119786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Attack Hold and Wait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27448" y="1609344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Request ALL resources before starting.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Release ALL held resources before requesting new ones.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27448" y="2103120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eg. Process needing Printer+Scanner must request BOTH before starting. If unavailable, waits without holding anything.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27448" y="26334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Low utilization. Starvation possible for resource-hungry processes.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1168" y="3108960"/>
            <a:ext cx="4224528" cy="1901952"/>
          </a:xfrm>
          <a:prstGeom prst="roundRect">
            <a:avLst>
              <a:gd name="adj" fmla="val 4808"/>
            </a:avLst>
          </a:prstGeom>
          <a:solidFill>
            <a:srgbClr val="FFF8F8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" y="3154680"/>
            <a:ext cx="4133088" cy="402336"/>
          </a:xfrm>
          <a:prstGeom prst="roundRect">
            <a:avLst>
              <a:gd name="adj" fmla="val 18182"/>
            </a:avLst>
          </a:prstGeom>
          <a:solidFill>
            <a:srgbClr val="6A1B9A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319125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Attack No Preemption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" y="3602736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OS to preempt resources from a waiting process. Resources saved; process restarts when all become available.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2608" y="4096512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eg. If Process A holds memory and waits for disk, OS swaps A's pages to disk and gives memory to Process B.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" y="462686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Only works for resources whose state can be saved — not printers.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36008" y="3108960"/>
            <a:ext cx="4224528" cy="1901952"/>
          </a:xfrm>
          <a:prstGeom prst="roundRect">
            <a:avLst>
              <a:gd name="adj" fmla="val 4808"/>
            </a:avLst>
          </a:prstGeom>
          <a:solidFill>
            <a:srgbClr val="FFF8F8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3154680"/>
            <a:ext cx="4133088" cy="402336"/>
          </a:xfrm>
          <a:prstGeom prst="roundRect">
            <a:avLst>
              <a:gd name="adj" fmla="val 18182"/>
            </a:avLst>
          </a:prstGeom>
          <a:solidFill>
            <a:srgbClr val="00695C"/>
          </a:solidFill>
          <a:ln/>
        </p:spPr>
      </p:sp>
      <p:sp>
        <p:nvSpPr>
          <p:cNvPr id="25" name="Text 23"/>
          <p:cNvSpPr/>
          <p:nvPr/>
        </p:nvSpPr>
        <p:spPr>
          <a:xfrm>
            <a:off x="4727448" y="319125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Attack Circular Wait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27448" y="3602736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 TOTAL ORDERING on all resource types. Processes can only request resources in INCREASING order of type number.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27448" y="4096512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eg. Printer=1, Scanner=2, Disk=3. Must request Printer BEFORE Scanner BEFORE Disk. Cannot hold Scanner(2) and request Printer(1).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27448" y="462686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Resources may not be used in a natural order. Ordering is hard to define for all programs.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4864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Deadlock Avoidance — Banker's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8631936" cy="548640"/>
          </a:xfrm>
          <a:prstGeom prst="roundRect">
            <a:avLst>
              <a:gd name="adj" fmla="val 13333"/>
            </a:avLst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41248"/>
            <a:ext cx="83759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banker: grant loans ONLY if doing so keeps the bank able to satisfy ALL customers' max demands. Never enter an unsafe state!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28600" y="1426464"/>
            <a:ext cx="3017520" cy="3584448"/>
          </a:xfrm>
          <a:prstGeom prst="roundRect">
            <a:avLst>
              <a:gd name="adj" fmla="val 3030"/>
            </a:avLst>
          </a:prstGeom>
          <a:solidFill>
            <a:srgbClr val="1A0A0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517904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938528"/>
            <a:ext cx="2779776" cy="658368"/>
          </a:xfrm>
          <a:prstGeom prst="roundRect">
            <a:avLst>
              <a:gd name="adj" fmla="val 9722"/>
            </a:avLst>
          </a:prstGeom>
          <a:solidFill>
            <a:srgbClr val="2C1010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98424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Available[m]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" y="226771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instances of each resource type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2688336"/>
            <a:ext cx="2779776" cy="658368"/>
          </a:xfrm>
          <a:prstGeom prst="roundRect">
            <a:avLst>
              <a:gd name="adj" fmla="val 9722"/>
            </a:avLst>
          </a:prstGeom>
          <a:solidFill>
            <a:srgbClr val="2C1010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" y="273405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Max[n][m]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" y="301752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demand of each process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3438144"/>
            <a:ext cx="2779776" cy="658368"/>
          </a:xfrm>
          <a:prstGeom prst="roundRect">
            <a:avLst>
              <a:gd name="adj" fmla="val 9722"/>
            </a:avLst>
          </a:prstGeom>
          <a:solidFill>
            <a:srgbClr val="2C1010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" y="348386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Allocation[n][m]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0624" y="376732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allocated to each process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4187952"/>
            <a:ext cx="2779776" cy="658368"/>
          </a:xfrm>
          <a:prstGeom prst="roundRect">
            <a:avLst>
              <a:gd name="adj" fmla="val 9722"/>
            </a:avLst>
          </a:prstGeom>
          <a:solidFill>
            <a:srgbClr val="2C1010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" y="423367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Need[n][m]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" y="45171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need = Max minus Allocation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7472" y="4983480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Need = Max - Allocation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01568" y="1426464"/>
            <a:ext cx="5468112" cy="3584448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529584" y="150876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Algorithm — check if state is SAFE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529584" y="1938528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9584" y="195681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50208" y="1920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19202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= Available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Finish[i] = false for all i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529584" y="274320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9584" y="276148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50208" y="27249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eligible: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272491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 where Finish[i]=false AND Need[i] &lt;= Work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none found, go to step 4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529584" y="3547872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9584" y="356616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950208" y="35295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complete: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352958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= Work + Allocation[i]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Finish[i] = true  -&gt;  go back to step 2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529584" y="4352544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29584" y="437083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950208" y="43342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result: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12080" y="433425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Finish[i]=true for ALL i  -&gt;  SAFE STATE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 -&gt;  UNSAFE STATE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493008" y="5056632"/>
            <a:ext cx="5303520" cy="292608"/>
          </a:xfrm>
          <a:prstGeom prst="roundRect">
            <a:avLst>
              <a:gd name="adj" fmla="val 21875"/>
            </a:avLst>
          </a:prstGeom>
          <a:solidFill>
            <a:srgbClr val="1565C0"/>
          </a:solidFill>
          <a:ln/>
        </p:spPr>
      </p:sp>
      <p:sp>
        <p:nvSpPr>
          <p:cNvPr id="40" name="Text 38"/>
          <p:cNvSpPr/>
          <p:nvPr/>
        </p:nvSpPr>
        <p:spPr>
          <a:xfrm>
            <a:off x="3566160" y="508406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Request: pretend to allocate -&gt; run Safety -&gt; if SAFE grant, else rollback and make process wait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4864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Banker's Algorithm — Worked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8686800" cy="420624"/>
          </a:xfrm>
          <a:prstGeom prst="roundRect">
            <a:avLst>
              <a:gd name="adj" fmla="val 17391"/>
            </a:avLst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" y="841248"/>
            <a:ext cx="8558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processes (P0-P4), 3 resource types (A, B, C)  |  Available = [3, 3, 2]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298448"/>
          <a:ext cx="8631936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03120"/>
                <a:gridCol w="2103120"/>
                <a:gridCol w="3236976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 B 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 B 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= Max - Alloc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 B 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0A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0A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0  1  0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0A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7  5  3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0A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7  4  3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0A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0A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2  0  0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0A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3  2  2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0A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1  2  2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0A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0A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3  0  2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0A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9  0  2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0A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6  0  0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0A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P3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0A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2  1  1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0A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2  2  2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0A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0  1  1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0A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0A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0  0  2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0A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4  3  3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0A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4  3  1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3547872"/>
            <a:ext cx="8686800" cy="1417320"/>
          </a:xfrm>
          <a:prstGeom prst="roundRect">
            <a:avLst>
              <a:gd name="adj" fmla="val 6452"/>
            </a:avLst>
          </a:prstGeom>
          <a:solidFill>
            <a:srgbClr val="1A0A0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47472" y="3602736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  (Work starts at [3,3,2]):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47472" y="3931920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P1: Need[1,2,2] &lt;= [3,3,2]  -&gt;  Work = [3,3,2]+[2,0,0] = [5,3,2]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47472" y="4261104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P3: Need[0,1,1] &lt;= [5,3,2]  -&gt;  Work = [5,3,2]+[2,1,1] = [7,4,3]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47472" y="4590288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P4: Need[4,3,1] &lt;= [7,4,3]  -&gt;  Work = [7,4,3]+[0,0,2] = [7,4,5]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663440" y="3931920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P0: Need[7,4,3] &lt;= [7,4,5]  -&gt;  Work = [7,4,5]+[0,1,0] = [7,5,5]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663440" y="4261104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P2: Need[6,0,0] &lt;= [7,5,5]  -&gt;  All processes finish!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28600" y="4901184"/>
            <a:ext cx="8686800" cy="292608"/>
          </a:xfrm>
          <a:prstGeom prst="roundRect">
            <a:avLst>
              <a:gd name="adj" fmla="val 21875"/>
            </a:avLst>
          </a:prstGeom>
          <a:solidFill>
            <a:srgbClr val="2E7D32"/>
          </a:solidFill>
          <a:ln/>
        </p:spPr>
      </p:sp>
      <p:sp>
        <p:nvSpPr>
          <p:cNvPr id="15" name="Text 12"/>
          <p:cNvSpPr/>
          <p:nvPr/>
        </p:nvSpPr>
        <p:spPr>
          <a:xfrm>
            <a:off x="292608" y="4928616"/>
            <a:ext cx="8558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Sequence:  P1 -&gt; P3 -&gt; P4 -&gt; P0 -&gt; P2    |    System is in a SAFE STATE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4864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Deadlock Detection &amp; Recovery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251960" cy="429768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4251960" cy="475488"/>
          </a:xfrm>
          <a:prstGeom prst="roundRect">
            <a:avLst>
              <a:gd name="adj" fmla="val 19231"/>
            </a:avLst>
          </a:prstGeom>
          <a:solidFill>
            <a:srgbClr val="6A1B9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50392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353312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deadlocks to occur, then periodically detect them.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1700784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single-instance resources: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" y="199339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RAG reduction: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28600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Find process with no outstanding requests -&gt; can finish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578608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Remove it and its edges from RAG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87121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Repeat until no more removals possible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3163824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Remaining processes = DEADLOCKED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3474720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multi-instance resources: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376732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Work = Available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404164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Find i: Finish[i]=false AND Request[i] &lt;= 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31596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Work += Allocation[i]; Finish[i] = true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459028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Finish[i]=false for any i -&gt; DEADLOCK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892040"/>
            <a:ext cx="4069080" cy="256032"/>
          </a:xfrm>
          <a:prstGeom prst="roundRect">
            <a:avLst>
              <a:gd name="adj" fmla="val 25000"/>
            </a:avLst>
          </a:prstGeom>
          <a:solidFill>
            <a:srgbClr val="6A1B9A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4919472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every K min OR when CPU utilization drops below threshold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804672"/>
            <a:ext cx="4251960" cy="429768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804672"/>
            <a:ext cx="4251960" cy="475488"/>
          </a:xfrm>
          <a:prstGeom prst="roundRect">
            <a:avLst>
              <a:gd name="adj" fmla="val 19231"/>
            </a:avLst>
          </a:prstGeom>
          <a:solidFill>
            <a:srgbClr val="B7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850392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Recovery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54880" y="135331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1: Process Termination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1664208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Abort ALL deadlocked processes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195681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Simple but all progress is lost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2249424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Abort ONE process at a time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25420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Check if deadlock resolved; repeat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283464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selection: Priority | CPU time used | Resources held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18211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2: Resource Preemption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349300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Forcibly take resource from a victim process,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76732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to deadlocked process.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404164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Issues: select victim carefully, rollback to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431596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checkpoint, prevent starvation.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4892040"/>
            <a:ext cx="4069080" cy="256032"/>
          </a:xfrm>
          <a:prstGeom prst="roundRect">
            <a:avLst>
              <a:gd name="adj" fmla="val 25000"/>
            </a:avLst>
          </a:prstGeom>
          <a:solidFill>
            <a:srgbClr val="B71C1C"/>
          </a:solidFill>
          <a:ln/>
        </p:spPr>
      </p:sp>
      <p:sp>
        <p:nvSpPr>
          <p:cNvPr id="36" name="Text 34"/>
          <p:cNvSpPr/>
          <p:nvPr/>
        </p:nvSpPr>
        <p:spPr>
          <a:xfrm>
            <a:off x="4791456" y="4919472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eg. Database: deadlocked transaction rolled back, restarted later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4864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804672"/>
            <a:ext cx="2816352" cy="4279392"/>
          </a:xfrm>
          <a:prstGeom prst="roundRect">
            <a:avLst>
              <a:gd name="adj" fmla="val 3247"/>
            </a:avLst>
          </a:prstGeom>
          <a:solidFill>
            <a:srgbClr val="FFF8F8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6888" y="850392"/>
            <a:ext cx="2724912" cy="457200"/>
          </a:xfrm>
          <a:prstGeom prst="roundRect">
            <a:avLst>
              <a:gd name="adj" fmla="val 16000"/>
            </a:avLst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86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92608" y="1389888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Algorithm — Safety Check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" y="1938528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 C. Input: Allocation, Max, Available matrices. Output: Safe/Unsafe state + Safe sequence.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" y="265176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Steps: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2608" y="292608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Calculate Need = Max - Allocation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" y="324612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Initialize Work = Available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608" y="356616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Find process where Need &lt;= Work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" y="38862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Simulate completion, update Work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2608" y="42062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Repeat until all done or stuck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45536" y="804672"/>
            <a:ext cx="2816352" cy="4279392"/>
          </a:xfrm>
          <a:prstGeom prst="roundRect">
            <a:avLst>
              <a:gd name="adj" fmla="val 3247"/>
            </a:avLst>
          </a:prstGeom>
          <a:solidFill>
            <a:srgbClr val="FFF8F8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91256" y="850392"/>
            <a:ext cx="2724912" cy="457200"/>
          </a:xfrm>
          <a:prstGeom prst="roundRect">
            <a:avLst>
              <a:gd name="adj" fmla="val 16000"/>
            </a:avLst>
          </a:prstGeom>
          <a:solidFill>
            <a:srgbClr val="00695C"/>
          </a:solidFill>
          <a:ln/>
        </p:spPr>
      </p:sp>
      <p:sp>
        <p:nvSpPr>
          <p:cNvPr id="17" name="Text 15"/>
          <p:cNvSpPr/>
          <p:nvPr/>
        </p:nvSpPr>
        <p:spPr>
          <a:xfrm>
            <a:off x="3218688" y="886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36976" y="1389888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Algorithm — Resource Request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36976" y="1938528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 C. Input: Current state + new request from process Pi. Output: Grant or Deny request.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36976" y="265176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Steps: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36976" y="292608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Check Request &lt;= Need (else error)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36976" y="324612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Check Request &lt;= Available (else wait)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36976" y="356616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Trial: pretend to allocate resources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36976" y="38862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Run Safety check on the new state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36976" y="42062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safe: grant. If unsafe: rollback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89904" y="804672"/>
            <a:ext cx="2816352" cy="4279392"/>
          </a:xfrm>
          <a:prstGeom prst="roundRect">
            <a:avLst>
              <a:gd name="adj" fmla="val 3247"/>
            </a:avLst>
          </a:prstGeom>
          <a:solidFill>
            <a:srgbClr val="FFF8F8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35624" y="850392"/>
            <a:ext cx="2724912" cy="457200"/>
          </a:xfrm>
          <a:prstGeom prst="roundRect">
            <a:avLst>
              <a:gd name="adj" fmla="val 16000"/>
            </a:avLst>
          </a:prstGeom>
          <a:solidFill>
            <a:srgbClr val="6A1B9A"/>
          </a:solidFill>
          <a:ln/>
        </p:spPr>
      </p:sp>
      <p:sp>
        <p:nvSpPr>
          <p:cNvPr id="28" name="Text 26"/>
          <p:cNvSpPr/>
          <p:nvPr/>
        </p:nvSpPr>
        <p:spPr>
          <a:xfrm>
            <a:off x="6163056" y="886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181344" y="1389888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Detection — RAG Cycle Check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81344" y="1938528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cycle detection in RAG using DFS. Input: adjacency matrix. Output: Deadlock found or not.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81344" y="265176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Steps: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81344" y="292608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Represent RAG as adjacency matrix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81344" y="324612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 DFS with recursion stack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81344" y="356616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Back edge found -&gt; cycle -&gt; deadlock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81344" y="38862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back edge -&gt; deadlock-free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81344" y="42062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Works for single-instance resources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01168" y="5047488"/>
            <a:ext cx="8741664" cy="256032"/>
          </a:xfrm>
          <a:prstGeom prst="roundRect">
            <a:avLst>
              <a:gd name="adj" fmla="val 28571"/>
            </a:avLst>
          </a:prstGeom>
          <a:solidFill>
            <a:srgbClr val="1A0A0A"/>
          </a:solidFill>
          <a:ln/>
        </p:spPr>
      </p:sp>
      <p:sp>
        <p:nvSpPr>
          <p:cNvPr id="38" name="Text 36"/>
          <p:cNvSpPr/>
          <p:nvPr/>
        </p:nvSpPr>
        <p:spPr>
          <a:xfrm>
            <a:off x="256032" y="5074920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 programs with line-by-line explanation and sample problems are in the course notes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4864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4 —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" y="859536"/>
            <a:ext cx="347472" cy="347472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87782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822960"/>
            <a:ext cx="8119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= circular wait where no process can proceed. Involves non-preemptable resources.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2608" y="1335024"/>
            <a:ext cx="347472" cy="34747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35331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298448"/>
            <a:ext cx="8119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Coffman conditions (ALL needed): Mutual Exclusion, Hold &amp; Wait, No Preemption, Circular Wait.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2608" y="1810512"/>
            <a:ext cx="347472" cy="347472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82880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1773936"/>
            <a:ext cx="8119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no cycle = no deadlock; cycle + single instance = deadlock; cycle + multi = maybe deadlock.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92608" y="2286000"/>
            <a:ext cx="347472" cy="34747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3042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2249424"/>
            <a:ext cx="8119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Ostrich Algorithm: ignore the problem. Used by Linux/Windows for non-critical deadlocks.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92608" y="276148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77977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" y="2724912"/>
            <a:ext cx="8119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Prevention: attack one Coffman condition (spooling, all-at-once, preemption, ordering).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92608" y="3236976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25526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3200400"/>
            <a:ext cx="8119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Avoidance: Banker's Algorithm — only grant if safe state maintained. Need = Max - Allocation.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92608" y="3712464"/>
            <a:ext cx="347472" cy="34747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373075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3675888"/>
            <a:ext cx="8119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RAG reduction (single) or detection algorithm (multi). Run periodically.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92608" y="4187952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42062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4151376"/>
            <a:ext cx="8119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Recovery: abort processes (one/all) OR preempt resources with rollback. Avoid starvation.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28600" y="4663440"/>
            <a:ext cx="8686800" cy="420624"/>
          </a:xfrm>
          <a:prstGeom prst="roundRect">
            <a:avLst>
              <a:gd name="adj" fmla="val 17391"/>
            </a:avLst>
          </a:prstGeom>
          <a:solidFill>
            <a:srgbClr val="B71C1C"/>
          </a:solidFill>
          <a:ln/>
        </p:spPr>
      </p:sp>
      <p:sp>
        <p:nvSpPr>
          <p:cNvPr id="29" name="Text 27"/>
          <p:cNvSpPr/>
          <p:nvPr/>
        </p:nvSpPr>
        <p:spPr>
          <a:xfrm>
            <a:off x="292608" y="4700016"/>
            <a:ext cx="8558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Formula:  Need[i][j] = Max[i][j] - Allocation[i][j]    |    Safe: Need &lt;= Work -&gt; execute -&gt; Work += Allocation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7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0A0A"/>
          </a:solidFill>
          <a:ln w="12700">
            <a:solidFill>
              <a:srgbClr val="1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CACS251 — Operating System  |  Unit 4  |  Deadlocks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"Better to prevent than to detect."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0906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Exam Questions: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4930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State and explain the 4 Coffman conditions with examples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37307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Draw a Resource Allocation Graph showing deadlock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39684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Solve Banker's Algorithm — find safe sequence  (EXAM MUST)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420624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Differentiate: deadlock prevention vs avoidance vs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444398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is the Ostrich Algorithm? When is it used?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468172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Write a C program to implement Banker's Safety Algorithm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Deadlocks - Unit 4</dc:title>
  <dc:subject>PptxGenJS Presentation</dc:subject>
  <dc:creator>PptxGenJS</dc:creator>
  <cp:lastModifiedBy>PptxGenJS</cp:lastModifiedBy>
  <cp:revision>1</cp:revision>
  <dcterms:created xsi:type="dcterms:W3CDTF">2026-07-01T23:49:30Z</dcterms:created>
  <dcterms:modified xsi:type="dcterms:W3CDTF">2026-07-01T23:49:30Z</dcterms:modified>
</cp:coreProperties>
</file>