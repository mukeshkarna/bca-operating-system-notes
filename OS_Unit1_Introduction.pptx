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38" d="100"/>
          <a:sy n="138" d="100"/>
        </p:scale>
        <p:origin x="184" y="6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502381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students! This is Unit 1 of Operating System (CACS251). Today we'll cover 4 major topics over 2 hours. Start by asking: 'Who here has heard of an OS?' to engage the class.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a quick overview of what you'll cover. Mention this unit is 2 hours and sets the foundation for all other units.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analogy: OS is like a hotel manager — guests (users/apps) request services, and the manager (OS) handles all the behind-the-scenes work (hardware). Ask students: 'Have you ever plugged in a USB? Did you configure the hardware yourself?' — No, the OS did it!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generation slowly. Ask students: Which generation do your phones belong to? (Gen 4). Highlight UNIX in Gen 3 — Linux and Android are based on it! Mention computers went from room-sized to pocket-sized.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'When you save a file, do you know what disk sector it goes to?' — No! That's the extended machine role. Resource Manager example: Open many apps — phone gets slow = OS is distributing limited resources.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Batch OS: Like dropping off laundry — you leave it and come back later. Time-sharing: Like a rotating door in a restaurant — everyone takes turns quickly. Multiprocessing: Like having multiple chefs in a kitchen — work gets done faster.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RTOS is the most impactful to explain — use the airbag example. Students are always shocked by the 25ms constraint. For Distributed OS, mention Netflix or Google Maps running across hundreds of servers. For Mobile OS, ask how many students use Android (Linux under the hood!).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function quickly — 1 minute each. The most engaging ones are: BSOD (Error Detection) — show a BSOD image if possible, and Process Management — open Task Manager to show live processes. Mention functions 1-4 will each get a full unit later!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as a revision tool. Ask students to call out examples for each type. This table also helps them prepare for short-answer exam questions comparing OS types.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by asking students to recall 1 type of OS with an example each. Assign homework: 'List 3 real OS you use daily and classify their type.' Preview Unit 2 briefly — Kernel and OS structure.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Q&amp;A. Common student questions: Why can't programs access hardware directly? (Security + stability). Is Android really Linux? (Yes — Linux kernel!). What happens if the OS crashes? (Hardware still works, but software is stuck — hard reboot needed).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E7C86"/>
          </a:solidFill>
          <a:ln w="12700">
            <a:solidFill>
              <a:srgbClr val="0E7C86"/>
            </a:solidFill>
            <a:prstDash val="solid"/>
          </a:ln>
        </p:spPr>
      </p:sp>
      <p:sp>
        <p:nvSpPr>
          <p:cNvPr id="3" name="Text 1"/>
          <p:cNvSpPr/>
          <p:nvPr/>
        </p:nvSpPr>
        <p:spPr>
          <a:xfrm>
            <a:off x="457200" y="201168"/>
            <a:ext cx="8229600" cy="54864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CACS251 — Operating System  |  Unit 1</a:t>
            </a:r>
            <a:endParaRPr lang="en-US" sz="1400" dirty="0"/>
          </a:p>
        </p:txBody>
      </p:sp>
      <p:sp>
        <p:nvSpPr>
          <p:cNvPr id="4" name="Text 2"/>
          <p:cNvSpPr/>
          <p:nvPr/>
        </p:nvSpPr>
        <p:spPr>
          <a:xfrm>
            <a:off x="457200" y="1188720"/>
            <a:ext cx="8229600" cy="2011680"/>
          </a:xfrm>
          <a:prstGeom prst="rect">
            <a:avLst/>
          </a:prstGeom>
          <a:noFill/>
          <a:ln/>
        </p:spPr>
        <p:txBody>
          <a:bodyPr wrap="square" rtlCol="0" anchor="ctr"/>
          <a:lstStyle/>
          <a:p>
            <a:pPr marL="0" indent="0" algn="ctr">
              <a:lnSpc>
                <a:spcPct val="120000"/>
              </a:lnSpc>
              <a:buNone/>
            </a:pPr>
            <a:r>
              <a:rPr lang="en-US" sz="4800" b="1" dirty="0">
                <a:solidFill>
                  <a:srgbClr val="FFFFFF"/>
                </a:solidFill>
                <a:latin typeface="Cambria" pitchFamily="34" charset="0"/>
                <a:ea typeface="Cambria" pitchFamily="34" charset="-122"/>
                <a:cs typeface="Cambria" pitchFamily="34" charset="-120"/>
              </a:rPr>
              <a:t>Introduction to</a:t>
            </a:r>
            <a:endParaRPr lang="en-US" sz="4800" dirty="0"/>
          </a:p>
          <a:p>
            <a:pPr marL="0" indent="0" algn="ctr">
              <a:lnSpc>
                <a:spcPct val="120000"/>
              </a:lnSpc>
              <a:buNone/>
            </a:pPr>
            <a:r>
              <a:rPr lang="en-US" sz="4800" b="1" dirty="0">
                <a:solidFill>
                  <a:srgbClr val="FFFFFF"/>
                </a:solidFill>
                <a:latin typeface="Cambria" pitchFamily="34" charset="0"/>
                <a:ea typeface="Cambria" pitchFamily="34" charset="-122"/>
                <a:cs typeface="Cambria" pitchFamily="34" charset="-120"/>
              </a:rPr>
              <a:t>Operating System</a:t>
            </a:r>
            <a:endParaRPr lang="en-US" sz="4800" dirty="0"/>
          </a:p>
        </p:txBody>
      </p:sp>
      <p:sp>
        <p:nvSpPr>
          <p:cNvPr id="5" name="Text 3"/>
          <p:cNvSpPr/>
          <p:nvPr/>
        </p:nvSpPr>
        <p:spPr>
          <a:xfrm>
            <a:off x="457200" y="3246120"/>
            <a:ext cx="8229600" cy="502920"/>
          </a:xfrm>
          <a:prstGeom prst="rect">
            <a:avLst/>
          </a:prstGeom>
          <a:noFill/>
          <a:ln/>
        </p:spPr>
        <p:txBody>
          <a:bodyPr wrap="square" rtlCol="0" anchor="ctr"/>
          <a:lstStyle/>
          <a:p>
            <a:pPr marL="0" indent="0" algn="ctr">
              <a:buNone/>
            </a:pPr>
            <a:r>
              <a:rPr lang="en-US" sz="1800" i="1" dirty="0">
                <a:solidFill>
                  <a:srgbClr val="14A5B5"/>
                </a:solidFill>
                <a:latin typeface="Calibri" pitchFamily="34" charset="0"/>
                <a:ea typeface="Calibri" pitchFamily="34" charset="-122"/>
                <a:cs typeface="Calibri" pitchFamily="34" charset="-120"/>
              </a:rPr>
              <a:t>History • Objectives • Types • Functions</a:t>
            </a:r>
            <a:endParaRPr lang="en-US" sz="1800" dirty="0"/>
          </a:p>
        </p:txBody>
      </p:sp>
      <p:sp>
        <p:nvSpPr>
          <p:cNvPr id="6" name="Shape 4"/>
          <p:cNvSpPr/>
          <p:nvPr/>
        </p:nvSpPr>
        <p:spPr>
          <a:xfrm>
            <a:off x="0" y="4480560"/>
            <a:ext cx="9144000" cy="667512"/>
          </a:xfrm>
          <a:prstGeom prst="rect">
            <a:avLst/>
          </a:prstGeom>
          <a:solidFill>
            <a:srgbClr val="1B2A3B"/>
          </a:solidFill>
          <a:ln w="12700">
            <a:solidFill>
              <a:srgbClr val="1B2A3B"/>
            </a:solidFill>
            <a:prstDash val="solid"/>
          </a:ln>
        </p:spPr>
      </p:sp>
      <p:sp>
        <p:nvSpPr>
          <p:cNvPr id="7" name="Text 5"/>
          <p:cNvSpPr/>
          <p:nvPr/>
        </p:nvSpPr>
        <p:spPr>
          <a:xfrm>
            <a:off x="457200" y="4572000"/>
            <a:ext cx="8229600" cy="457200"/>
          </a:xfrm>
          <a:prstGeom prst="rect">
            <a:avLst/>
          </a:prstGeom>
          <a:noFill/>
          <a:ln/>
        </p:spPr>
        <p:txBody>
          <a:bodyPr wrap="square" lIns="0" tIns="0" rIns="0" bIns="0" rtlCol="0" anchor="ctr"/>
          <a:lstStyle/>
          <a:p>
            <a:pPr marL="0" indent="0" algn="ctr">
              <a:buNone/>
            </a:pPr>
            <a:r>
              <a:rPr lang="en-US" sz="1300" dirty="0">
                <a:solidFill>
                  <a:srgbClr val="94A3B8"/>
                </a:solidFill>
                <a:latin typeface="Calibri" pitchFamily="34" charset="0"/>
                <a:ea typeface="Calibri" pitchFamily="34" charset="-122"/>
                <a:cs typeface="Calibri" pitchFamily="34" charset="-120"/>
              </a:rPr>
              <a:t>BCA II/IV  •  Tribhuvan University</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8"/>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lIns="0" tIns="0" rIns="0" bIns="0" rtlCol="0" anchor="ctr"/>
          <a:lstStyle/>
          <a:p>
            <a:pPr marL="0" indent="0">
              <a:buNone/>
            </a:pPr>
            <a:r>
              <a:rPr lang="en-US" sz="3400" b="1" dirty="0">
                <a:solidFill>
                  <a:srgbClr val="0D1B2A"/>
                </a:solidFill>
                <a:latin typeface="Cambria" pitchFamily="34" charset="0"/>
                <a:ea typeface="Cambria" pitchFamily="34" charset="-122"/>
                <a:cs typeface="Cambria" pitchFamily="34" charset="-120"/>
              </a:rPr>
              <a:t>What We'll Cover Today</a:t>
            </a:r>
            <a:endParaRPr lang="en-US" sz="3400" dirty="0"/>
          </a:p>
        </p:txBody>
      </p:sp>
      <p:sp>
        <p:nvSpPr>
          <p:cNvPr id="3" name="Shape 1"/>
          <p:cNvSpPr/>
          <p:nvPr/>
        </p:nvSpPr>
        <p:spPr>
          <a:xfrm>
            <a:off x="365760" y="1051560"/>
            <a:ext cx="4114800" cy="1600200"/>
          </a:xfrm>
          <a:prstGeom prst="roundRect">
            <a:avLst>
              <a:gd name="adj" fmla="val 6857"/>
            </a:avLst>
          </a:prstGeom>
          <a:solidFill>
            <a:srgbClr val="0D1B2A"/>
          </a:solidFill>
          <a:ln/>
          <a:effectLst>
            <a:outerShdw blurRad="101600" dist="38100" dir="2700000" algn="bl" rotWithShape="0">
              <a:srgbClr val="000000">
                <a:alpha val="12000"/>
              </a:srgbClr>
            </a:outerShdw>
          </a:effectLst>
        </p:spPr>
      </p:sp>
      <p:sp>
        <p:nvSpPr>
          <p:cNvPr id="4" name="Text 2"/>
          <p:cNvSpPr/>
          <p:nvPr/>
        </p:nvSpPr>
        <p:spPr>
          <a:xfrm>
            <a:off x="530352" y="1161288"/>
            <a:ext cx="640080" cy="502920"/>
          </a:xfrm>
          <a:prstGeom prst="rect">
            <a:avLst/>
          </a:prstGeom>
          <a:noFill/>
          <a:ln/>
        </p:spPr>
        <p:txBody>
          <a:bodyPr wrap="square" lIns="0" tIns="0" rIns="0" bIns="0" rtlCol="0" anchor="ctr"/>
          <a:lstStyle/>
          <a:p>
            <a:pPr marL="0" indent="0">
              <a:buNone/>
            </a:pPr>
            <a:r>
              <a:rPr lang="en-US" sz="2600" b="1" dirty="0">
                <a:solidFill>
                  <a:srgbClr val="F4A261"/>
                </a:solidFill>
                <a:latin typeface="Cambria" pitchFamily="34" charset="0"/>
                <a:ea typeface="Cambria" pitchFamily="34" charset="-122"/>
                <a:cs typeface="Cambria" pitchFamily="34" charset="-120"/>
              </a:rPr>
              <a:t>01</a:t>
            </a:r>
            <a:endParaRPr lang="en-US" sz="2600" dirty="0"/>
          </a:p>
        </p:txBody>
      </p:sp>
      <p:sp>
        <p:nvSpPr>
          <p:cNvPr id="5" name="Text 3"/>
          <p:cNvSpPr/>
          <p:nvPr/>
        </p:nvSpPr>
        <p:spPr>
          <a:xfrm>
            <a:off x="530352" y="1581912"/>
            <a:ext cx="3749040" cy="41148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History &amp; Generations</a:t>
            </a:r>
            <a:endParaRPr lang="en-US" sz="1700" dirty="0"/>
          </a:p>
        </p:txBody>
      </p:sp>
      <p:sp>
        <p:nvSpPr>
          <p:cNvPr id="6" name="Text 4"/>
          <p:cNvSpPr/>
          <p:nvPr/>
        </p:nvSpPr>
        <p:spPr>
          <a:xfrm>
            <a:off x="530352" y="1965960"/>
            <a:ext cx="3749040" cy="548640"/>
          </a:xfrm>
          <a:prstGeom prst="rect">
            <a:avLst/>
          </a:prstGeom>
          <a:noFill/>
          <a:ln/>
        </p:spPr>
        <p:txBody>
          <a:bodyPr wrap="square" lIns="0" tIns="0" rIns="0" bIns="0" rtlCol="0" anchor="ctr"/>
          <a:lstStyle/>
          <a:p>
            <a:pPr marL="0" indent="0">
              <a:buNone/>
            </a:pPr>
            <a:r>
              <a:rPr lang="en-US" sz="1200" dirty="0">
                <a:solidFill>
                  <a:srgbClr val="E2E8F0"/>
                </a:solidFill>
                <a:latin typeface="Calibri" pitchFamily="34" charset="0"/>
                <a:ea typeface="Calibri" pitchFamily="34" charset="-122"/>
                <a:cs typeface="Calibri" pitchFamily="34" charset="-120"/>
              </a:rPr>
              <a:t>How OS evolved from vacuum tubes to smartphones</a:t>
            </a:r>
            <a:endParaRPr lang="en-US" sz="1200" dirty="0"/>
          </a:p>
        </p:txBody>
      </p:sp>
      <p:sp>
        <p:nvSpPr>
          <p:cNvPr id="7" name="Shape 5"/>
          <p:cNvSpPr/>
          <p:nvPr/>
        </p:nvSpPr>
        <p:spPr>
          <a:xfrm>
            <a:off x="4800600" y="1051560"/>
            <a:ext cx="4114800" cy="1600200"/>
          </a:xfrm>
          <a:prstGeom prst="roundRect">
            <a:avLst>
              <a:gd name="adj" fmla="val 6857"/>
            </a:avLst>
          </a:prstGeom>
          <a:solidFill>
            <a:srgbClr val="0E7C86"/>
          </a:solidFill>
          <a:ln/>
          <a:effectLst>
            <a:outerShdw blurRad="101600" dist="38100" dir="2700000" algn="bl" rotWithShape="0">
              <a:srgbClr val="000000">
                <a:alpha val="12000"/>
              </a:srgbClr>
            </a:outerShdw>
          </a:effectLst>
        </p:spPr>
      </p:sp>
      <p:sp>
        <p:nvSpPr>
          <p:cNvPr id="8" name="Text 6"/>
          <p:cNvSpPr/>
          <p:nvPr/>
        </p:nvSpPr>
        <p:spPr>
          <a:xfrm>
            <a:off x="4965192" y="1161288"/>
            <a:ext cx="640080" cy="502920"/>
          </a:xfrm>
          <a:prstGeom prst="rect">
            <a:avLst/>
          </a:prstGeom>
          <a:noFill/>
          <a:ln/>
        </p:spPr>
        <p:txBody>
          <a:bodyPr wrap="square" lIns="0" tIns="0" rIns="0" bIns="0" rtlCol="0" anchor="ctr"/>
          <a:lstStyle/>
          <a:p>
            <a:pPr marL="0" indent="0">
              <a:buNone/>
            </a:pPr>
            <a:r>
              <a:rPr lang="en-US" sz="2600" b="1" dirty="0">
                <a:solidFill>
                  <a:srgbClr val="F4A261"/>
                </a:solidFill>
                <a:latin typeface="Cambria" pitchFamily="34" charset="0"/>
                <a:ea typeface="Cambria" pitchFamily="34" charset="-122"/>
                <a:cs typeface="Cambria" pitchFamily="34" charset="-120"/>
              </a:rPr>
              <a:t>02</a:t>
            </a:r>
            <a:endParaRPr lang="en-US" sz="2600" dirty="0"/>
          </a:p>
        </p:txBody>
      </p:sp>
      <p:sp>
        <p:nvSpPr>
          <p:cNvPr id="9" name="Text 7"/>
          <p:cNvSpPr/>
          <p:nvPr/>
        </p:nvSpPr>
        <p:spPr>
          <a:xfrm>
            <a:off x="4965192" y="1581912"/>
            <a:ext cx="3749040" cy="41148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What is an OS?</a:t>
            </a:r>
            <a:endParaRPr lang="en-US" sz="1700" dirty="0"/>
          </a:p>
        </p:txBody>
      </p:sp>
      <p:sp>
        <p:nvSpPr>
          <p:cNvPr id="10" name="Text 8"/>
          <p:cNvSpPr/>
          <p:nvPr/>
        </p:nvSpPr>
        <p:spPr>
          <a:xfrm>
            <a:off x="4965192" y="1965960"/>
            <a:ext cx="3749040" cy="548640"/>
          </a:xfrm>
          <a:prstGeom prst="rect">
            <a:avLst/>
          </a:prstGeom>
          <a:noFill/>
          <a:ln/>
        </p:spPr>
        <p:txBody>
          <a:bodyPr wrap="square" lIns="0" tIns="0" rIns="0" bIns="0" rtlCol="0" anchor="ctr"/>
          <a:lstStyle/>
          <a:p>
            <a:pPr marL="0" indent="0">
              <a:buNone/>
            </a:pPr>
            <a:r>
              <a:rPr lang="en-US" sz="1200" dirty="0">
                <a:solidFill>
                  <a:srgbClr val="E2E8F0"/>
                </a:solidFill>
                <a:latin typeface="Calibri" pitchFamily="34" charset="0"/>
                <a:ea typeface="Calibri" pitchFamily="34" charset="-122"/>
                <a:cs typeface="Calibri" pitchFamily="34" charset="-120"/>
              </a:rPr>
              <a:t>Definition, introduction, and core concept</a:t>
            </a:r>
            <a:endParaRPr lang="en-US" sz="1200" dirty="0"/>
          </a:p>
        </p:txBody>
      </p:sp>
      <p:sp>
        <p:nvSpPr>
          <p:cNvPr id="11" name="Shape 9"/>
          <p:cNvSpPr/>
          <p:nvPr/>
        </p:nvSpPr>
        <p:spPr>
          <a:xfrm>
            <a:off x="365760" y="2926080"/>
            <a:ext cx="4114800" cy="1600200"/>
          </a:xfrm>
          <a:prstGeom prst="roundRect">
            <a:avLst>
              <a:gd name="adj" fmla="val 6857"/>
            </a:avLst>
          </a:prstGeom>
          <a:solidFill>
            <a:srgbClr val="0E7C86"/>
          </a:solidFill>
          <a:ln/>
          <a:effectLst>
            <a:outerShdw blurRad="101600" dist="38100" dir="2700000" algn="bl" rotWithShape="0">
              <a:srgbClr val="000000">
                <a:alpha val="12000"/>
              </a:srgbClr>
            </a:outerShdw>
          </a:effectLst>
        </p:spPr>
      </p:sp>
      <p:sp>
        <p:nvSpPr>
          <p:cNvPr id="12" name="Text 10"/>
          <p:cNvSpPr/>
          <p:nvPr/>
        </p:nvSpPr>
        <p:spPr>
          <a:xfrm>
            <a:off x="530352" y="3035808"/>
            <a:ext cx="640080" cy="502920"/>
          </a:xfrm>
          <a:prstGeom prst="rect">
            <a:avLst/>
          </a:prstGeom>
          <a:noFill/>
          <a:ln/>
        </p:spPr>
        <p:txBody>
          <a:bodyPr wrap="square" lIns="0" tIns="0" rIns="0" bIns="0" rtlCol="0" anchor="ctr"/>
          <a:lstStyle/>
          <a:p>
            <a:pPr marL="0" indent="0">
              <a:buNone/>
            </a:pPr>
            <a:r>
              <a:rPr lang="en-US" sz="2600" b="1" dirty="0">
                <a:solidFill>
                  <a:srgbClr val="F4A261"/>
                </a:solidFill>
                <a:latin typeface="Cambria" pitchFamily="34" charset="0"/>
                <a:ea typeface="Cambria" pitchFamily="34" charset="-122"/>
                <a:cs typeface="Cambria" pitchFamily="34" charset="-120"/>
              </a:rPr>
              <a:t>03</a:t>
            </a:r>
            <a:endParaRPr lang="en-US" sz="2600" dirty="0"/>
          </a:p>
        </p:txBody>
      </p:sp>
      <p:sp>
        <p:nvSpPr>
          <p:cNvPr id="13" name="Text 11"/>
          <p:cNvSpPr/>
          <p:nvPr/>
        </p:nvSpPr>
        <p:spPr>
          <a:xfrm>
            <a:off x="530352" y="3456432"/>
            <a:ext cx="3749040" cy="41148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Types of OS</a:t>
            </a:r>
            <a:endParaRPr lang="en-US" sz="1700" dirty="0"/>
          </a:p>
        </p:txBody>
      </p:sp>
      <p:sp>
        <p:nvSpPr>
          <p:cNvPr id="14" name="Text 12"/>
          <p:cNvSpPr/>
          <p:nvPr/>
        </p:nvSpPr>
        <p:spPr>
          <a:xfrm>
            <a:off x="530352" y="3840480"/>
            <a:ext cx="3749040" cy="548640"/>
          </a:xfrm>
          <a:prstGeom prst="rect">
            <a:avLst/>
          </a:prstGeom>
          <a:noFill/>
          <a:ln/>
        </p:spPr>
        <p:txBody>
          <a:bodyPr wrap="square" lIns="0" tIns="0" rIns="0" bIns="0" rtlCol="0" anchor="ctr"/>
          <a:lstStyle/>
          <a:p>
            <a:pPr marL="0" indent="0">
              <a:buNone/>
            </a:pPr>
            <a:r>
              <a:rPr lang="en-US" sz="1200" dirty="0">
                <a:solidFill>
                  <a:srgbClr val="E2E8F0"/>
                </a:solidFill>
                <a:latin typeface="Calibri" pitchFamily="34" charset="0"/>
                <a:ea typeface="Calibri" pitchFamily="34" charset="-122"/>
                <a:cs typeface="Calibri" pitchFamily="34" charset="-120"/>
              </a:rPr>
              <a:t>Batch, Time-sharing, RTOS, Distributed &amp; more</a:t>
            </a:r>
            <a:endParaRPr lang="en-US" sz="1200" dirty="0"/>
          </a:p>
        </p:txBody>
      </p:sp>
      <p:sp>
        <p:nvSpPr>
          <p:cNvPr id="15" name="Shape 13"/>
          <p:cNvSpPr/>
          <p:nvPr/>
        </p:nvSpPr>
        <p:spPr>
          <a:xfrm>
            <a:off x="4800600" y="2926080"/>
            <a:ext cx="4114800" cy="1600200"/>
          </a:xfrm>
          <a:prstGeom prst="roundRect">
            <a:avLst>
              <a:gd name="adj" fmla="val 6857"/>
            </a:avLst>
          </a:prstGeom>
          <a:solidFill>
            <a:srgbClr val="0D1B2A"/>
          </a:solidFill>
          <a:ln/>
          <a:effectLst>
            <a:outerShdw blurRad="101600" dist="38100" dir="2700000" algn="bl" rotWithShape="0">
              <a:srgbClr val="000000">
                <a:alpha val="12000"/>
              </a:srgbClr>
            </a:outerShdw>
          </a:effectLst>
        </p:spPr>
      </p:sp>
      <p:sp>
        <p:nvSpPr>
          <p:cNvPr id="16" name="Text 14"/>
          <p:cNvSpPr/>
          <p:nvPr/>
        </p:nvSpPr>
        <p:spPr>
          <a:xfrm>
            <a:off x="4965192" y="3035808"/>
            <a:ext cx="640080" cy="502920"/>
          </a:xfrm>
          <a:prstGeom prst="rect">
            <a:avLst/>
          </a:prstGeom>
          <a:noFill/>
          <a:ln/>
        </p:spPr>
        <p:txBody>
          <a:bodyPr wrap="square" lIns="0" tIns="0" rIns="0" bIns="0" rtlCol="0" anchor="ctr"/>
          <a:lstStyle/>
          <a:p>
            <a:pPr marL="0" indent="0">
              <a:buNone/>
            </a:pPr>
            <a:r>
              <a:rPr lang="en-US" sz="2600" b="1" dirty="0">
                <a:solidFill>
                  <a:srgbClr val="F4A261"/>
                </a:solidFill>
                <a:latin typeface="Cambria" pitchFamily="34" charset="0"/>
                <a:ea typeface="Cambria" pitchFamily="34" charset="-122"/>
                <a:cs typeface="Cambria" pitchFamily="34" charset="-120"/>
              </a:rPr>
              <a:t>04</a:t>
            </a:r>
            <a:endParaRPr lang="en-US" sz="2600" dirty="0"/>
          </a:p>
        </p:txBody>
      </p:sp>
      <p:sp>
        <p:nvSpPr>
          <p:cNvPr id="17" name="Text 15"/>
          <p:cNvSpPr/>
          <p:nvPr/>
        </p:nvSpPr>
        <p:spPr>
          <a:xfrm>
            <a:off x="4965192" y="3456432"/>
            <a:ext cx="3749040" cy="41148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Functions of OS</a:t>
            </a:r>
            <a:endParaRPr lang="en-US" sz="1700" dirty="0"/>
          </a:p>
        </p:txBody>
      </p:sp>
      <p:sp>
        <p:nvSpPr>
          <p:cNvPr id="18" name="Text 16"/>
          <p:cNvSpPr/>
          <p:nvPr/>
        </p:nvSpPr>
        <p:spPr>
          <a:xfrm>
            <a:off x="4965192" y="3840480"/>
            <a:ext cx="3749040" cy="548640"/>
          </a:xfrm>
          <a:prstGeom prst="rect">
            <a:avLst/>
          </a:prstGeom>
          <a:noFill/>
          <a:ln/>
        </p:spPr>
        <p:txBody>
          <a:bodyPr wrap="square" lIns="0" tIns="0" rIns="0" bIns="0" rtlCol="0" anchor="ctr"/>
          <a:lstStyle/>
          <a:p>
            <a:pPr marL="0" indent="0">
              <a:buNone/>
            </a:pPr>
            <a:r>
              <a:rPr lang="en-US" sz="1200" dirty="0">
                <a:solidFill>
                  <a:srgbClr val="E2E8F0"/>
                </a:solidFill>
                <a:latin typeface="Calibri" pitchFamily="34" charset="0"/>
                <a:ea typeface="Calibri" pitchFamily="34" charset="-122"/>
                <a:cs typeface="Calibri" pitchFamily="34" charset="-120"/>
              </a:rPr>
              <a:t>What an OS actually does for us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E7C86"/>
          </a:solidFill>
          <a:ln w="12700">
            <a:solidFill>
              <a:srgbClr val="0E7C86"/>
            </a:solidFill>
            <a:prstDash val="solid"/>
          </a:ln>
        </p:spPr>
      </p:sp>
      <p:sp>
        <p:nvSpPr>
          <p:cNvPr id="3" name="Text 1"/>
          <p:cNvSpPr/>
          <p:nvPr/>
        </p:nvSpPr>
        <p:spPr>
          <a:xfrm>
            <a:off x="457200" y="182880"/>
            <a:ext cx="8229600" cy="594360"/>
          </a:xfrm>
          <a:prstGeom prst="rect">
            <a:avLst/>
          </a:prstGeom>
          <a:noFill/>
          <a:ln/>
        </p:spPr>
        <p:txBody>
          <a:bodyPr wrap="square" lIns="0" tIns="0" rIns="0" bIns="0" rtlCol="0" anchor="ctr"/>
          <a:lstStyle/>
          <a:p>
            <a:pPr marL="0" indent="0">
              <a:buNone/>
            </a:pPr>
            <a:r>
              <a:rPr lang="en-US" sz="3200" b="1" dirty="0">
                <a:solidFill>
                  <a:srgbClr val="0D1B2A"/>
                </a:solidFill>
                <a:latin typeface="Cambria" pitchFamily="34" charset="0"/>
                <a:ea typeface="Cambria" pitchFamily="34" charset="-122"/>
                <a:cs typeface="Cambria" pitchFamily="34" charset="-120"/>
              </a:rPr>
              <a:t>What is an Operating System?</a:t>
            </a:r>
            <a:endParaRPr lang="en-US" sz="3200" dirty="0"/>
          </a:p>
        </p:txBody>
      </p:sp>
      <p:sp>
        <p:nvSpPr>
          <p:cNvPr id="4" name="Shape 2"/>
          <p:cNvSpPr/>
          <p:nvPr/>
        </p:nvSpPr>
        <p:spPr>
          <a:xfrm>
            <a:off x="365760" y="914400"/>
            <a:ext cx="8412480" cy="1234440"/>
          </a:xfrm>
          <a:prstGeom prst="roundRect">
            <a:avLst>
              <a:gd name="adj" fmla="val 7407"/>
            </a:avLst>
          </a:prstGeom>
          <a:solidFill>
            <a:srgbClr val="EFF9FA"/>
          </a:solidFill>
          <a:ln w="25400">
            <a:solidFill>
              <a:srgbClr val="0E7C86"/>
            </a:solidFill>
            <a:prstDash val="solid"/>
          </a:ln>
        </p:spPr>
      </p:sp>
      <p:sp>
        <p:nvSpPr>
          <p:cNvPr id="5" name="Text 3"/>
          <p:cNvSpPr/>
          <p:nvPr/>
        </p:nvSpPr>
        <p:spPr>
          <a:xfrm>
            <a:off x="502920" y="987552"/>
            <a:ext cx="8138160" cy="1051560"/>
          </a:xfrm>
          <a:prstGeom prst="rect">
            <a:avLst/>
          </a:prstGeom>
          <a:noFill/>
          <a:ln/>
        </p:spPr>
        <p:txBody>
          <a:bodyPr wrap="square" rtlCol="0" anchor="ctr"/>
          <a:lstStyle/>
          <a:p>
            <a:pPr marL="0" indent="0" algn="ctr">
              <a:buNone/>
            </a:pPr>
            <a:r>
              <a:rPr lang="en-US" sz="1600" dirty="0">
                <a:solidFill>
                  <a:srgbClr val="1E293B"/>
                </a:solidFill>
                <a:latin typeface="Calibri" pitchFamily="34" charset="0"/>
                <a:ea typeface="Calibri" pitchFamily="34" charset="-122"/>
                <a:cs typeface="Calibri" pitchFamily="34" charset="-120"/>
              </a:rPr>
              <a:t>An Operating System is system software that acts as an intermediary between computer hardware and the user/application programs.</a:t>
            </a:r>
            <a:endParaRPr lang="en-US" sz="1600" dirty="0"/>
          </a:p>
        </p:txBody>
      </p:sp>
      <p:sp>
        <p:nvSpPr>
          <p:cNvPr id="6" name="Shape 4"/>
          <p:cNvSpPr/>
          <p:nvPr/>
        </p:nvSpPr>
        <p:spPr>
          <a:xfrm>
            <a:off x="457200" y="2377440"/>
            <a:ext cx="2560320" cy="2286000"/>
          </a:xfrm>
          <a:prstGeom prst="roundRect">
            <a:avLst>
              <a:gd name="adj" fmla="val 4800"/>
            </a:avLst>
          </a:prstGeom>
          <a:solidFill>
            <a:srgbClr val="0D1B2A"/>
          </a:solidFill>
          <a:ln/>
          <a:effectLst>
            <a:outerShdw blurRad="101600" dist="38100" dir="2700000" algn="bl" rotWithShape="0">
              <a:srgbClr val="000000">
                <a:alpha val="15000"/>
              </a:srgbClr>
            </a:outerShdw>
          </a:effectLst>
        </p:spPr>
      </p:sp>
      <p:sp>
        <p:nvSpPr>
          <p:cNvPr id="7" name="Text 5"/>
          <p:cNvSpPr/>
          <p:nvPr/>
        </p:nvSpPr>
        <p:spPr>
          <a:xfrm>
            <a:off x="548640" y="2487168"/>
            <a:ext cx="237744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  Hardware</a:t>
            </a:r>
            <a:endParaRPr lang="en-US" sz="1600" dirty="0"/>
          </a:p>
        </p:txBody>
      </p:sp>
      <p:sp>
        <p:nvSpPr>
          <p:cNvPr id="8" name="Text 6"/>
          <p:cNvSpPr/>
          <p:nvPr/>
        </p:nvSpPr>
        <p:spPr>
          <a:xfrm>
            <a:off x="548640" y="2999232"/>
            <a:ext cx="2377440" cy="777240"/>
          </a:xfrm>
          <a:prstGeom prst="rect">
            <a:avLst/>
          </a:prstGeom>
          <a:noFill/>
          <a:ln/>
        </p:spPr>
        <p:txBody>
          <a:bodyPr wrap="square" rtlCol="0" anchor="ctr"/>
          <a:lstStyle/>
          <a:p>
            <a:pPr marL="0" indent="0" algn="ctr">
              <a:buNone/>
            </a:pPr>
            <a:r>
              <a:rPr lang="en-US" sz="1400" dirty="0">
                <a:solidFill>
                  <a:srgbClr val="E2E8F0"/>
                </a:solidFill>
                <a:latin typeface="Calibri" pitchFamily="34" charset="0"/>
                <a:ea typeface="Calibri" pitchFamily="34" charset="-122"/>
                <a:cs typeface="Calibri" pitchFamily="34" charset="-120"/>
              </a:rPr>
              <a:t>CPU, RAM,</a:t>
            </a:r>
            <a:endParaRPr lang="en-US" sz="1400" dirty="0"/>
          </a:p>
          <a:p>
            <a:pPr marL="0" indent="0" algn="ctr">
              <a:buNone/>
            </a:pPr>
            <a:r>
              <a:rPr lang="en-US" sz="1400" dirty="0">
                <a:solidFill>
                  <a:srgbClr val="E2E8F0"/>
                </a:solidFill>
                <a:latin typeface="Calibri" pitchFamily="34" charset="0"/>
                <a:ea typeface="Calibri" pitchFamily="34" charset="-122"/>
                <a:cs typeface="Calibri" pitchFamily="34" charset="-120"/>
              </a:rPr>
              <a:t>Disk, Devices</a:t>
            </a:r>
            <a:endParaRPr lang="en-US" sz="1400" dirty="0"/>
          </a:p>
        </p:txBody>
      </p:sp>
      <p:sp>
        <p:nvSpPr>
          <p:cNvPr id="9" name="Shape 7"/>
          <p:cNvSpPr/>
          <p:nvPr/>
        </p:nvSpPr>
        <p:spPr>
          <a:xfrm>
            <a:off x="3291840" y="2377440"/>
            <a:ext cx="2560320" cy="2286000"/>
          </a:xfrm>
          <a:prstGeom prst="roundRect">
            <a:avLst>
              <a:gd name="adj" fmla="val 4800"/>
            </a:avLst>
          </a:prstGeom>
          <a:solidFill>
            <a:srgbClr val="0E7C86"/>
          </a:solidFill>
          <a:ln/>
          <a:effectLst>
            <a:outerShdw blurRad="101600" dist="38100" dir="2700000" algn="bl" rotWithShape="0">
              <a:srgbClr val="000000">
                <a:alpha val="15000"/>
              </a:srgbClr>
            </a:outerShdw>
          </a:effectLst>
        </p:spPr>
      </p:sp>
      <p:sp>
        <p:nvSpPr>
          <p:cNvPr id="10" name="Text 8"/>
          <p:cNvSpPr/>
          <p:nvPr/>
        </p:nvSpPr>
        <p:spPr>
          <a:xfrm>
            <a:off x="3383280" y="2487168"/>
            <a:ext cx="237744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  OS</a:t>
            </a:r>
            <a:endParaRPr lang="en-US" sz="1600" dirty="0"/>
          </a:p>
        </p:txBody>
      </p:sp>
      <p:sp>
        <p:nvSpPr>
          <p:cNvPr id="11" name="Text 9"/>
          <p:cNvSpPr/>
          <p:nvPr/>
        </p:nvSpPr>
        <p:spPr>
          <a:xfrm>
            <a:off x="3383280" y="2999232"/>
            <a:ext cx="2377440" cy="777240"/>
          </a:xfrm>
          <a:prstGeom prst="rect">
            <a:avLst/>
          </a:prstGeom>
          <a:noFill/>
          <a:ln/>
        </p:spPr>
        <p:txBody>
          <a:bodyPr wrap="square" rtlCol="0" anchor="ctr"/>
          <a:lstStyle/>
          <a:p>
            <a:pPr marL="0" indent="0" algn="ctr">
              <a:buNone/>
            </a:pPr>
            <a:r>
              <a:rPr lang="en-US" sz="1400" dirty="0">
                <a:solidFill>
                  <a:srgbClr val="E2E8F0"/>
                </a:solidFill>
                <a:latin typeface="Calibri" pitchFamily="34" charset="0"/>
                <a:ea typeface="Calibri" pitchFamily="34" charset="-122"/>
                <a:cs typeface="Calibri" pitchFamily="34" charset="-120"/>
              </a:rPr>
              <a:t>The Bridge</a:t>
            </a:r>
            <a:endParaRPr lang="en-US" sz="1400" dirty="0"/>
          </a:p>
          <a:p>
            <a:pPr marL="0" indent="0" algn="ctr">
              <a:buNone/>
            </a:pPr>
            <a:r>
              <a:rPr lang="en-US" sz="1400" dirty="0">
                <a:solidFill>
                  <a:srgbClr val="E2E8F0"/>
                </a:solidFill>
                <a:latin typeface="Calibri" pitchFamily="34" charset="0"/>
                <a:ea typeface="Calibri" pitchFamily="34" charset="-122"/>
                <a:cs typeface="Calibri" pitchFamily="34" charset="-120"/>
              </a:rPr>
              <a:t>(This Course!)</a:t>
            </a:r>
            <a:endParaRPr lang="en-US" sz="1400" dirty="0"/>
          </a:p>
        </p:txBody>
      </p:sp>
      <p:sp>
        <p:nvSpPr>
          <p:cNvPr id="12" name="Shape 10"/>
          <p:cNvSpPr/>
          <p:nvPr/>
        </p:nvSpPr>
        <p:spPr>
          <a:xfrm>
            <a:off x="6126480" y="2377440"/>
            <a:ext cx="2560320" cy="2286000"/>
          </a:xfrm>
          <a:prstGeom prst="roundRect">
            <a:avLst>
              <a:gd name="adj" fmla="val 4800"/>
            </a:avLst>
          </a:prstGeom>
          <a:solidFill>
            <a:srgbClr val="0D1B2A"/>
          </a:solidFill>
          <a:ln/>
          <a:effectLst>
            <a:outerShdw blurRad="101600" dist="38100" dir="2700000" algn="bl" rotWithShape="0">
              <a:srgbClr val="000000">
                <a:alpha val="15000"/>
              </a:srgbClr>
            </a:outerShdw>
          </a:effectLst>
        </p:spPr>
      </p:sp>
      <p:sp>
        <p:nvSpPr>
          <p:cNvPr id="13" name="Text 11"/>
          <p:cNvSpPr/>
          <p:nvPr/>
        </p:nvSpPr>
        <p:spPr>
          <a:xfrm>
            <a:off x="6217920" y="2487168"/>
            <a:ext cx="237744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  User / Apps</a:t>
            </a:r>
            <a:endParaRPr lang="en-US" sz="1600" dirty="0"/>
          </a:p>
        </p:txBody>
      </p:sp>
      <p:sp>
        <p:nvSpPr>
          <p:cNvPr id="14" name="Text 12"/>
          <p:cNvSpPr/>
          <p:nvPr/>
        </p:nvSpPr>
        <p:spPr>
          <a:xfrm>
            <a:off x="6217920" y="2999232"/>
            <a:ext cx="2377440" cy="777240"/>
          </a:xfrm>
          <a:prstGeom prst="rect">
            <a:avLst/>
          </a:prstGeom>
          <a:noFill/>
          <a:ln/>
        </p:spPr>
        <p:txBody>
          <a:bodyPr wrap="square" rtlCol="0" anchor="ctr"/>
          <a:lstStyle/>
          <a:p>
            <a:pPr marL="0" indent="0" algn="ctr">
              <a:buNone/>
            </a:pPr>
            <a:r>
              <a:rPr lang="en-US" sz="1400" dirty="0">
                <a:solidFill>
                  <a:srgbClr val="E2E8F0"/>
                </a:solidFill>
                <a:latin typeface="Calibri" pitchFamily="34" charset="0"/>
                <a:ea typeface="Calibri" pitchFamily="34" charset="-122"/>
                <a:cs typeface="Calibri" pitchFamily="34" charset="-120"/>
              </a:rPr>
              <a:t>You, Chrome,</a:t>
            </a:r>
            <a:endParaRPr lang="en-US" sz="1400" dirty="0"/>
          </a:p>
          <a:p>
            <a:pPr marL="0" indent="0" algn="ctr">
              <a:buNone/>
            </a:pPr>
            <a:r>
              <a:rPr lang="en-US" sz="1400" dirty="0">
                <a:solidFill>
                  <a:srgbClr val="E2E8F0"/>
                </a:solidFill>
                <a:latin typeface="Calibri" pitchFamily="34" charset="0"/>
                <a:ea typeface="Calibri" pitchFamily="34" charset="-122"/>
                <a:cs typeface="Calibri" pitchFamily="34" charset="-120"/>
              </a:rPr>
              <a:t>Word, Games</a:t>
            </a:r>
            <a:endParaRPr lang="en-US" sz="1400" dirty="0"/>
          </a:p>
        </p:txBody>
      </p:sp>
      <p:sp>
        <p:nvSpPr>
          <p:cNvPr id="15" name="Shape 13"/>
          <p:cNvSpPr/>
          <p:nvPr/>
        </p:nvSpPr>
        <p:spPr>
          <a:xfrm>
            <a:off x="3017520" y="3520440"/>
            <a:ext cx="502920" cy="0"/>
          </a:xfrm>
          <a:prstGeom prst="line">
            <a:avLst/>
          </a:prstGeom>
          <a:noFill/>
          <a:ln w="38100">
            <a:solidFill>
              <a:srgbClr val="F4A261"/>
            </a:solidFill>
            <a:prstDash val="solid"/>
          </a:ln>
        </p:spPr>
      </p:sp>
      <p:sp>
        <p:nvSpPr>
          <p:cNvPr id="16" name="Shape 14"/>
          <p:cNvSpPr/>
          <p:nvPr/>
        </p:nvSpPr>
        <p:spPr>
          <a:xfrm>
            <a:off x="5852160" y="3520440"/>
            <a:ext cx="502920" cy="0"/>
          </a:xfrm>
          <a:prstGeom prst="line">
            <a:avLst/>
          </a:prstGeom>
          <a:noFill/>
          <a:ln w="38100">
            <a:solidFill>
              <a:srgbClr val="F4A261"/>
            </a:solidFill>
            <a:prstDash val="solid"/>
          </a:ln>
        </p:spPr>
      </p:sp>
      <p:sp>
        <p:nvSpPr>
          <p:cNvPr id="17" name="Text 15"/>
          <p:cNvSpPr/>
          <p:nvPr/>
        </p:nvSpPr>
        <p:spPr>
          <a:xfrm>
            <a:off x="457200" y="4663440"/>
            <a:ext cx="8229600" cy="384048"/>
          </a:xfrm>
          <a:prstGeom prst="rect">
            <a:avLst/>
          </a:prstGeom>
          <a:noFill/>
          <a:ln/>
        </p:spPr>
        <p:txBody>
          <a:bodyPr wrap="square" lIns="0" tIns="0" rIns="0" bIns="0" rtlCol="0" anchor="ctr"/>
          <a:lstStyle/>
          <a:p>
            <a:pPr marL="0" indent="0">
              <a:buNone/>
            </a:pPr>
            <a:r>
              <a:rPr lang="en-US" sz="1300" b="1" i="1" dirty="0">
                <a:solidFill>
                  <a:srgbClr val="0E7C86"/>
                </a:solidFill>
                <a:latin typeface="Calibri" pitchFamily="34" charset="0"/>
                <a:ea typeface="Calibri" pitchFamily="34" charset="-122"/>
                <a:cs typeface="Calibri" pitchFamily="34" charset="-120"/>
              </a:rPr>
              <a:t>💡  Real Example: When you press 'Print' in Word, you don't configure the printer chip — the OS handles it!</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1B2A"/>
          </a:solidFill>
          <a:ln w="12700">
            <a:solidFill>
              <a:srgbClr val="0D1B2A"/>
            </a:solidFill>
            <a:prstDash val="solid"/>
          </a:ln>
        </p:spPr>
      </p:sp>
      <p:sp>
        <p:nvSpPr>
          <p:cNvPr id="3" name="Text 1"/>
          <p:cNvSpPr/>
          <p:nvPr/>
        </p:nvSpPr>
        <p:spPr>
          <a:xfrm>
            <a:off x="365760" y="164592"/>
            <a:ext cx="8412480" cy="548640"/>
          </a:xfrm>
          <a:prstGeom prst="rect">
            <a:avLst/>
          </a:prstGeom>
          <a:noFill/>
          <a:ln/>
        </p:spPr>
        <p:txBody>
          <a:bodyPr wrap="square" lIns="0" tIns="0" rIns="0" bIns="0" rtlCol="0" anchor="ctr"/>
          <a:lstStyle/>
          <a:p>
            <a:pPr marL="0" indent="0">
              <a:buNone/>
            </a:pPr>
            <a:r>
              <a:rPr lang="en-US" sz="3200" b="1" dirty="0">
                <a:solidFill>
                  <a:srgbClr val="0D1B2A"/>
                </a:solidFill>
                <a:latin typeface="Cambria" pitchFamily="34" charset="0"/>
                <a:ea typeface="Cambria" pitchFamily="34" charset="-122"/>
                <a:cs typeface="Cambria" pitchFamily="34" charset="-120"/>
              </a:rPr>
              <a:t>History: 4 Generations of OS</a:t>
            </a:r>
            <a:endParaRPr lang="en-US" sz="3200" dirty="0"/>
          </a:p>
        </p:txBody>
      </p:sp>
      <p:sp>
        <p:nvSpPr>
          <p:cNvPr id="4" name="Shape 2"/>
          <p:cNvSpPr/>
          <p:nvPr/>
        </p:nvSpPr>
        <p:spPr>
          <a:xfrm>
            <a:off x="274320" y="914400"/>
            <a:ext cx="1280160" cy="804672"/>
          </a:xfrm>
          <a:prstGeom prst="roundRect">
            <a:avLst>
              <a:gd name="adj" fmla="val 9091"/>
            </a:avLst>
          </a:prstGeom>
          <a:solidFill>
            <a:srgbClr val="EF4444"/>
          </a:solidFill>
          <a:ln/>
        </p:spPr>
      </p:sp>
      <p:sp>
        <p:nvSpPr>
          <p:cNvPr id="5" name="Text 3"/>
          <p:cNvSpPr/>
          <p:nvPr/>
        </p:nvSpPr>
        <p:spPr>
          <a:xfrm>
            <a:off x="274320" y="960120"/>
            <a:ext cx="1280160" cy="34747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Gen 1</a:t>
            </a:r>
            <a:endParaRPr lang="en-US" sz="1600" dirty="0"/>
          </a:p>
        </p:txBody>
      </p:sp>
      <p:sp>
        <p:nvSpPr>
          <p:cNvPr id="6" name="Text 4"/>
          <p:cNvSpPr/>
          <p:nvPr/>
        </p:nvSpPr>
        <p:spPr>
          <a:xfrm>
            <a:off x="274320" y="1298448"/>
            <a:ext cx="1280160" cy="274320"/>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1945–1955</a:t>
            </a:r>
            <a:endParaRPr lang="en-US" sz="1100" dirty="0"/>
          </a:p>
        </p:txBody>
      </p:sp>
      <p:sp>
        <p:nvSpPr>
          <p:cNvPr id="7" name="Shape 5"/>
          <p:cNvSpPr/>
          <p:nvPr/>
        </p:nvSpPr>
        <p:spPr>
          <a:xfrm>
            <a:off x="1691640" y="950976"/>
            <a:ext cx="7178040" cy="731520"/>
          </a:xfrm>
          <a:prstGeom prst="roundRect">
            <a:avLst>
              <a:gd name="adj" fmla="val 8750"/>
            </a:avLst>
          </a:prstGeom>
          <a:solidFill>
            <a:srgbClr val="FFFFFF"/>
          </a:solidFill>
          <a:ln/>
          <a:effectLst>
            <a:outerShdw blurRad="50800" dist="25400" dir="2700000" algn="bl" rotWithShape="0">
              <a:srgbClr val="000000">
                <a:alpha val="10000"/>
              </a:srgbClr>
            </a:outerShdw>
          </a:effectLst>
        </p:spPr>
      </p:sp>
      <p:sp>
        <p:nvSpPr>
          <p:cNvPr id="8" name="Text 6"/>
          <p:cNvSpPr/>
          <p:nvPr/>
        </p:nvSpPr>
        <p:spPr>
          <a:xfrm>
            <a:off x="1828800" y="1024128"/>
            <a:ext cx="1828800" cy="530352"/>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Vacuum Tubes</a:t>
            </a:r>
            <a:endParaRPr lang="en-US" sz="1300" dirty="0"/>
          </a:p>
        </p:txBody>
      </p:sp>
      <p:sp>
        <p:nvSpPr>
          <p:cNvPr id="9" name="Text 7"/>
          <p:cNvSpPr/>
          <p:nvPr/>
        </p:nvSpPr>
        <p:spPr>
          <a:xfrm>
            <a:off x="3749040" y="1005840"/>
            <a:ext cx="1828800" cy="566928"/>
          </a:xfrm>
          <a:prstGeom prst="rect">
            <a:avLst/>
          </a:prstGeom>
          <a:noFill/>
          <a:ln/>
        </p:spPr>
        <p:txBody>
          <a:bodyPr wrap="square" lIns="0" tIns="0" rIns="0" bIns="0" rtlCol="0" anchor="ctr"/>
          <a:lstStyle/>
          <a:p>
            <a:pPr marL="0" indent="0">
              <a:buNone/>
            </a:pPr>
            <a:r>
              <a:rPr lang="en-US" sz="1200" dirty="0">
                <a:solidFill>
                  <a:srgbClr val="475569"/>
                </a:solidFill>
                <a:latin typeface="Calibri" pitchFamily="34" charset="0"/>
                <a:ea typeface="Calibri" pitchFamily="34" charset="-122"/>
                <a:cs typeface="Calibri" pitchFamily="34" charset="-120"/>
              </a:rPr>
              <a:t>No OS</a:t>
            </a:r>
            <a:endParaRPr lang="en-US" sz="1200" dirty="0"/>
          </a:p>
        </p:txBody>
      </p:sp>
      <p:sp>
        <p:nvSpPr>
          <p:cNvPr id="10" name="Text 8"/>
          <p:cNvSpPr/>
          <p:nvPr/>
        </p:nvSpPr>
        <p:spPr>
          <a:xfrm>
            <a:off x="5669280" y="1042416"/>
            <a:ext cx="3017520" cy="502920"/>
          </a:xfrm>
          <a:prstGeom prst="rect">
            <a:avLst/>
          </a:prstGeom>
          <a:noFill/>
          <a:ln/>
        </p:spPr>
        <p:txBody>
          <a:bodyPr wrap="square" lIns="0" tIns="0" rIns="0" bIns="0" rtlCol="0" anchor="ctr"/>
          <a:lstStyle/>
          <a:p>
            <a:pPr marL="0" indent="0">
              <a:buNone/>
            </a:pPr>
            <a:r>
              <a:rPr lang="en-US" sz="1100" i="1" dirty="0">
                <a:solidFill>
                  <a:srgbClr val="0E7C86"/>
                </a:solidFill>
                <a:latin typeface="Calibri" pitchFamily="34" charset="0"/>
                <a:ea typeface="Calibri" pitchFamily="34" charset="-122"/>
                <a:cs typeface="Calibri" pitchFamily="34" charset="-120"/>
              </a:rPr>
              <a:t>e.g. ENIAC — Rewire for each new program</a:t>
            </a:r>
            <a:endParaRPr lang="en-US" sz="1100" dirty="0"/>
          </a:p>
        </p:txBody>
      </p:sp>
      <p:sp>
        <p:nvSpPr>
          <p:cNvPr id="11" name="Shape 9"/>
          <p:cNvSpPr/>
          <p:nvPr/>
        </p:nvSpPr>
        <p:spPr>
          <a:xfrm>
            <a:off x="274320" y="1920240"/>
            <a:ext cx="1280160" cy="804672"/>
          </a:xfrm>
          <a:prstGeom prst="roundRect">
            <a:avLst>
              <a:gd name="adj" fmla="val 9091"/>
            </a:avLst>
          </a:prstGeom>
          <a:solidFill>
            <a:srgbClr val="F59E0B"/>
          </a:solidFill>
          <a:ln/>
        </p:spPr>
      </p:sp>
      <p:sp>
        <p:nvSpPr>
          <p:cNvPr id="12" name="Text 10"/>
          <p:cNvSpPr/>
          <p:nvPr/>
        </p:nvSpPr>
        <p:spPr>
          <a:xfrm>
            <a:off x="274320" y="1965960"/>
            <a:ext cx="1280160" cy="34747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Gen 2</a:t>
            </a:r>
            <a:endParaRPr lang="en-US" sz="1600" dirty="0"/>
          </a:p>
        </p:txBody>
      </p:sp>
      <p:sp>
        <p:nvSpPr>
          <p:cNvPr id="13" name="Text 11"/>
          <p:cNvSpPr/>
          <p:nvPr/>
        </p:nvSpPr>
        <p:spPr>
          <a:xfrm>
            <a:off x="274320" y="2304288"/>
            <a:ext cx="1280160" cy="274320"/>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1955–1965</a:t>
            </a:r>
            <a:endParaRPr lang="en-US" sz="1100" dirty="0"/>
          </a:p>
        </p:txBody>
      </p:sp>
      <p:sp>
        <p:nvSpPr>
          <p:cNvPr id="14" name="Shape 12"/>
          <p:cNvSpPr/>
          <p:nvPr/>
        </p:nvSpPr>
        <p:spPr>
          <a:xfrm>
            <a:off x="1691640" y="1956816"/>
            <a:ext cx="7178040" cy="731520"/>
          </a:xfrm>
          <a:prstGeom prst="roundRect">
            <a:avLst>
              <a:gd name="adj" fmla="val 8750"/>
            </a:avLst>
          </a:prstGeom>
          <a:solidFill>
            <a:srgbClr val="FFFFFF"/>
          </a:solidFill>
          <a:ln/>
          <a:effectLst>
            <a:outerShdw blurRad="50800" dist="25400" dir="2700000" algn="bl" rotWithShape="0">
              <a:srgbClr val="000000">
                <a:alpha val="10000"/>
              </a:srgbClr>
            </a:outerShdw>
          </a:effectLst>
        </p:spPr>
      </p:sp>
      <p:sp>
        <p:nvSpPr>
          <p:cNvPr id="15" name="Text 13"/>
          <p:cNvSpPr/>
          <p:nvPr/>
        </p:nvSpPr>
        <p:spPr>
          <a:xfrm>
            <a:off x="1828800" y="2029968"/>
            <a:ext cx="1828800" cy="530352"/>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Transistors</a:t>
            </a:r>
            <a:endParaRPr lang="en-US" sz="1300" dirty="0"/>
          </a:p>
        </p:txBody>
      </p:sp>
      <p:sp>
        <p:nvSpPr>
          <p:cNvPr id="16" name="Text 14"/>
          <p:cNvSpPr/>
          <p:nvPr/>
        </p:nvSpPr>
        <p:spPr>
          <a:xfrm>
            <a:off x="3749040" y="2011680"/>
            <a:ext cx="1828800" cy="566928"/>
          </a:xfrm>
          <a:prstGeom prst="rect">
            <a:avLst/>
          </a:prstGeom>
          <a:noFill/>
          <a:ln/>
        </p:spPr>
        <p:txBody>
          <a:bodyPr wrap="square" lIns="0" tIns="0" rIns="0" bIns="0" rtlCol="0" anchor="ctr"/>
          <a:lstStyle/>
          <a:p>
            <a:pPr marL="0" indent="0">
              <a:buNone/>
            </a:pPr>
            <a:r>
              <a:rPr lang="en-US" sz="1200" dirty="0">
                <a:solidFill>
                  <a:srgbClr val="475569"/>
                </a:solidFill>
                <a:latin typeface="Calibri" pitchFamily="34" charset="0"/>
                <a:ea typeface="Calibri" pitchFamily="34" charset="-122"/>
                <a:cs typeface="Calibri" pitchFamily="34" charset="-120"/>
              </a:rPr>
              <a:t>Batch OS</a:t>
            </a:r>
            <a:endParaRPr lang="en-US" sz="1200" dirty="0"/>
          </a:p>
        </p:txBody>
      </p:sp>
      <p:sp>
        <p:nvSpPr>
          <p:cNvPr id="17" name="Text 15"/>
          <p:cNvSpPr/>
          <p:nvPr/>
        </p:nvSpPr>
        <p:spPr>
          <a:xfrm>
            <a:off x="5669280" y="2048256"/>
            <a:ext cx="3017520" cy="502920"/>
          </a:xfrm>
          <a:prstGeom prst="rect">
            <a:avLst/>
          </a:prstGeom>
          <a:noFill/>
          <a:ln/>
        </p:spPr>
        <p:txBody>
          <a:bodyPr wrap="square" lIns="0" tIns="0" rIns="0" bIns="0" rtlCol="0" anchor="ctr"/>
          <a:lstStyle/>
          <a:p>
            <a:pPr marL="0" indent="0">
              <a:buNone/>
            </a:pPr>
            <a:r>
              <a:rPr lang="en-US" sz="1100" i="1" dirty="0">
                <a:solidFill>
                  <a:srgbClr val="0E7C86"/>
                </a:solidFill>
                <a:latin typeface="Calibri" pitchFamily="34" charset="0"/>
                <a:ea typeface="Calibri" pitchFamily="34" charset="-122"/>
                <a:cs typeface="Calibri" pitchFamily="34" charset="-120"/>
              </a:rPr>
              <a:t>e.g. IBM 7094 — Payroll punch cards</a:t>
            </a:r>
            <a:endParaRPr lang="en-US" sz="1100" dirty="0"/>
          </a:p>
        </p:txBody>
      </p:sp>
      <p:sp>
        <p:nvSpPr>
          <p:cNvPr id="18" name="Shape 16"/>
          <p:cNvSpPr/>
          <p:nvPr/>
        </p:nvSpPr>
        <p:spPr>
          <a:xfrm>
            <a:off x="274320" y="2926080"/>
            <a:ext cx="1280160" cy="804672"/>
          </a:xfrm>
          <a:prstGeom prst="roundRect">
            <a:avLst>
              <a:gd name="adj" fmla="val 9091"/>
            </a:avLst>
          </a:prstGeom>
          <a:solidFill>
            <a:srgbClr val="0E7C86"/>
          </a:solidFill>
          <a:ln/>
        </p:spPr>
      </p:sp>
      <p:sp>
        <p:nvSpPr>
          <p:cNvPr id="19" name="Text 17"/>
          <p:cNvSpPr/>
          <p:nvPr/>
        </p:nvSpPr>
        <p:spPr>
          <a:xfrm>
            <a:off x="274320" y="2971800"/>
            <a:ext cx="1280160" cy="34747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Gen 3</a:t>
            </a:r>
            <a:endParaRPr lang="en-US" sz="1600" dirty="0"/>
          </a:p>
        </p:txBody>
      </p:sp>
      <p:sp>
        <p:nvSpPr>
          <p:cNvPr id="20" name="Text 18"/>
          <p:cNvSpPr/>
          <p:nvPr/>
        </p:nvSpPr>
        <p:spPr>
          <a:xfrm>
            <a:off x="274320" y="3310128"/>
            <a:ext cx="1280160" cy="274320"/>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1965–1980</a:t>
            </a:r>
            <a:endParaRPr lang="en-US" sz="1100" dirty="0"/>
          </a:p>
        </p:txBody>
      </p:sp>
      <p:sp>
        <p:nvSpPr>
          <p:cNvPr id="21" name="Shape 19"/>
          <p:cNvSpPr/>
          <p:nvPr/>
        </p:nvSpPr>
        <p:spPr>
          <a:xfrm>
            <a:off x="1691640" y="2962656"/>
            <a:ext cx="7178040" cy="731520"/>
          </a:xfrm>
          <a:prstGeom prst="roundRect">
            <a:avLst>
              <a:gd name="adj" fmla="val 8750"/>
            </a:avLst>
          </a:prstGeom>
          <a:solidFill>
            <a:srgbClr val="FFFFFF"/>
          </a:solidFill>
          <a:ln/>
          <a:effectLst>
            <a:outerShdw blurRad="50800" dist="25400" dir="2700000" algn="bl" rotWithShape="0">
              <a:srgbClr val="000000">
                <a:alpha val="10000"/>
              </a:srgbClr>
            </a:outerShdw>
          </a:effectLst>
        </p:spPr>
      </p:sp>
      <p:sp>
        <p:nvSpPr>
          <p:cNvPr id="22" name="Text 20"/>
          <p:cNvSpPr/>
          <p:nvPr/>
        </p:nvSpPr>
        <p:spPr>
          <a:xfrm>
            <a:off x="1828800" y="3035808"/>
            <a:ext cx="1828800" cy="530352"/>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ICs (Chips)</a:t>
            </a:r>
            <a:endParaRPr lang="en-US" sz="1300" dirty="0"/>
          </a:p>
        </p:txBody>
      </p:sp>
      <p:sp>
        <p:nvSpPr>
          <p:cNvPr id="23" name="Text 21"/>
          <p:cNvSpPr/>
          <p:nvPr/>
        </p:nvSpPr>
        <p:spPr>
          <a:xfrm>
            <a:off x="3749040" y="3017520"/>
            <a:ext cx="1828800" cy="566928"/>
          </a:xfrm>
          <a:prstGeom prst="rect">
            <a:avLst/>
          </a:prstGeom>
          <a:noFill/>
          <a:ln/>
        </p:spPr>
        <p:txBody>
          <a:bodyPr wrap="square" lIns="0" tIns="0" rIns="0" bIns="0" rtlCol="0" anchor="ctr"/>
          <a:lstStyle/>
          <a:p>
            <a:pPr marL="0" indent="0">
              <a:buNone/>
            </a:pPr>
            <a:r>
              <a:rPr lang="en-US" sz="1200" dirty="0">
                <a:solidFill>
                  <a:srgbClr val="475569"/>
                </a:solidFill>
                <a:latin typeface="Calibri" pitchFamily="34" charset="0"/>
                <a:ea typeface="Calibri" pitchFamily="34" charset="-122"/>
                <a:cs typeface="Calibri" pitchFamily="34" charset="-120"/>
              </a:rPr>
              <a:t>Multiprogramming,</a:t>
            </a:r>
            <a:endParaRPr lang="en-US" sz="1200" dirty="0"/>
          </a:p>
          <a:p>
            <a:pPr marL="0" indent="0">
              <a:buNone/>
            </a:pPr>
            <a:r>
              <a:rPr lang="en-US" sz="1200" dirty="0">
                <a:solidFill>
                  <a:srgbClr val="475569"/>
                </a:solidFill>
                <a:latin typeface="Calibri" pitchFamily="34" charset="0"/>
                <a:ea typeface="Calibri" pitchFamily="34" charset="-122"/>
                <a:cs typeface="Calibri" pitchFamily="34" charset="-120"/>
              </a:rPr>
              <a:t>Time-Sharing</a:t>
            </a:r>
            <a:endParaRPr lang="en-US" sz="1200" dirty="0"/>
          </a:p>
        </p:txBody>
      </p:sp>
      <p:sp>
        <p:nvSpPr>
          <p:cNvPr id="24" name="Text 22"/>
          <p:cNvSpPr/>
          <p:nvPr/>
        </p:nvSpPr>
        <p:spPr>
          <a:xfrm>
            <a:off x="5669280" y="3054096"/>
            <a:ext cx="3017520" cy="502920"/>
          </a:xfrm>
          <a:prstGeom prst="rect">
            <a:avLst/>
          </a:prstGeom>
          <a:noFill/>
          <a:ln/>
        </p:spPr>
        <p:txBody>
          <a:bodyPr wrap="square" lIns="0" tIns="0" rIns="0" bIns="0" rtlCol="0" anchor="ctr"/>
          <a:lstStyle/>
          <a:p>
            <a:pPr marL="0" indent="0">
              <a:buNone/>
            </a:pPr>
            <a:r>
              <a:rPr lang="en-US" sz="1100" i="1" dirty="0">
                <a:solidFill>
                  <a:srgbClr val="0E7C86"/>
                </a:solidFill>
                <a:latin typeface="Calibri" pitchFamily="34" charset="0"/>
                <a:ea typeface="Calibri" pitchFamily="34" charset="-122"/>
                <a:cs typeface="Calibri" pitchFamily="34" charset="-120"/>
              </a:rPr>
              <a:t>e.g. IBM 360 family — UNIX born (1969)</a:t>
            </a:r>
            <a:endParaRPr lang="en-US" sz="1100" dirty="0"/>
          </a:p>
        </p:txBody>
      </p:sp>
      <p:sp>
        <p:nvSpPr>
          <p:cNvPr id="25" name="Shape 23"/>
          <p:cNvSpPr/>
          <p:nvPr/>
        </p:nvSpPr>
        <p:spPr>
          <a:xfrm>
            <a:off x="274320" y="3931920"/>
            <a:ext cx="1280160" cy="804672"/>
          </a:xfrm>
          <a:prstGeom prst="roundRect">
            <a:avLst>
              <a:gd name="adj" fmla="val 9091"/>
            </a:avLst>
          </a:prstGeom>
          <a:solidFill>
            <a:srgbClr val="10B981"/>
          </a:solidFill>
          <a:ln/>
        </p:spPr>
      </p:sp>
      <p:sp>
        <p:nvSpPr>
          <p:cNvPr id="26" name="Text 24"/>
          <p:cNvSpPr/>
          <p:nvPr/>
        </p:nvSpPr>
        <p:spPr>
          <a:xfrm>
            <a:off x="274320" y="3977640"/>
            <a:ext cx="1280160" cy="34747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Gen 4</a:t>
            </a:r>
            <a:endParaRPr lang="en-US" sz="1600" dirty="0"/>
          </a:p>
        </p:txBody>
      </p:sp>
      <p:sp>
        <p:nvSpPr>
          <p:cNvPr id="27" name="Text 25"/>
          <p:cNvSpPr/>
          <p:nvPr/>
        </p:nvSpPr>
        <p:spPr>
          <a:xfrm>
            <a:off x="274320" y="4315968"/>
            <a:ext cx="1280160" cy="274320"/>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1980–Now</a:t>
            </a:r>
            <a:endParaRPr lang="en-US" sz="1100" dirty="0"/>
          </a:p>
        </p:txBody>
      </p:sp>
      <p:sp>
        <p:nvSpPr>
          <p:cNvPr id="28" name="Shape 26"/>
          <p:cNvSpPr/>
          <p:nvPr/>
        </p:nvSpPr>
        <p:spPr>
          <a:xfrm>
            <a:off x="1691640" y="3968496"/>
            <a:ext cx="7178040" cy="731520"/>
          </a:xfrm>
          <a:prstGeom prst="roundRect">
            <a:avLst>
              <a:gd name="adj" fmla="val 8750"/>
            </a:avLst>
          </a:prstGeom>
          <a:solidFill>
            <a:srgbClr val="FFFFFF"/>
          </a:solidFill>
          <a:ln/>
          <a:effectLst>
            <a:outerShdw blurRad="50800" dist="25400" dir="2700000" algn="bl" rotWithShape="0">
              <a:srgbClr val="000000">
                <a:alpha val="10000"/>
              </a:srgbClr>
            </a:outerShdw>
          </a:effectLst>
        </p:spPr>
      </p:sp>
      <p:sp>
        <p:nvSpPr>
          <p:cNvPr id="29" name="Text 27"/>
          <p:cNvSpPr/>
          <p:nvPr/>
        </p:nvSpPr>
        <p:spPr>
          <a:xfrm>
            <a:off x="1828800" y="4041648"/>
            <a:ext cx="1828800" cy="530352"/>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VLSI / Microchips</a:t>
            </a:r>
            <a:endParaRPr lang="en-US" sz="1300" dirty="0"/>
          </a:p>
        </p:txBody>
      </p:sp>
      <p:sp>
        <p:nvSpPr>
          <p:cNvPr id="30" name="Text 28"/>
          <p:cNvSpPr/>
          <p:nvPr/>
        </p:nvSpPr>
        <p:spPr>
          <a:xfrm>
            <a:off x="3749040" y="4023360"/>
            <a:ext cx="1828800" cy="566928"/>
          </a:xfrm>
          <a:prstGeom prst="rect">
            <a:avLst/>
          </a:prstGeom>
          <a:noFill/>
          <a:ln/>
        </p:spPr>
        <p:txBody>
          <a:bodyPr wrap="square" lIns="0" tIns="0" rIns="0" bIns="0" rtlCol="0" anchor="ctr"/>
          <a:lstStyle/>
          <a:p>
            <a:pPr marL="0" indent="0">
              <a:buNone/>
            </a:pPr>
            <a:r>
              <a:rPr lang="en-US" sz="1200" dirty="0">
                <a:solidFill>
                  <a:srgbClr val="475569"/>
                </a:solidFill>
                <a:latin typeface="Calibri" pitchFamily="34" charset="0"/>
                <a:ea typeface="Calibri" pitchFamily="34" charset="-122"/>
                <a:cs typeface="Calibri" pitchFamily="34" charset="-120"/>
              </a:rPr>
              <a:t>Personal OS,</a:t>
            </a:r>
            <a:endParaRPr lang="en-US" sz="1200" dirty="0"/>
          </a:p>
          <a:p>
            <a:pPr marL="0" indent="0">
              <a:buNone/>
            </a:pPr>
            <a:r>
              <a:rPr lang="en-US" sz="1200" dirty="0">
                <a:solidFill>
                  <a:srgbClr val="475569"/>
                </a:solidFill>
                <a:latin typeface="Calibri" pitchFamily="34" charset="0"/>
                <a:ea typeface="Calibri" pitchFamily="34" charset="-122"/>
                <a:cs typeface="Calibri" pitchFamily="34" charset="-120"/>
              </a:rPr>
              <a:t>GUI, Mobile</a:t>
            </a:r>
            <a:endParaRPr lang="en-US" sz="1200" dirty="0"/>
          </a:p>
        </p:txBody>
      </p:sp>
      <p:sp>
        <p:nvSpPr>
          <p:cNvPr id="31" name="Text 29"/>
          <p:cNvSpPr/>
          <p:nvPr/>
        </p:nvSpPr>
        <p:spPr>
          <a:xfrm>
            <a:off x="5669280" y="4059936"/>
            <a:ext cx="3017520" cy="502920"/>
          </a:xfrm>
          <a:prstGeom prst="rect">
            <a:avLst/>
          </a:prstGeom>
          <a:noFill/>
          <a:ln/>
        </p:spPr>
        <p:txBody>
          <a:bodyPr wrap="square" lIns="0" tIns="0" rIns="0" bIns="0" rtlCol="0" anchor="ctr"/>
          <a:lstStyle/>
          <a:p>
            <a:pPr marL="0" indent="0">
              <a:buNone/>
            </a:pPr>
            <a:r>
              <a:rPr lang="en-US" sz="1100" i="1" dirty="0">
                <a:solidFill>
                  <a:srgbClr val="0E7C86"/>
                </a:solidFill>
                <a:latin typeface="Calibri" pitchFamily="34" charset="0"/>
                <a:ea typeface="Calibri" pitchFamily="34" charset="-122"/>
                <a:cs typeface="Calibri" pitchFamily="34" charset="-120"/>
              </a:rPr>
              <a:t>e.g. Windows, macOS, Linux, Android, iOS</a:t>
            </a:r>
            <a:endParaRPr lang="en-US" sz="1100" dirty="0"/>
          </a:p>
        </p:txBody>
      </p:sp>
      <p:sp>
        <p:nvSpPr>
          <p:cNvPr id="32" name="Text 30"/>
          <p:cNvSpPr/>
          <p:nvPr/>
        </p:nvSpPr>
        <p:spPr>
          <a:xfrm>
            <a:off x="1828800" y="658368"/>
            <a:ext cx="1828800" cy="274320"/>
          </a:xfrm>
          <a:prstGeom prst="rect">
            <a:avLst/>
          </a:prstGeom>
          <a:noFill/>
          <a:ln/>
        </p:spPr>
        <p:txBody>
          <a:bodyPr wrap="square" lIns="0" tIns="0" rIns="0" bIns="0" rtlCol="0" anchor="ctr"/>
          <a:lstStyle/>
          <a:p>
            <a:pPr marL="0" indent="0">
              <a:buNone/>
            </a:pPr>
            <a:r>
              <a:rPr lang="en-US" sz="1200" b="1" dirty="0">
                <a:solidFill>
                  <a:srgbClr val="475569"/>
                </a:solidFill>
                <a:latin typeface="Calibri" pitchFamily="34" charset="0"/>
                <a:ea typeface="Calibri" pitchFamily="34" charset="-122"/>
                <a:cs typeface="Calibri" pitchFamily="34" charset="-120"/>
              </a:rPr>
              <a:t>Technology</a:t>
            </a:r>
            <a:endParaRPr lang="en-US" sz="1200" dirty="0"/>
          </a:p>
        </p:txBody>
      </p:sp>
      <p:sp>
        <p:nvSpPr>
          <p:cNvPr id="33" name="Text 31"/>
          <p:cNvSpPr/>
          <p:nvPr/>
        </p:nvSpPr>
        <p:spPr>
          <a:xfrm>
            <a:off x="3749040" y="658368"/>
            <a:ext cx="1828800" cy="274320"/>
          </a:xfrm>
          <a:prstGeom prst="rect">
            <a:avLst/>
          </a:prstGeom>
          <a:noFill/>
          <a:ln/>
        </p:spPr>
        <p:txBody>
          <a:bodyPr wrap="square" lIns="0" tIns="0" rIns="0" bIns="0" rtlCol="0" anchor="ctr"/>
          <a:lstStyle/>
          <a:p>
            <a:pPr marL="0" indent="0">
              <a:buNone/>
            </a:pPr>
            <a:r>
              <a:rPr lang="en-US" sz="1200" b="1" dirty="0">
                <a:solidFill>
                  <a:srgbClr val="475569"/>
                </a:solidFill>
                <a:latin typeface="Calibri" pitchFamily="34" charset="0"/>
                <a:ea typeface="Calibri" pitchFamily="34" charset="-122"/>
                <a:cs typeface="Calibri" pitchFamily="34" charset="-120"/>
              </a:rPr>
              <a:t>OS Type</a:t>
            </a:r>
            <a:endParaRPr lang="en-US" sz="1200" dirty="0"/>
          </a:p>
        </p:txBody>
      </p:sp>
      <p:sp>
        <p:nvSpPr>
          <p:cNvPr id="34" name="Text 32"/>
          <p:cNvSpPr/>
          <p:nvPr/>
        </p:nvSpPr>
        <p:spPr>
          <a:xfrm>
            <a:off x="5669280" y="658368"/>
            <a:ext cx="3017520" cy="274320"/>
          </a:xfrm>
          <a:prstGeom prst="rect">
            <a:avLst/>
          </a:prstGeom>
          <a:noFill/>
          <a:ln/>
        </p:spPr>
        <p:txBody>
          <a:bodyPr wrap="square" lIns="0" tIns="0" rIns="0" bIns="0" rtlCol="0" anchor="ctr"/>
          <a:lstStyle/>
          <a:p>
            <a:pPr marL="0" indent="0">
              <a:buNone/>
            </a:pPr>
            <a:r>
              <a:rPr lang="en-US" sz="1200" b="1" dirty="0">
                <a:solidFill>
                  <a:srgbClr val="475569"/>
                </a:solidFill>
                <a:latin typeface="Calibri" pitchFamily="34" charset="0"/>
                <a:ea typeface="Calibri" pitchFamily="34" charset="-122"/>
                <a:cs typeface="Calibri" pitchFamily="34" charset="-120"/>
              </a:rPr>
              <a:t>Real World Example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E7C86"/>
          </a:solidFill>
          <a:ln w="12700">
            <a:solidFill>
              <a:srgbClr val="0E7C86"/>
            </a:solidFill>
            <a:prstDash val="solid"/>
          </a:ln>
        </p:spPr>
      </p:sp>
      <p:sp>
        <p:nvSpPr>
          <p:cNvPr id="3" name="Text 1"/>
          <p:cNvSpPr/>
          <p:nvPr/>
        </p:nvSpPr>
        <p:spPr>
          <a:xfrm>
            <a:off x="365760" y="164592"/>
            <a:ext cx="8412480" cy="548640"/>
          </a:xfrm>
          <a:prstGeom prst="rect">
            <a:avLst/>
          </a:prstGeom>
          <a:noFill/>
          <a:ln/>
        </p:spPr>
        <p:txBody>
          <a:bodyPr wrap="square" lIns="0" tIns="0" rIns="0" bIns="0" rtlCol="0" anchor="ctr"/>
          <a:lstStyle/>
          <a:p>
            <a:pPr marL="0" indent="0">
              <a:buNone/>
            </a:pPr>
            <a:r>
              <a:rPr lang="en-US" sz="3200" b="1" dirty="0">
                <a:solidFill>
                  <a:srgbClr val="0D1B2A"/>
                </a:solidFill>
                <a:latin typeface="Cambria" pitchFamily="34" charset="0"/>
                <a:ea typeface="Cambria" pitchFamily="34" charset="-122"/>
                <a:cs typeface="Cambria" pitchFamily="34" charset="-120"/>
              </a:rPr>
              <a:t>Objectives of an OS</a:t>
            </a:r>
            <a:endParaRPr lang="en-US" sz="3200" dirty="0"/>
          </a:p>
        </p:txBody>
      </p:sp>
      <p:sp>
        <p:nvSpPr>
          <p:cNvPr id="4" name="Shape 2"/>
          <p:cNvSpPr/>
          <p:nvPr/>
        </p:nvSpPr>
        <p:spPr>
          <a:xfrm>
            <a:off x="274320" y="868680"/>
            <a:ext cx="4114800" cy="4023360"/>
          </a:xfrm>
          <a:prstGeom prst="roundRect">
            <a:avLst>
              <a:gd name="adj" fmla="val 2727"/>
            </a:avLst>
          </a:prstGeom>
          <a:solidFill>
            <a:srgbClr val="0D1B2A"/>
          </a:solidFill>
          <a:ln/>
          <a:effectLst>
            <a:outerShdw blurRad="101600" dist="38100" dir="2700000" algn="bl" rotWithShape="0">
              <a:srgbClr val="000000">
                <a:alpha val="15000"/>
              </a:srgbClr>
            </a:outerShdw>
          </a:effectLst>
        </p:spPr>
      </p:sp>
      <p:sp>
        <p:nvSpPr>
          <p:cNvPr id="5" name="Text 3"/>
          <p:cNvSpPr/>
          <p:nvPr/>
        </p:nvSpPr>
        <p:spPr>
          <a:xfrm>
            <a:off x="411480" y="1005840"/>
            <a:ext cx="3840480" cy="457200"/>
          </a:xfrm>
          <a:prstGeom prst="rect">
            <a:avLst/>
          </a:prstGeom>
          <a:noFill/>
          <a:ln/>
        </p:spPr>
        <p:txBody>
          <a:bodyPr wrap="square" lIns="0" tIns="0" rIns="0" bIns="0" rtlCol="0" anchor="ctr"/>
          <a:lstStyle/>
          <a:p>
            <a:pPr marL="0" indent="0">
              <a:buNone/>
            </a:pPr>
            <a:r>
              <a:rPr lang="en-US" sz="1800" b="1" dirty="0">
                <a:solidFill>
                  <a:srgbClr val="F4A261"/>
                </a:solidFill>
                <a:latin typeface="Calibri" pitchFamily="34" charset="0"/>
                <a:ea typeface="Calibri" pitchFamily="34" charset="-122"/>
                <a:cs typeface="Calibri" pitchFamily="34" charset="-120"/>
              </a:rPr>
              <a:t>🗂️  Resource Manager</a:t>
            </a:r>
            <a:endParaRPr lang="en-US" sz="1800" dirty="0"/>
          </a:p>
        </p:txBody>
      </p:sp>
      <p:sp>
        <p:nvSpPr>
          <p:cNvPr id="6" name="Text 4"/>
          <p:cNvSpPr/>
          <p:nvPr/>
        </p:nvSpPr>
        <p:spPr>
          <a:xfrm>
            <a:off x="411480" y="1444752"/>
            <a:ext cx="3840480" cy="320040"/>
          </a:xfrm>
          <a:prstGeom prst="rect">
            <a:avLst/>
          </a:prstGeom>
          <a:noFill/>
          <a:ln/>
        </p:spPr>
        <p:txBody>
          <a:bodyPr wrap="square" lIns="0" tIns="0" rIns="0" bIns="0" rtlCol="0" anchor="ctr"/>
          <a:lstStyle/>
          <a:p>
            <a:pPr marL="0" indent="0">
              <a:buNone/>
            </a:pPr>
            <a:r>
              <a:rPr lang="en-US" sz="1300" i="1" dirty="0">
                <a:solidFill>
                  <a:srgbClr val="E2E8F0"/>
                </a:solidFill>
                <a:latin typeface="Calibri" pitchFamily="34" charset="0"/>
                <a:ea typeface="Calibri" pitchFamily="34" charset="-122"/>
                <a:cs typeface="Calibri" pitchFamily="34" charset="-120"/>
              </a:rPr>
              <a:t>Manages ALL hardware resources</a:t>
            </a:r>
            <a:endParaRPr lang="en-US" sz="1300" dirty="0"/>
          </a:p>
        </p:txBody>
      </p:sp>
      <p:sp>
        <p:nvSpPr>
          <p:cNvPr id="7" name="Text 5"/>
          <p:cNvSpPr/>
          <p:nvPr/>
        </p:nvSpPr>
        <p:spPr>
          <a:xfrm>
            <a:off x="411480" y="1874520"/>
            <a:ext cx="3840480" cy="45720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  CPU — Decides which process runs &amp; when</a:t>
            </a:r>
            <a:endParaRPr lang="en-US" sz="1300" dirty="0"/>
          </a:p>
        </p:txBody>
      </p:sp>
      <p:sp>
        <p:nvSpPr>
          <p:cNvPr id="8" name="Text 6"/>
          <p:cNvSpPr/>
          <p:nvPr/>
        </p:nvSpPr>
        <p:spPr>
          <a:xfrm>
            <a:off x="411480" y="2404872"/>
            <a:ext cx="3840480" cy="45720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  RAM — Allocates memory to programs</a:t>
            </a:r>
            <a:endParaRPr lang="en-US" sz="1300" dirty="0"/>
          </a:p>
        </p:txBody>
      </p:sp>
      <p:sp>
        <p:nvSpPr>
          <p:cNvPr id="9" name="Text 7"/>
          <p:cNvSpPr/>
          <p:nvPr/>
        </p:nvSpPr>
        <p:spPr>
          <a:xfrm>
            <a:off x="411480" y="2935224"/>
            <a:ext cx="3840480" cy="45720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  Disk — Manages files &amp; storage</a:t>
            </a:r>
            <a:endParaRPr lang="en-US" sz="1300" dirty="0"/>
          </a:p>
        </p:txBody>
      </p:sp>
      <p:sp>
        <p:nvSpPr>
          <p:cNvPr id="10" name="Text 8"/>
          <p:cNvSpPr/>
          <p:nvPr/>
        </p:nvSpPr>
        <p:spPr>
          <a:xfrm>
            <a:off x="411480" y="3465576"/>
            <a:ext cx="3840480" cy="45720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  Devices — Keyboard, printer, USB, etc.</a:t>
            </a:r>
            <a:endParaRPr lang="en-US" sz="1300" dirty="0"/>
          </a:p>
        </p:txBody>
      </p:sp>
      <p:sp>
        <p:nvSpPr>
          <p:cNvPr id="11" name="Text 9"/>
          <p:cNvSpPr/>
          <p:nvPr/>
        </p:nvSpPr>
        <p:spPr>
          <a:xfrm>
            <a:off x="411480" y="4023360"/>
            <a:ext cx="3840480" cy="713232"/>
          </a:xfrm>
          <a:prstGeom prst="rect">
            <a:avLst/>
          </a:prstGeom>
          <a:noFill/>
          <a:ln/>
        </p:spPr>
        <p:txBody>
          <a:bodyPr wrap="square" lIns="0" tIns="0" rIns="0" bIns="0" rtlCol="0" anchor="ctr"/>
          <a:lstStyle/>
          <a:p>
            <a:pPr marL="0" indent="0">
              <a:buNone/>
            </a:pPr>
            <a:r>
              <a:rPr lang="en-US" sz="1150" i="1" dirty="0">
                <a:solidFill>
                  <a:srgbClr val="14A5B5"/>
                </a:solidFill>
                <a:latin typeface="Calibri" pitchFamily="34" charset="0"/>
                <a:ea typeface="Calibri" pitchFamily="34" charset="-122"/>
                <a:cs typeface="Calibri" pitchFamily="34" charset="-120"/>
              </a:rPr>
              <a:t>💡  Example: Open Chrome + Spotify + Word</a:t>
            </a:r>
            <a:endParaRPr lang="en-US" sz="1150" dirty="0"/>
          </a:p>
          <a:p>
            <a:pPr marL="0" indent="0">
              <a:buNone/>
            </a:pPr>
            <a:r>
              <a:rPr lang="en-US" sz="1150" i="1" dirty="0">
                <a:solidFill>
                  <a:srgbClr val="14A5B5"/>
                </a:solidFill>
                <a:latin typeface="Calibri" pitchFamily="34" charset="0"/>
                <a:ea typeface="Calibri" pitchFamily="34" charset="-122"/>
                <a:cs typeface="Calibri" pitchFamily="34" charset="-120"/>
              </a:rPr>
              <a:t>→ OS gives each its share of CPU &amp; RAM</a:t>
            </a:r>
            <a:endParaRPr lang="en-US" sz="1150" dirty="0"/>
          </a:p>
        </p:txBody>
      </p:sp>
      <p:sp>
        <p:nvSpPr>
          <p:cNvPr id="12" name="Shape 10"/>
          <p:cNvSpPr/>
          <p:nvPr/>
        </p:nvSpPr>
        <p:spPr>
          <a:xfrm>
            <a:off x="4663440" y="868680"/>
            <a:ext cx="4114800" cy="4023360"/>
          </a:xfrm>
          <a:prstGeom prst="roundRect">
            <a:avLst>
              <a:gd name="adj" fmla="val 2727"/>
            </a:avLst>
          </a:prstGeom>
          <a:solidFill>
            <a:srgbClr val="0E7C86"/>
          </a:solidFill>
          <a:ln/>
          <a:effectLst>
            <a:outerShdw blurRad="101600" dist="38100" dir="2700000" algn="bl" rotWithShape="0">
              <a:srgbClr val="000000">
                <a:alpha val="15000"/>
              </a:srgbClr>
            </a:outerShdw>
          </a:effectLst>
        </p:spPr>
      </p:sp>
      <p:sp>
        <p:nvSpPr>
          <p:cNvPr id="13" name="Text 11"/>
          <p:cNvSpPr/>
          <p:nvPr/>
        </p:nvSpPr>
        <p:spPr>
          <a:xfrm>
            <a:off x="4800600" y="1005840"/>
            <a:ext cx="3840480" cy="457200"/>
          </a:xfrm>
          <a:prstGeom prst="rect">
            <a:avLst/>
          </a:prstGeom>
          <a:noFill/>
          <a:ln/>
        </p:spPr>
        <p:txBody>
          <a:bodyPr wrap="square" lIns="0" tIns="0" rIns="0" bIns="0" rtlCol="0" anchor="ctr"/>
          <a:lstStyle/>
          <a:p>
            <a:pPr marL="0" indent="0">
              <a:buNone/>
            </a:pPr>
            <a:r>
              <a:rPr lang="en-US" sz="1800" b="1" dirty="0">
                <a:solidFill>
                  <a:srgbClr val="F4A261"/>
                </a:solidFill>
                <a:latin typeface="Calibri" pitchFamily="34" charset="0"/>
                <a:ea typeface="Calibri" pitchFamily="34" charset="-122"/>
                <a:cs typeface="Calibri" pitchFamily="34" charset="-120"/>
              </a:rPr>
              <a:t>🤖  Extended Machine</a:t>
            </a:r>
            <a:endParaRPr lang="en-US" sz="1800" dirty="0"/>
          </a:p>
        </p:txBody>
      </p:sp>
      <p:sp>
        <p:nvSpPr>
          <p:cNvPr id="14" name="Text 12"/>
          <p:cNvSpPr/>
          <p:nvPr/>
        </p:nvSpPr>
        <p:spPr>
          <a:xfrm>
            <a:off x="4800600" y="1444752"/>
            <a:ext cx="3840480" cy="320040"/>
          </a:xfrm>
          <a:prstGeom prst="rect">
            <a:avLst/>
          </a:prstGeom>
          <a:noFill/>
          <a:ln/>
        </p:spPr>
        <p:txBody>
          <a:bodyPr wrap="square" lIns="0" tIns="0" rIns="0" bIns="0" rtlCol="0" anchor="ctr"/>
          <a:lstStyle/>
          <a:p>
            <a:pPr marL="0" indent="0">
              <a:buNone/>
            </a:pPr>
            <a:r>
              <a:rPr lang="en-US" sz="1300" i="1" dirty="0">
                <a:solidFill>
                  <a:srgbClr val="E2E8F0"/>
                </a:solidFill>
                <a:latin typeface="Calibri" pitchFamily="34" charset="0"/>
                <a:ea typeface="Calibri" pitchFamily="34" charset="-122"/>
                <a:cs typeface="Calibri" pitchFamily="34" charset="-120"/>
              </a:rPr>
              <a:t>Hides hardware complexity from user</a:t>
            </a:r>
            <a:endParaRPr lang="en-US" sz="1300" dirty="0"/>
          </a:p>
        </p:txBody>
      </p:sp>
      <p:sp>
        <p:nvSpPr>
          <p:cNvPr id="15" name="Text 13"/>
          <p:cNvSpPr/>
          <p:nvPr/>
        </p:nvSpPr>
        <p:spPr>
          <a:xfrm>
            <a:off x="4800600" y="1874520"/>
            <a:ext cx="3840480" cy="45720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  Provides abstractions: Files, Processes</a:t>
            </a:r>
            <a:endParaRPr lang="en-US" sz="1300" dirty="0"/>
          </a:p>
        </p:txBody>
      </p:sp>
      <p:sp>
        <p:nvSpPr>
          <p:cNvPr id="16" name="Text 14"/>
          <p:cNvSpPr/>
          <p:nvPr/>
        </p:nvSpPr>
        <p:spPr>
          <a:xfrm>
            <a:off x="4800600" y="2404872"/>
            <a:ext cx="3840480" cy="45720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  Users don't write binary to disk sectors</a:t>
            </a:r>
            <a:endParaRPr lang="en-US" sz="1300" dirty="0"/>
          </a:p>
        </p:txBody>
      </p:sp>
      <p:sp>
        <p:nvSpPr>
          <p:cNvPr id="17" name="Text 15"/>
          <p:cNvSpPr/>
          <p:nvPr/>
        </p:nvSpPr>
        <p:spPr>
          <a:xfrm>
            <a:off x="4800600" y="2935224"/>
            <a:ext cx="3840480" cy="45720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  Programmers call open('file.txt')</a:t>
            </a:r>
            <a:endParaRPr lang="en-US" sz="1300" dirty="0"/>
          </a:p>
        </p:txBody>
      </p:sp>
      <p:sp>
        <p:nvSpPr>
          <p:cNvPr id="18" name="Text 16"/>
          <p:cNvSpPr/>
          <p:nvPr/>
        </p:nvSpPr>
        <p:spPr>
          <a:xfrm>
            <a:off x="4800600" y="3465576"/>
            <a:ext cx="3840480" cy="45720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  Makes hardware easy to use</a:t>
            </a:r>
            <a:endParaRPr lang="en-US" sz="1300" dirty="0"/>
          </a:p>
        </p:txBody>
      </p:sp>
      <p:sp>
        <p:nvSpPr>
          <p:cNvPr id="19" name="Text 17"/>
          <p:cNvSpPr/>
          <p:nvPr/>
        </p:nvSpPr>
        <p:spPr>
          <a:xfrm>
            <a:off x="4800600" y="4023360"/>
            <a:ext cx="3840480" cy="713232"/>
          </a:xfrm>
          <a:prstGeom prst="rect">
            <a:avLst/>
          </a:prstGeom>
          <a:noFill/>
          <a:ln/>
        </p:spPr>
        <p:txBody>
          <a:bodyPr wrap="square" lIns="0" tIns="0" rIns="0" bIns="0" rtlCol="0" anchor="ctr"/>
          <a:lstStyle/>
          <a:p>
            <a:pPr marL="0" indent="0">
              <a:buNone/>
            </a:pPr>
            <a:r>
              <a:rPr lang="en-US" sz="1150" i="1" dirty="0">
                <a:solidFill>
                  <a:srgbClr val="C8F0F5"/>
                </a:solidFill>
                <a:latin typeface="Calibri" pitchFamily="34" charset="0"/>
                <a:ea typeface="Calibri" pitchFamily="34" charset="-122"/>
                <a:cs typeface="Calibri" pitchFamily="34" charset="-120"/>
              </a:rPr>
              <a:t>💡  Example: Photographer clicks 'Save' in</a:t>
            </a:r>
            <a:endParaRPr lang="en-US" sz="1150" dirty="0"/>
          </a:p>
          <a:p>
            <a:pPr marL="0" indent="0">
              <a:buNone/>
            </a:pPr>
            <a:r>
              <a:rPr lang="en-US" sz="1150" i="1" dirty="0">
                <a:solidFill>
                  <a:srgbClr val="C8F0F5"/>
                </a:solidFill>
                <a:latin typeface="Calibri" pitchFamily="34" charset="0"/>
                <a:ea typeface="Calibri" pitchFamily="34" charset="-122"/>
                <a:cs typeface="Calibri" pitchFamily="34" charset="-120"/>
              </a:rPr>
              <a:t>Photoshop — OS writes to disk, they don't!</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1B2A"/>
          </a:solidFill>
          <a:ln w="12700">
            <a:solidFill>
              <a:srgbClr val="0D1B2A"/>
            </a:solidFill>
            <a:prstDash val="solid"/>
          </a:ln>
        </p:spPr>
      </p:sp>
      <p:sp>
        <p:nvSpPr>
          <p:cNvPr id="3" name="Text 1"/>
          <p:cNvSpPr/>
          <p:nvPr/>
        </p:nvSpPr>
        <p:spPr>
          <a:xfrm>
            <a:off x="365760" y="164592"/>
            <a:ext cx="6400800" cy="548640"/>
          </a:xfrm>
          <a:prstGeom prst="rect">
            <a:avLst/>
          </a:prstGeom>
          <a:noFill/>
          <a:ln/>
        </p:spPr>
        <p:txBody>
          <a:bodyPr wrap="square" lIns="0" tIns="0" rIns="0" bIns="0" rtlCol="0" anchor="ctr"/>
          <a:lstStyle/>
          <a:p>
            <a:pPr marL="0" indent="0">
              <a:buNone/>
            </a:pPr>
            <a:r>
              <a:rPr lang="en-US" sz="3200" b="1" dirty="0">
                <a:solidFill>
                  <a:srgbClr val="0D1B2A"/>
                </a:solidFill>
                <a:latin typeface="Cambria" pitchFamily="34" charset="0"/>
                <a:ea typeface="Cambria" pitchFamily="34" charset="-122"/>
                <a:cs typeface="Cambria" pitchFamily="34" charset="-120"/>
              </a:rPr>
              <a:t>Types of OS — Part 1</a:t>
            </a:r>
            <a:endParaRPr lang="en-US" sz="3200" dirty="0"/>
          </a:p>
        </p:txBody>
      </p:sp>
      <p:sp>
        <p:nvSpPr>
          <p:cNvPr id="4" name="Text 2"/>
          <p:cNvSpPr/>
          <p:nvPr/>
        </p:nvSpPr>
        <p:spPr>
          <a:xfrm>
            <a:off x="6858000" y="228600"/>
            <a:ext cx="1828800" cy="457200"/>
          </a:xfrm>
          <a:prstGeom prst="rect">
            <a:avLst/>
          </a:prstGeom>
          <a:noFill/>
          <a:ln/>
        </p:spPr>
        <p:txBody>
          <a:bodyPr wrap="square" lIns="0" tIns="0" rIns="0" bIns="0" rtlCol="0" anchor="ctr"/>
          <a:lstStyle/>
          <a:p>
            <a:pPr marL="0" indent="0">
              <a:buNone/>
            </a:pPr>
            <a:r>
              <a:rPr lang="en-US" sz="1600" i="1" dirty="0">
                <a:solidFill>
                  <a:srgbClr val="475569"/>
                </a:solidFill>
                <a:latin typeface="Calibri" pitchFamily="34" charset="0"/>
                <a:ea typeface="Calibri" pitchFamily="34" charset="-122"/>
                <a:cs typeface="Calibri" pitchFamily="34" charset="-120"/>
              </a:rPr>
              <a:t>(1 of 2)</a:t>
            </a:r>
            <a:endParaRPr lang="en-US" sz="1600" dirty="0"/>
          </a:p>
        </p:txBody>
      </p:sp>
      <p:sp>
        <p:nvSpPr>
          <p:cNvPr id="5" name="Shape 3"/>
          <p:cNvSpPr/>
          <p:nvPr/>
        </p:nvSpPr>
        <p:spPr>
          <a:xfrm>
            <a:off x="274320" y="868680"/>
            <a:ext cx="8595360" cy="1234440"/>
          </a:xfrm>
          <a:prstGeom prst="roundRect">
            <a:avLst>
              <a:gd name="adj" fmla="val 7407"/>
            </a:avLst>
          </a:prstGeom>
          <a:solidFill>
            <a:srgbClr val="FFFFFF"/>
          </a:solidFill>
          <a:ln/>
          <a:effectLst>
            <a:outerShdw blurRad="63500" dist="25400" dir="2700000" algn="bl" rotWithShape="0">
              <a:srgbClr val="000000">
                <a:alpha val="10000"/>
              </a:srgbClr>
            </a:outerShdw>
          </a:effectLst>
        </p:spPr>
      </p:sp>
      <p:sp>
        <p:nvSpPr>
          <p:cNvPr id="6" name="Shape 4"/>
          <p:cNvSpPr/>
          <p:nvPr/>
        </p:nvSpPr>
        <p:spPr>
          <a:xfrm>
            <a:off x="274320" y="868680"/>
            <a:ext cx="2286000" cy="1234440"/>
          </a:xfrm>
          <a:prstGeom prst="roundRect">
            <a:avLst>
              <a:gd name="adj" fmla="val 7407"/>
            </a:avLst>
          </a:prstGeom>
          <a:solidFill>
            <a:srgbClr val="0D1B2A"/>
          </a:solidFill>
          <a:ln/>
        </p:spPr>
      </p:sp>
      <p:sp>
        <p:nvSpPr>
          <p:cNvPr id="7" name="Text 5"/>
          <p:cNvSpPr/>
          <p:nvPr/>
        </p:nvSpPr>
        <p:spPr>
          <a:xfrm>
            <a:off x="384048" y="978408"/>
            <a:ext cx="2103120"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1. Batch OS</a:t>
            </a:r>
            <a:endParaRPr lang="en-US" sz="1400" dirty="0"/>
          </a:p>
        </p:txBody>
      </p:sp>
      <p:sp>
        <p:nvSpPr>
          <p:cNvPr id="8" name="Text 6"/>
          <p:cNvSpPr/>
          <p:nvPr/>
        </p:nvSpPr>
        <p:spPr>
          <a:xfrm>
            <a:off x="384048" y="1435608"/>
            <a:ext cx="2103120" cy="274320"/>
          </a:xfrm>
          <a:prstGeom prst="rect">
            <a:avLst/>
          </a:prstGeom>
          <a:noFill/>
          <a:ln/>
        </p:spPr>
        <p:txBody>
          <a:bodyPr wrap="square" lIns="0" tIns="0" rIns="0" bIns="0" rtlCol="0" anchor="ctr"/>
          <a:lstStyle/>
          <a:p>
            <a:pPr marL="0" indent="0">
              <a:buNone/>
            </a:pPr>
            <a:r>
              <a:rPr lang="en-US" sz="1100" dirty="0">
                <a:solidFill>
                  <a:srgbClr val="E2E8F0"/>
                </a:solidFill>
                <a:latin typeface="Calibri" pitchFamily="34" charset="0"/>
                <a:ea typeface="Calibri" pitchFamily="34" charset="-122"/>
                <a:cs typeface="Calibri" pitchFamily="34" charset="-120"/>
              </a:rPr>
              <a:t>Efficient CPU use</a:t>
            </a:r>
            <a:endParaRPr lang="en-US" sz="1100" dirty="0"/>
          </a:p>
        </p:txBody>
      </p:sp>
      <p:sp>
        <p:nvSpPr>
          <p:cNvPr id="9" name="Text 7"/>
          <p:cNvSpPr/>
          <p:nvPr/>
        </p:nvSpPr>
        <p:spPr>
          <a:xfrm>
            <a:off x="384048" y="1709928"/>
            <a:ext cx="2103120" cy="274320"/>
          </a:xfrm>
          <a:prstGeom prst="rect">
            <a:avLst/>
          </a:prstGeom>
          <a:noFill/>
          <a:ln/>
        </p:spPr>
        <p:txBody>
          <a:bodyPr wrap="square" lIns="0" tIns="0" rIns="0" bIns="0" rtlCol="0" anchor="ctr"/>
          <a:lstStyle/>
          <a:p>
            <a:pPr marL="0" indent="0">
              <a:buNone/>
            </a:pPr>
            <a:r>
              <a:rPr lang="en-US" sz="1000" i="1" dirty="0">
                <a:solidFill>
                  <a:srgbClr val="E2E8F0"/>
                </a:solidFill>
                <a:latin typeface="Calibri" pitchFamily="34" charset="0"/>
                <a:ea typeface="Calibri" pitchFamily="34" charset="-122"/>
                <a:cs typeface="Calibri" pitchFamily="34" charset="-120"/>
              </a:rPr>
              <a:t>Cons: No real-time response</a:t>
            </a:r>
            <a:endParaRPr lang="en-US" sz="1000" dirty="0"/>
          </a:p>
        </p:txBody>
      </p:sp>
      <p:sp>
        <p:nvSpPr>
          <p:cNvPr id="10" name="Text 8"/>
          <p:cNvSpPr/>
          <p:nvPr/>
        </p:nvSpPr>
        <p:spPr>
          <a:xfrm>
            <a:off x="2697480" y="960120"/>
            <a:ext cx="6035040" cy="384048"/>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Jobs collected in batches, processed without user interaction</a:t>
            </a:r>
            <a:endParaRPr lang="en-US" sz="1300" dirty="0"/>
          </a:p>
        </p:txBody>
      </p:sp>
      <p:sp>
        <p:nvSpPr>
          <p:cNvPr id="11" name="Text 9"/>
          <p:cNvSpPr/>
          <p:nvPr/>
        </p:nvSpPr>
        <p:spPr>
          <a:xfrm>
            <a:off x="2697480" y="1435608"/>
            <a:ext cx="6035040" cy="502920"/>
          </a:xfrm>
          <a:prstGeom prst="rect">
            <a:avLst/>
          </a:prstGeom>
          <a:noFill/>
          <a:ln/>
        </p:spPr>
        <p:txBody>
          <a:bodyPr wrap="square" lIns="0" tIns="0" rIns="0" bIns="0" rtlCol="0" anchor="ctr"/>
          <a:lstStyle/>
          <a:p>
            <a:pPr marL="0" indent="0">
              <a:buNone/>
            </a:pPr>
            <a:r>
              <a:rPr lang="en-US" sz="1200" i="1" dirty="0">
                <a:solidFill>
                  <a:srgbClr val="0E7C86"/>
                </a:solidFill>
                <a:latin typeface="Calibri" pitchFamily="34" charset="0"/>
                <a:ea typeface="Calibri" pitchFamily="34" charset="-122"/>
                <a:cs typeface="Calibri" pitchFamily="34" charset="-120"/>
              </a:rPr>
              <a:t>📍 Bank payroll processing overnight; printing month-end reports</a:t>
            </a:r>
            <a:endParaRPr lang="en-US" sz="1200" dirty="0"/>
          </a:p>
        </p:txBody>
      </p:sp>
      <p:sp>
        <p:nvSpPr>
          <p:cNvPr id="12" name="Shape 10"/>
          <p:cNvSpPr/>
          <p:nvPr/>
        </p:nvSpPr>
        <p:spPr>
          <a:xfrm>
            <a:off x="274320" y="2286000"/>
            <a:ext cx="8595360" cy="1234440"/>
          </a:xfrm>
          <a:prstGeom prst="roundRect">
            <a:avLst>
              <a:gd name="adj" fmla="val 7407"/>
            </a:avLst>
          </a:prstGeom>
          <a:solidFill>
            <a:srgbClr val="FFFFFF"/>
          </a:solidFill>
          <a:ln/>
          <a:effectLst>
            <a:outerShdw blurRad="63500" dist="25400" dir="2700000" algn="bl" rotWithShape="0">
              <a:srgbClr val="000000">
                <a:alpha val="10000"/>
              </a:srgbClr>
            </a:outerShdw>
          </a:effectLst>
        </p:spPr>
      </p:sp>
      <p:sp>
        <p:nvSpPr>
          <p:cNvPr id="13" name="Shape 11"/>
          <p:cNvSpPr/>
          <p:nvPr/>
        </p:nvSpPr>
        <p:spPr>
          <a:xfrm>
            <a:off x="274320" y="2286000"/>
            <a:ext cx="2286000" cy="1234440"/>
          </a:xfrm>
          <a:prstGeom prst="roundRect">
            <a:avLst>
              <a:gd name="adj" fmla="val 7407"/>
            </a:avLst>
          </a:prstGeom>
          <a:solidFill>
            <a:srgbClr val="0E7C86"/>
          </a:solidFill>
          <a:ln/>
        </p:spPr>
      </p:sp>
      <p:sp>
        <p:nvSpPr>
          <p:cNvPr id="14" name="Text 12"/>
          <p:cNvSpPr/>
          <p:nvPr/>
        </p:nvSpPr>
        <p:spPr>
          <a:xfrm>
            <a:off x="384048" y="2395728"/>
            <a:ext cx="2103120"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2. Time-Sharing OS</a:t>
            </a:r>
            <a:endParaRPr lang="en-US" sz="1400" dirty="0"/>
          </a:p>
        </p:txBody>
      </p:sp>
      <p:sp>
        <p:nvSpPr>
          <p:cNvPr id="15" name="Text 13"/>
          <p:cNvSpPr/>
          <p:nvPr/>
        </p:nvSpPr>
        <p:spPr>
          <a:xfrm>
            <a:off x="384048" y="2852928"/>
            <a:ext cx="2103120" cy="274320"/>
          </a:xfrm>
          <a:prstGeom prst="rect">
            <a:avLst/>
          </a:prstGeom>
          <a:noFill/>
          <a:ln/>
        </p:spPr>
        <p:txBody>
          <a:bodyPr wrap="square" lIns="0" tIns="0" rIns="0" bIns="0" rtlCol="0" anchor="ctr"/>
          <a:lstStyle/>
          <a:p>
            <a:pPr marL="0" indent="0">
              <a:buNone/>
            </a:pPr>
            <a:r>
              <a:rPr lang="en-US" sz="1100" dirty="0">
                <a:solidFill>
                  <a:srgbClr val="E2E8F0"/>
                </a:solidFill>
                <a:latin typeface="Calibri" pitchFamily="34" charset="0"/>
                <a:ea typeface="Calibri" pitchFamily="34" charset="-122"/>
                <a:cs typeface="Calibri" pitchFamily="34" charset="-120"/>
              </a:rPr>
              <a:t>Each user feels dedicated machine</a:t>
            </a:r>
            <a:endParaRPr lang="en-US" sz="1100" dirty="0"/>
          </a:p>
        </p:txBody>
      </p:sp>
      <p:sp>
        <p:nvSpPr>
          <p:cNvPr id="16" name="Text 14"/>
          <p:cNvSpPr/>
          <p:nvPr/>
        </p:nvSpPr>
        <p:spPr>
          <a:xfrm>
            <a:off x="384048" y="3127248"/>
            <a:ext cx="2103120" cy="274320"/>
          </a:xfrm>
          <a:prstGeom prst="rect">
            <a:avLst/>
          </a:prstGeom>
          <a:noFill/>
          <a:ln/>
        </p:spPr>
        <p:txBody>
          <a:bodyPr wrap="square" lIns="0" tIns="0" rIns="0" bIns="0" rtlCol="0" anchor="ctr"/>
          <a:lstStyle/>
          <a:p>
            <a:pPr marL="0" indent="0">
              <a:buNone/>
            </a:pPr>
            <a:r>
              <a:rPr lang="en-US" sz="1000" i="1" dirty="0">
                <a:solidFill>
                  <a:srgbClr val="E2E8F0"/>
                </a:solidFill>
                <a:latin typeface="Calibri" pitchFamily="34" charset="0"/>
                <a:ea typeface="Calibri" pitchFamily="34" charset="-122"/>
                <a:cs typeface="Calibri" pitchFamily="34" charset="-120"/>
              </a:rPr>
              <a:t>Cons: Security &amp; performance challenges</a:t>
            </a:r>
            <a:endParaRPr lang="en-US" sz="1000" dirty="0"/>
          </a:p>
        </p:txBody>
      </p:sp>
      <p:sp>
        <p:nvSpPr>
          <p:cNvPr id="17" name="Text 15"/>
          <p:cNvSpPr/>
          <p:nvPr/>
        </p:nvSpPr>
        <p:spPr>
          <a:xfrm>
            <a:off x="2697480" y="2377440"/>
            <a:ext cx="6035040" cy="384048"/>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CPU time split into small slices (quantum); multiple users share</a:t>
            </a:r>
            <a:endParaRPr lang="en-US" sz="1300" dirty="0"/>
          </a:p>
        </p:txBody>
      </p:sp>
      <p:sp>
        <p:nvSpPr>
          <p:cNvPr id="18" name="Text 16"/>
          <p:cNvSpPr/>
          <p:nvPr/>
        </p:nvSpPr>
        <p:spPr>
          <a:xfrm>
            <a:off x="2697480" y="2852928"/>
            <a:ext cx="6035040" cy="502920"/>
          </a:xfrm>
          <a:prstGeom prst="rect">
            <a:avLst/>
          </a:prstGeom>
          <a:noFill/>
          <a:ln/>
        </p:spPr>
        <p:txBody>
          <a:bodyPr wrap="square" lIns="0" tIns="0" rIns="0" bIns="0" rtlCol="0" anchor="ctr"/>
          <a:lstStyle/>
          <a:p>
            <a:pPr marL="0" indent="0">
              <a:buNone/>
            </a:pPr>
            <a:r>
              <a:rPr lang="en-US" sz="1200" i="1" dirty="0">
                <a:solidFill>
                  <a:srgbClr val="0E7C86"/>
                </a:solidFill>
                <a:latin typeface="Calibri" pitchFamily="34" charset="0"/>
                <a:ea typeface="Calibri" pitchFamily="34" charset="-122"/>
                <a:cs typeface="Calibri" pitchFamily="34" charset="-120"/>
              </a:rPr>
              <a:t>📍 University servers; cloud hosting (AWS, DigitalOcean)</a:t>
            </a:r>
            <a:endParaRPr lang="en-US" sz="1200" dirty="0"/>
          </a:p>
        </p:txBody>
      </p:sp>
      <p:sp>
        <p:nvSpPr>
          <p:cNvPr id="19" name="Shape 17"/>
          <p:cNvSpPr/>
          <p:nvPr/>
        </p:nvSpPr>
        <p:spPr>
          <a:xfrm>
            <a:off x="274320" y="3703320"/>
            <a:ext cx="8595360" cy="1234440"/>
          </a:xfrm>
          <a:prstGeom prst="roundRect">
            <a:avLst>
              <a:gd name="adj" fmla="val 7407"/>
            </a:avLst>
          </a:prstGeom>
          <a:solidFill>
            <a:srgbClr val="FFFFFF"/>
          </a:solidFill>
          <a:ln/>
          <a:effectLst>
            <a:outerShdw blurRad="63500" dist="25400" dir="2700000" algn="bl" rotWithShape="0">
              <a:srgbClr val="000000">
                <a:alpha val="10000"/>
              </a:srgbClr>
            </a:outerShdw>
          </a:effectLst>
        </p:spPr>
      </p:sp>
      <p:sp>
        <p:nvSpPr>
          <p:cNvPr id="20" name="Shape 18"/>
          <p:cNvSpPr/>
          <p:nvPr/>
        </p:nvSpPr>
        <p:spPr>
          <a:xfrm>
            <a:off x="274320" y="3703320"/>
            <a:ext cx="2286000" cy="1234440"/>
          </a:xfrm>
          <a:prstGeom prst="roundRect">
            <a:avLst>
              <a:gd name="adj" fmla="val 7407"/>
            </a:avLst>
          </a:prstGeom>
          <a:solidFill>
            <a:srgbClr val="0D1B2A"/>
          </a:solidFill>
          <a:ln/>
        </p:spPr>
      </p:sp>
      <p:sp>
        <p:nvSpPr>
          <p:cNvPr id="21" name="Text 19"/>
          <p:cNvSpPr/>
          <p:nvPr/>
        </p:nvSpPr>
        <p:spPr>
          <a:xfrm>
            <a:off x="384048" y="3813048"/>
            <a:ext cx="2103120"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3. Multiprocessing OS</a:t>
            </a:r>
            <a:endParaRPr lang="en-US" sz="1400" dirty="0"/>
          </a:p>
        </p:txBody>
      </p:sp>
      <p:sp>
        <p:nvSpPr>
          <p:cNvPr id="22" name="Text 20"/>
          <p:cNvSpPr/>
          <p:nvPr/>
        </p:nvSpPr>
        <p:spPr>
          <a:xfrm>
            <a:off x="384048" y="4270248"/>
            <a:ext cx="2103120" cy="274320"/>
          </a:xfrm>
          <a:prstGeom prst="rect">
            <a:avLst/>
          </a:prstGeom>
          <a:noFill/>
          <a:ln/>
        </p:spPr>
        <p:txBody>
          <a:bodyPr wrap="square" lIns="0" tIns="0" rIns="0" bIns="0" rtlCol="0" anchor="ctr"/>
          <a:lstStyle/>
          <a:p>
            <a:pPr marL="0" indent="0">
              <a:buNone/>
            </a:pPr>
            <a:r>
              <a:rPr lang="en-US" sz="1100" dirty="0">
                <a:solidFill>
                  <a:srgbClr val="E2E8F0"/>
                </a:solidFill>
                <a:latin typeface="Calibri" pitchFamily="34" charset="0"/>
                <a:ea typeface="Calibri" pitchFamily="34" charset="-122"/>
                <a:cs typeface="Calibri" pitchFamily="34" charset="-120"/>
              </a:rPr>
              <a:t>High throughput, reliability</a:t>
            </a:r>
            <a:endParaRPr lang="en-US" sz="1100" dirty="0"/>
          </a:p>
        </p:txBody>
      </p:sp>
      <p:sp>
        <p:nvSpPr>
          <p:cNvPr id="23" name="Text 21"/>
          <p:cNvSpPr/>
          <p:nvPr/>
        </p:nvSpPr>
        <p:spPr>
          <a:xfrm>
            <a:off x="384048" y="4544568"/>
            <a:ext cx="2103120" cy="274320"/>
          </a:xfrm>
          <a:prstGeom prst="rect">
            <a:avLst/>
          </a:prstGeom>
          <a:noFill/>
          <a:ln/>
        </p:spPr>
        <p:txBody>
          <a:bodyPr wrap="square" lIns="0" tIns="0" rIns="0" bIns="0" rtlCol="0" anchor="ctr"/>
          <a:lstStyle/>
          <a:p>
            <a:pPr marL="0" indent="0">
              <a:buNone/>
            </a:pPr>
            <a:r>
              <a:rPr lang="en-US" sz="1000" i="1" dirty="0">
                <a:solidFill>
                  <a:srgbClr val="E2E8F0"/>
                </a:solidFill>
                <a:latin typeface="Calibri" pitchFamily="34" charset="0"/>
                <a:ea typeface="Calibri" pitchFamily="34" charset="-122"/>
                <a:cs typeface="Calibri" pitchFamily="34" charset="-120"/>
              </a:rPr>
              <a:t>Cons: Complex OS design, higher cost</a:t>
            </a:r>
            <a:endParaRPr lang="en-US" sz="1000" dirty="0"/>
          </a:p>
        </p:txBody>
      </p:sp>
      <p:sp>
        <p:nvSpPr>
          <p:cNvPr id="24" name="Text 22"/>
          <p:cNvSpPr/>
          <p:nvPr/>
        </p:nvSpPr>
        <p:spPr>
          <a:xfrm>
            <a:off x="2697480" y="3794760"/>
            <a:ext cx="6035040" cy="384048"/>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Two or more CPUs work in the same system simultaneously</a:t>
            </a:r>
            <a:endParaRPr lang="en-US" sz="1300" dirty="0"/>
          </a:p>
        </p:txBody>
      </p:sp>
      <p:sp>
        <p:nvSpPr>
          <p:cNvPr id="25" name="Text 23"/>
          <p:cNvSpPr/>
          <p:nvPr/>
        </p:nvSpPr>
        <p:spPr>
          <a:xfrm>
            <a:off x="2697480" y="4270248"/>
            <a:ext cx="6035040" cy="502920"/>
          </a:xfrm>
          <a:prstGeom prst="rect">
            <a:avLst/>
          </a:prstGeom>
          <a:noFill/>
          <a:ln/>
        </p:spPr>
        <p:txBody>
          <a:bodyPr wrap="square" lIns="0" tIns="0" rIns="0" bIns="0" rtlCol="0" anchor="ctr"/>
          <a:lstStyle/>
          <a:p>
            <a:pPr marL="0" indent="0">
              <a:buNone/>
            </a:pPr>
            <a:r>
              <a:rPr lang="en-US" sz="1200" i="1" dirty="0">
                <a:solidFill>
                  <a:srgbClr val="0E7C86"/>
                </a:solidFill>
                <a:latin typeface="Calibri" pitchFamily="34" charset="0"/>
                <a:ea typeface="Calibri" pitchFamily="34" charset="-122"/>
                <a:cs typeface="Calibri" pitchFamily="34" charset="-120"/>
              </a:rPr>
              <a:t>📍 Modern laptops (quad-core, octa-core); enterprise database servers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1B2A"/>
          </a:solidFill>
          <a:ln w="12700">
            <a:solidFill>
              <a:srgbClr val="0D1B2A"/>
            </a:solidFill>
            <a:prstDash val="solid"/>
          </a:ln>
        </p:spPr>
      </p:sp>
      <p:sp>
        <p:nvSpPr>
          <p:cNvPr id="3" name="Text 1"/>
          <p:cNvSpPr/>
          <p:nvPr/>
        </p:nvSpPr>
        <p:spPr>
          <a:xfrm>
            <a:off x="365760" y="164592"/>
            <a:ext cx="6400800" cy="548640"/>
          </a:xfrm>
          <a:prstGeom prst="rect">
            <a:avLst/>
          </a:prstGeom>
          <a:noFill/>
          <a:ln/>
        </p:spPr>
        <p:txBody>
          <a:bodyPr wrap="square" lIns="0" tIns="0" rIns="0" bIns="0" rtlCol="0" anchor="ctr"/>
          <a:lstStyle/>
          <a:p>
            <a:pPr marL="0" indent="0">
              <a:buNone/>
            </a:pPr>
            <a:r>
              <a:rPr lang="en-US" sz="3200" b="1" dirty="0">
                <a:solidFill>
                  <a:srgbClr val="0D1B2A"/>
                </a:solidFill>
                <a:latin typeface="Cambria" pitchFamily="34" charset="0"/>
                <a:ea typeface="Cambria" pitchFamily="34" charset="-122"/>
                <a:cs typeface="Cambria" pitchFamily="34" charset="-120"/>
              </a:rPr>
              <a:t>Types of OS — Part 2</a:t>
            </a:r>
            <a:endParaRPr lang="en-US" sz="3200" dirty="0"/>
          </a:p>
        </p:txBody>
      </p:sp>
      <p:sp>
        <p:nvSpPr>
          <p:cNvPr id="4" name="Text 2"/>
          <p:cNvSpPr/>
          <p:nvPr/>
        </p:nvSpPr>
        <p:spPr>
          <a:xfrm>
            <a:off x="6858000" y="228600"/>
            <a:ext cx="1828800" cy="457200"/>
          </a:xfrm>
          <a:prstGeom prst="rect">
            <a:avLst/>
          </a:prstGeom>
          <a:noFill/>
          <a:ln/>
        </p:spPr>
        <p:txBody>
          <a:bodyPr wrap="square" lIns="0" tIns="0" rIns="0" bIns="0" rtlCol="0" anchor="ctr"/>
          <a:lstStyle/>
          <a:p>
            <a:pPr marL="0" indent="0">
              <a:buNone/>
            </a:pPr>
            <a:r>
              <a:rPr lang="en-US" sz="1600" i="1" dirty="0">
                <a:solidFill>
                  <a:srgbClr val="475569"/>
                </a:solidFill>
                <a:latin typeface="Calibri" pitchFamily="34" charset="0"/>
                <a:ea typeface="Calibri" pitchFamily="34" charset="-122"/>
                <a:cs typeface="Calibri" pitchFamily="34" charset="-120"/>
              </a:rPr>
              <a:t>(2 of 2)</a:t>
            </a:r>
            <a:endParaRPr lang="en-US" sz="1600" dirty="0"/>
          </a:p>
        </p:txBody>
      </p:sp>
      <p:sp>
        <p:nvSpPr>
          <p:cNvPr id="5" name="Shape 3"/>
          <p:cNvSpPr/>
          <p:nvPr/>
        </p:nvSpPr>
        <p:spPr>
          <a:xfrm>
            <a:off x="274320" y="841248"/>
            <a:ext cx="8595360" cy="1508760"/>
          </a:xfrm>
          <a:prstGeom prst="roundRect">
            <a:avLst>
              <a:gd name="adj" fmla="val 7273"/>
            </a:avLst>
          </a:prstGeom>
          <a:solidFill>
            <a:srgbClr val="0D1B2A"/>
          </a:solidFill>
          <a:ln/>
          <a:effectLst>
            <a:outerShdw blurRad="101600" dist="38100" dir="2700000" algn="bl" rotWithShape="0">
              <a:srgbClr val="000000">
                <a:alpha val="15000"/>
              </a:srgbClr>
            </a:outerShdw>
          </a:effectLst>
        </p:spPr>
      </p:sp>
      <p:sp>
        <p:nvSpPr>
          <p:cNvPr id="6" name="Text 4"/>
          <p:cNvSpPr/>
          <p:nvPr/>
        </p:nvSpPr>
        <p:spPr>
          <a:xfrm>
            <a:off x="457200" y="932688"/>
            <a:ext cx="4572000" cy="411480"/>
          </a:xfrm>
          <a:prstGeom prst="rect">
            <a:avLst/>
          </a:prstGeom>
          <a:noFill/>
          <a:ln/>
        </p:spPr>
        <p:txBody>
          <a:bodyPr wrap="square" lIns="0" tIns="0" rIns="0" bIns="0" rtlCol="0" anchor="ctr"/>
          <a:lstStyle/>
          <a:p>
            <a:pPr marL="0" indent="0">
              <a:buNone/>
            </a:pPr>
            <a:r>
              <a:rPr lang="en-US" sz="1800" b="1" dirty="0">
                <a:solidFill>
                  <a:srgbClr val="F4A261"/>
                </a:solidFill>
                <a:latin typeface="Calibri" pitchFamily="34" charset="0"/>
                <a:ea typeface="Calibri" pitchFamily="34" charset="-122"/>
                <a:cs typeface="Calibri" pitchFamily="34" charset="-120"/>
              </a:rPr>
              <a:t>4. Real-Time OS (RTOS) ⚡</a:t>
            </a:r>
            <a:endParaRPr lang="en-US" sz="1800" dirty="0"/>
          </a:p>
        </p:txBody>
      </p:sp>
      <p:sp>
        <p:nvSpPr>
          <p:cNvPr id="7" name="Text 5"/>
          <p:cNvSpPr/>
          <p:nvPr/>
        </p:nvSpPr>
        <p:spPr>
          <a:xfrm>
            <a:off x="457200" y="1325880"/>
            <a:ext cx="5842000" cy="347472"/>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Tasks MUST complete within strict deadlines. Missing a deadline can be dangerous.</a:t>
            </a:r>
            <a:endParaRPr lang="en-US" sz="1300" dirty="0"/>
          </a:p>
        </p:txBody>
      </p:sp>
      <p:sp>
        <p:nvSpPr>
          <p:cNvPr id="8" name="Shape 6"/>
          <p:cNvSpPr/>
          <p:nvPr/>
        </p:nvSpPr>
        <p:spPr>
          <a:xfrm>
            <a:off x="457200" y="1691640"/>
            <a:ext cx="2286000" cy="502920"/>
          </a:xfrm>
          <a:prstGeom prst="roundRect">
            <a:avLst>
              <a:gd name="adj" fmla="val 14545"/>
            </a:avLst>
          </a:prstGeom>
          <a:solidFill>
            <a:srgbClr val="EF4444"/>
          </a:solidFill>
          <a:ln/>
        </p:spPr>
      </p:sp>
      <p:sp>
        <p:nvSpPr>
          <p:cNvPr id="9" name="Text 7"/>
          <p:cNvSpPr/>
          <p:nvPr/>
        </p:nvSpPr>
        <p:spPr>
          <a:xfrm>
            <a:off x="457200" y="1709928"/>
            <a:ext cx="228600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HARD RTOS</a:t>
            </a:r>
            <a:endParaRPr lang="en-US" sz="1200" dirty="0"/>
          </a:p>
        </p:txBody>
      </p:sp>
      <p:sp>
        <p:nvSpPr>
          <p:cNvPr id="10" name="Text 8"/>
          <p:cNvSpPr/>
          <p:nvPr/>
        </p:nvSpPr>
        <p:spPr>
          <a:xfrm>
            <a:off x="457200" y="1965960"/>
            <a:ext cx="2286000" cy="228600"/>
          </a:xfrm>
          <a:prstGeom prst="rect">
            <a:avLst/>
          </a:prstGeom>
          <a:noFill/>
          <a:ln/>
        </p:spPr>
        <p:txBody>
          <a:bodyPr wrap="square" lIns="0" tIns="0" rIns="0" bIns="0" rtlCol="0" anchor="ctr"/>
          <a:lstStyle/>
          <a:p>
            <a:pPr marL="0" indent="0" algn="ctr">
              <a:buNone/>
            </a:pPr>
            <a:r>
              <a:rPr lang="en-US" sz="1000" dirty="0">
                <a:solidFill>
                  <a:srgbClr val="E2E8F0"/>
                </a:solidFill>
                <a:latin typeface="Calibri" pitchFamily="34" charset="0"/>
                <a:ea typeface="Calibri" pitchFamily="34" charset="-122"/>
                <a:cs typeface="Calibri" pitchFamily="34" charset="-120"/>
              </a:rPr>
              <a:t>Airbag, Pacemaker, ABS Brakes</a:t>
            </a:r>
            <a:endParaRPr lang="en-US" sz="1000" dirty="0"/>
          </a:p>
        </p:txBody>
      </p:sp>
      <p:sp>
        <p:nvSpPr>
          <p:cNvPr id="11" name="Shape 9"/>
          <p:cNvSpPr/>
          <p:nvPr/>
        </p:nvSpPr>
        <p:spPr>
          <a:xfrm>
            <a:off x="2926080" y="1691640"/>
            <a:ext cx="2286000" cy="502920"/>
          </a:xfrm>
          <a:prstGeom prst="roundRect">
            <a:avLst>
              <a:gd name="adj" fmla="val 14545"/>
            </a:avLst>
          </a:prstGeom>
          <a:solidFill>
            <a:srgbClr val="0E7C86"/>
          </a:solidFill>
          <a:ln/>
        </p:spPr>
      </p:sp>
      <p:sp>
        <p:nvSpPr>
          <p:cNvPr id="12" name="Text 10"/>
          <p:cNvSpPr/>
          <p:nvPr/>
        </p:nvSpPr>
        <p:spPr>
          <a:xfrm>
            <a:off x="2926080" y="1709928"/>
            <a:ext cx="228600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SOFT RTOS</a:t>
            </a:r>
            <a:endParaRPr lang="en-US" sz="1200" dirty="0"/>
          </a:p>
        </p:txBody>
      </p:sp>
      <p:sp>
        <p:nvSpPr>
          <p:cNvPr id="13" name="Text 11"/>
          <p:cNvSpPr/>
          <p:nvPr/>
        </p:nvSpPr>
        <p:spPr>
          <a:xfrm>
            <a:off x="2926080" y="1965960"/>
            <a:ext cx="2286000" cy="228600"/>
          </a:xfrm>
          <a:prstGeom prst="rect">
            <a:avLst/>
          </a:prstGeom>
          <a:noFill/>
          <a:ln/>
        </p:spPr>
        <p:txBody>
          <a:bodyPr wrap="square" lIns="0" tIns="0" rIns="0" bIns="0" rtlCol="0" anchor="ctr"/>
          <a:lstStyle/>
          <a:p>
            <a:pPr marL="0" indent="0" algn="ctr">
              <a:buNone/>
            </a:pPr>
            <a:r>
              <a:rPr lang="en-US" sz="1000" dirty="0">
                <a:solidFill>
                  <a:srgbClr val="E2E8F0"/>
                </a:solidFill>
                <a:latin typeface="Calibri" pitchFamily="34" charset="0"/>
                <a:ea typeface="Calibri" pitchFamily="34" charset="-122"/>
                <a:cs typeface="Calibri" pitchFamily="34" charset="-120"/>
              </a:rPr>
              <a:t>Zoom, Spotify, Video Streaming</a:t>
            </a:r>
            <a:endParaRPr lang="en-US" sz="1000" dirty="0"/>
          </a:p>
        </p:txBody>
      </p:sp>
      <p:sp>
        <p:nvSpPr>
          <p:cNvPr id="14" name="Text 12"/>
          <p:cNvSpPr/>
          <p:nvPr/>
        </p:nvSpPr>
        <p:spPr>
          <a:xfrm>
            <a:off x="5577840" y="1600200"/>
            <a:ext cx="3108960" cy="713232"/>
          </a:xfrm>
          <a:prstGeom prst="rect">
            <a:avLst/>
          </a:prstGeom>
          <a:noFill/>
          <a:ln/>
        </p:spPr>
        <p:txBody>
          <a:bodyPr wrap="square" lIns="0" tIns="0" rIns="0" bIns="0" rtlCol="0" anchor="ctr"/>
          <a:lstStyle/>
          <a:p>
            <a:pPr marL="0" indent="0" algn="ctr">
              <a:buNone/>
            </a:pPr>
            <a:r>
              <a:rPr lang="en-US" sz="1300" b="1" dirty="0">
                <a:solidFill>
                  <a:srgbClr val="EF4444"/>
                </a:solidFill>
                <a:latin typeface="Calibri" pitchFamily="34" charset="0"/>
                <a:ea typeface="Calibri" pitchFamily="34" charset="-122"/>
                <a:cs typeface="Calibri" pitchFamily="34" charset="-120"/>
              </a:rPr>
              <a:t>Airbag deploys in &lt; 25ms</a:t>
            </a:r>
            <a:endParaRPr lang="en-US" sz="1300" dirty="0"/>
          </a:p>
          <a:p>
            <a:pPr marL="0" indent="0" algn="ctr">
              <a:buNone/>
            </a:pPr>
            <a:r>
              <a:rPr lang="en-US" sz="1300" b="1" dirty="0">
                <a:solidFill>
                  <a:srgbClr val="EF4444"/>
                </a:solidFill>
                <a:latin typeface="Calibri" pitchFamily="34" charset="0"/>
                <a:ea typeface="Calibri" pitchFamily="34" charset="-122"/>
                <a:cs typeface="Calibri" pitchFamily="34" charset="-120"/>
              </a:rPr>
              <a:t>— 1 ms late = person dies</a:t>
            </a:r>
            <a:endParaRPr lang="en-US" sz="1300" dirty="0"/>
          </a:p>
        </p:txBody>
      </p:sp>
      <p:sp>
        <p:nvSpPr>
          <p:cNvPr id="15" name="Shape 13"/>
          <p:cNvSpPr/>
          <p:nvPr/>
        </p:nvSpPr>
        <p:spPr>
          <a:xfrm>
            <a:off x="274320" y="2651760"/>
            <a:ext cx="2743200" cy="2240280"/>
          </a:xfrm>
          <a:prstGeom prst="roundRect">
            <a:avLst>
              <a:gd name="adj" fmla="val 4082"/>
            </a:avLst>
          </a:prstGeom>
          <a:solidFill>
            <a:srgbClr val="0E7C86"/>
          </a:solidFill>
          <a:ln/>
          <a:effectLst>
            <a:outerShdw blurRad="76200" dist="25400" dir="2700000" algn="bl" rotWithShape="0">
              <a:srgbClr val="000000">
                <a:alpha val="12000"/>
              </a:srgbClr>
            </a:outerShdw>
          </a:effectLst>
        </p:spPr>
      </p:sp>
      <p:sp>
        <p:nvSpPr>
          <p:cNvPr id="16" name="Text 14"/>
          <p:cNvSpPr/>
          <p:nvPr/>
        </p:nvSpPr>
        <p:spPr>
          <a:xfrm>
            <a:off x="384048" y="2761488"/>
            <a:ext cx="2542032" cy="438912"/>
          </a:xfrm>
          <a:prstGeom prst="rect">
            <a:avLst/>
          </a:prstGeom>
          <a:noFill/>
          <a:ln/>
        </p:spPr>
        <p:txBody>
          <a:bodyPr wrap="square" lIns="0" tIns="0" rIns="0" bIns="0" rtlCol="0" anchor="ctr"/>
          <a:lstStyle/>
          <a:p>
            <a:pPr marL="0" indent="0">
              <a:buNone/>
            </a:pPr>
            <a:r>
              <a:rPr lang="en-US" sz="1400" b="1" dirty="0">
                <a:solidFill>
                  <a:srgbClr val="F4A261"/>
                </a:solidFill>
                <a:latin typeface="Calibri" pitchFamily="34" charset="0"/>
                <a:ea typeface="Calibri" pitchFamily="34" charset="-122"/>
                <a:cs typeface="Calibri" pitchFamily="34" charset="-120"/>
              </a:rPr>
              <a:t>5. Distributed OS</a:t>
            </a:r>
            <a:endParaRPr lang="en-US" sz="1400" dirty="0"/>
          </a:p>
        </p:txBody>
      </p:sp>
      <p:sp>
        <p:nvSpPr>
          <p:cNvPr id="17" name="Text 15"/>
          <p:cNvSpPr/>
          <p:nvPr/>
        </p:nvSpPr>
        <p:spPr>
          <a:xfrm>
            <a:off x="384048" y="3218688"/>
            <a:ext cx="2542032" cy="54864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Many computers work as ONE system</a:t>
            </a:r>
            <a:endParaRPr lang="en-US" sz="1200" dirty="0"/>
          </a:p>
        </p:txBody>
      </p:sp>
      <p:sp>
        <p:nvSpPr>
          <p:cNvPr id="18" name="Text 16"/>
          <p:cNvSpPr/>
          <p:nvPr/>
        </p:nvSpPr>
        <p:spPr>
          <a:xfrm>
            <a:off x="384048" y="3794760"/>
            <a:ext cx="2542032" cy="621792"/>
          </a:xfrm>
          <a:prstGeom prst="rect">
            <a:avLst/>
          </a:prstGeom>
          <a:noFill/>
          <a:ln/>
        </p:spPr>
        <p:txBody>
          <a:bodyPr wrap="square" lIns="0" tIns="0" rIns="0" bIns="0" rtlCol="0" anchor="ctr"/>
          <a:lstStyle/>
          <a:p>
            <a:pPr marL="0" indent="0">
              <a:buNone/>
            </a:pPr>
            <a:r>
              <a:rPr lang="en-US" sz="1100" i="1" dirty="0">
                <a:solidFill>
                  <a:srgbClr val="E2E8F0"/>
                </a:solidFill>
                <a:latin typeface="Calibri" pitchFamily="34" charset="0"/>
                <a:ea typeface="Calibri" pitchFamily="34" charset="-122"/>
                <a:cs typeface="Calibri" pitchFamily="34" charset="-120"/>
              </a:rPr>
              <a:t>📍 Google Data Centers, AWS Cloud</a:t>
            </a:r>
            <a:endParaRPr lang="en-US" sz="1100" dirty="0"/>
          </a:p>
        </p:txBody>
      </p:sp>
      <p:sp>
        <p:nvSpPr>
          <p:cNvPr id="19" name="Shape 17"/>
          <p:cNvSpPr/>
          <p:nvPr/>
        </p:nvSpPr>
        <p:spPr>
          <a:xfrm>
            <a:off x="3182112" y="2651760"/>
            <a:ext cx="2743200" cy="2240280"/>
          </a:xfrm>
          <a:prstGeom prst="roundRect">
            <a:avLst>
              <a:gd name="adj" fmla="val 4082"/>
            </a:avLst>
          </a:prstGeom>
          <a:solidFill>
            <a:srgbClr val="1B2A3B"/>
          </a:solidFill>
          <a:ln/>
          <a:effectLst>
            <a:outerShdw blurRad="76200" dist="25400" dir="2700000" algn="bl" rotWithShape="0">
              <a:srgbClr val="000000">
                <a:alpha val="12000"/>
              </a:srgbClr>
            </a:outerShdw>
          </a:effectLst>
        </p:spPr>
      </p:sp>
      <p:sp>
        <p:nvSpPr>
          <p:cNvPr id="20" name="Text 18"/>
          <p:cNvSpPr/>
          <p:nvPr/>
        </p:nvSpPr>
        <p:spPr>
          <a:xfrm>
            <a:off x="3291840" y="2761488"/>
            <a:ext cx="2542032" cy="438912"/>
          </a:xfrm>
          <a:prstGeom prst="rect">
            <a:avLst/>
          </a:prstGeom>
          <a:noFill/>
          <a:ln/>
        </p:spPr>
        <p:txBody>
          <a:bodyPr wrap="square" lIns="0" tIns="0" rIns="0" bIns="0" rtlCol="0" anchor="ctr"/>
          <a:lstStyle/>
          <a:p>
            <a:pPr marL="0" indent="0">
              <a:buNone/>
            </a:pPr>
            <a:r>
              <a:rPr lang="en-US" sz="1400" b="1" dirty="0">
                <a:solidFill>
                  <a:srgbClr val="F4A261"/>
                </a:solidFill>
                <a:latin typeface="Calibri" pitchFamily="34" charset="0"/>
                <a:ea typeface="Calibri" pitchFamily="34" charset="-122"/>
                <a:cs typeface="Calibri" pitchFamily="34" charset="-120"/>
              </a:rPr>
              <a:t>6. Network OS</a:t>
            </a:r>
            <a:endParaRPr lang="en-US" sz="1400" dirty="0"/>
          </a:p>
        </p:txBody>
      </p:sp>
      <p:sp>
        <p:nvSpPr>
          <p:cNvPr id="21" name="Text 19"/>
          <p:cNvSpPr/>
          <p:nvPr/>
        </p:nvSpPr>
        <p:spPr>
          <a:xfrm>
            <a:off x="3291840" y="3218688"/>
            <a:ext cx="2542032" cy="54864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Manages shared resources over a network</a:t>
            </a:r>
            <a:endParaRPr lang="en-US" sz="1200" dirty="0"/>
          </a:p>
        </p:txBody>
      </p:sp>
      <p:sp>
        <p:nvSpPr>
          <p:cNvPr id="22" name="Text 20"/>
          <p:cNvSpPr/>
          <p:nvPr/>
        </p:nvSpPr>
        <p:spPr>
          <a:xfrm>
            <a:off x="3291840" y="3794760"/>
            <a:ext cx="2542032" cy="621792"/>
          </a:xfrm>
          <a:prstGeom prst="rect">
            <a:avLst/>
          </a:prstGeom>
          <a:noFill/>
          <a:ln/>
        </p:spPr>
        <p:txBody>
          <a:bodyPr wrap="square" lIns="0" tIns="0" rIns="0" bIns="0" rtlCol="0" anchor="ctr"/>
          <a:lstStyle/>
          <a:p>
            <a:pPr marL="0" indent="0">
              <a:buNone/>
            </a:pPr>
            <a:r>
              <a:rPr lang="en-US" sz="1100" i="1" dirty="0">
                <a:solidFill>
                  <a:srgbClr val="E2E8F0"/>
                </a:solidFill>
                <a:latin typeface="Calibri" pitchFamily="34" charset="0"/>
                <a:ea typeface="Calibri" pitchFamily="34" charset="-122"/>
                <a:cs typeface="Calibri" pitchFamily="34" charset="-120"/>
              </a:rPr>
              <a:t>📍 Windows Server, file/printer sharing</a:t>
            </a:r>
            <a:endParaRPr lang="en-US" sz="1100" dirty="0"/>
          </a:p>
        </p:txBody>
      </p:sp>
      <p:sp>
        <p:nvSpPr>
          <p:cNvPr id="23" name="Shape 21"/>
          <p:cNvSpPr/>
          <p:nvPr/>
        </p:nvSpPr>
        <p:spPr>
          <a:xfrm>
            <a:off x="6089904" y="2651760"/>
            <a:ext cx="2743200" cy="2240280"/>
          </a:xfrm>
          <a:prstGeom prst="roundRect">
            <a:avLst>
              <a:gd name="adj" fmla="val 4082"/>
            </a:avLst>
          </a:prstGeom>
          <a:solidFill>
            <a:srgbClr val="0E7C86"/>
          </a:solidFill>
          <a:ln/>
          <a:effectLst>
            <a:outerShdw blurRad="76200" dist="25400" dir="2700000" algn="bl" rotWithShape="0">
              <a:srgbClr val="000000">
                <a:alpha val="12000"/>
              </a:srgbClr>
            </a:outerShdw>
          </a:effectLst>
        </p:spPr>
      </p:sp>
      <p:sp>
        <p:nvSpPr>
          <p:cNvPr id="24" name="Text 22"/>
          <p:cNvSpPr/>
          <p:nvPr/>
        </p:nvSpPr>
        <p:spPr>
          <a:xfrm>
            <a:off x="6199632" y="2761488"/>
            <a:ext cx="2542032" cy="438912"/>
          </a:xfrm>
          <a:prstGeom prst="rect">
            <a:avLst/>
          </a:prstGeom>
          <a:noFill/>
          <a:ln/>
        </p:spPr>
        <p:txBody>
          <a:bodyPr wrap="square" lIns="0" tIns="0" rIns="0" bIns="0" rtlCol="0" anchor="ctr"/>
          <a:lstStyle/>
          <a:p>
            <a:pPr marL="0" indent="0">
              <a:buNone/>
            </a:pPr>
            <a:r>
              <a:rPr lang="en-US" sz="1400" b="1" dirty="0">
                <a:solidFill>
                  <a:srgbClr val="F4A261"/>
                </a:solidFill>
                <a:latin typeface="Calibri" pitchFamily="34" charset="0"/>
                <a:ea typeface="Calibri" pitchFamily="34" charset="-122"/>
                <a:cs typeface="Calibri" pitchFamily="34" charset="-120"/>
              </a:rPr>
              <a:t>7. Mobile OS</a:t>
            </a:r>
            <a:endParaRPr lang="en-US" sz="1400" dirty="0"/>
          </a:p>
        </p:txBody>
      </p:sp>
      <p:sp>
        <p:nvSpPr>
          <p:cNvPr id="25" name="Text 23"/>
          <p:cNvSpPr/>
          <p:nvPr/>
        </p:nvSpPr>
        <p:spPr>
          <a:xfrm>
            <a:off x="6199632" y="3218688"/>
            <a:ext cx="2542032" cy="54864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Touch interface, battery-optimized</a:t>
            </a:r>
            <a:endParaRPr lang="en-US" sz="1200" dirty="0"/>
          </a:p>
        </p:txBody>
      </p:sp>
      <p:sp>
        <p:nvSpPr>
          <p:cNvPr id="26" name="Text 24"/>
          <p:cNvSpPr/>
          <p:nvPr/>
        </p:nvSpPr>
        <p:spPr>
          <a:xfrm>
            <a:off x="6199632" y="3794760"/>
            <a:ext cx="2542032" cy="621792"/>
          </a:xfrm>
          <a:prstGeom prst="rect">
            <a:avLst/>
          </a:prstGeom>
          <a:noFill/>
          <a:ln/>
        </p:spPr>
        <p:txBody>
          <a:bodyPr wrap="square" lIns="0" tIns="0" rIns="0" bIns="0" rtlCol="0" anchor="ctr"/>
          <a:lstStyle/>
          <a:p>
            <a:pPr marL="0" indent="0">
              <a:buNone/>
            </a:pPr>
            <a:r>
              <a:rPr lang="en-US" sz="1100" i="1" dirty="0">
                <a:solidFill>
                  <a:srgbClr val="E2E8F0"/>
                </a:solidFill>
                <a:latin typeface="Calibri" pitchFamily="34" charset="0"/>
                <a:ea typeface="Calibri" pitchFamily="34" charset="-122"/>
                <a:cs typeface="Calibri" pitchFamily="34" charset="-120"/>
              </a:rPr>
              <a:t>📍 Android (Linux-based), iOS (Unix-based)</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E7C86"/>
          </a:solidFill>
          <a:ln w="12700">
            <a:solidFill>
              <a:srgbClr val="0E7C86"/>
            </a:solidFill>
            <a:prstDash val="solid"/>
          </a:ln>
        </p:spPr>
      </p:sp>
      <p:sp>
        <p:nvSpPr>
          <p:cNvPr id="3" name="Text 1"/>
          <p:cNvSpPr/>
          <p:nvPr/>
        </p:nvSpPr>
        <p:spPr>
          <a:xfrm>
            <a:off x="365760" y="164592"/>
            <a:ext cx="8412480" cy="548640"/>
          </a:xfrm>
          <a:prstGeom prst="rect">
            <a:avLst/>
          </a:prstGeom>
          <a:noFill/>
          <a:ln/>
        </p:spPr>
        <p:txBody>
          <a:bodyPr wrap="square" lIns="0" tIns="0" rIns="0" bIns="0" rtlCol="0" anchor="ctr"/>
          <a:lstStyle/>
          <a:p>
            <a:pPr marL="0" indent="0">
              <a:buNone/>
            </a:pPr>
            <a:r>
              <a:rPr lang="en-US" sz="3000" b="1" dirty="0">
                <a:solidFill>
                  <a:srgbClr val="0D1B2A"/>
                </a:solidFill>
                <a:latin typeface="Cambria" pitchFamily="34" charset="0"/>
                <a:ea typeface="Cambria" pitchFamily="34" charset="-122"/>
                <a:cs typeface="Cambria" pitchFamily="34" charset="-120"/>
              </a:rPr>
              <a:t>Functions of an Operating System</a:t>
            </a:r>
            <a:endParaRPr lang="en-US" sz="3000" dirty="0"/>
          </a:p>
        </p:txBody>
      </p:sp>
      <p:sp>
        <p:nvSpPr>
          <p:cNvPr id="4" name="Shape 2"/>
          <p:cNvSpPr/>
          <p:nvPr/>
        </p:nvSpPr>
        <p:spPr>
          <a:xfrm>
            <a:off x="274320" y="868680"/>
            <a:ext cx="2697480" cy="1874520"/>
          </a:xfrm>
          <a:prstGeom prst="roundRect">
            <a:avLst>
              <a:gd name="adj" fmla="val 4878"/>
            </a:avLst>
          </a:prstGeom>
          <a:solidFill>
            <a:srgbClr val="F0F4F8"/>
          </a:solidFill>
          <a:ln/>
          <a:effectLst>
            <a:outerShdw blurRad="63500" dist="25400" dir="2700000" algn="bl" rotWithShape="0">
              <a:srgbClr val="000000">
                <a:alpha val="10000"/>
              </a:srgbClr>
            </a:outerShdw>
          </a:effectLst>
        </p:spPr>
      </p:sp>
      <p:sp>
        <p:nvSpPr>
          <p:cNvPr id="5" name="Text 3"/>
          <p:cNvSpPr/>
          <p:nvPr/>
        </p:nvSpPr>
        <p:spPr>
          <a:xfrm>
            <a:off x="384048" y="960120"/>
            <a:ext cx="2487168" cy="438912"/>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 Process Management</a:t>
            </a:r>
            <a:endParaRPr lang="en-US" sz="1300" dirty="0"/>
          </a:p>
        </p:txBody>
      </p:sp>
      <p:sp>
        <p:nvSpPr>
          <p:cNvPr id="6" name="Text 4"/>
          <p:cNvSpPr/>
          <p:nvPr/>
        </p:nvSpPr>
        <p:spPr>
          <a:xfrm>
            <a:off x="384048" y="1417320"/>
            <a:ext cx="2487168" cy="457200"/>
          </a:xfrm>
          <a:prstGeom prst="rect">
            <a:avLst/>
          </a:prstGeom>
          <a:noFill/>
          <a:ln/>
        </p:spPr>
        <p:txBody>
          <a:bodyPr wrap="square" lIns="0" tIns="0" rIns="0" bIns="0" rtlCol="0" anchor="ctr"/>
          <a:lstStyle/>
          <a:p>
            <a:pPr marL="0" indent="0">
              <a:buNone/>
            </a:pPr>
            <a:r>
              <a:rPr lang="en-US" sz="1150" dirty="0">
                <a:solidFill>
                  <a:srgbClr val="475569"/>
                </a:solidFill>
                <a:latin typeface="Calibri" pitchFamily="34" charset="0"/>
                <a:ea typeface="Calibri" pitchFamily="34" charset="-122"/>
                <a:cs typeface="Calibri" pitchFamily="34" charset="-120"/>
              </a:rPr>
              <a:t>Create, schedule &amp; terminate processes</a:t>
            </a:r>
            <a:endParaRPr lang="en-US" sz="1150" dirty="0"/>
          </a:p>
        </p:txBody>
      </p:sp>
      <p:sp>
        <p:nvSpPr>
          <p:cNvPr id="7" name="Shape 5"/>
          <p:cNvSpPr/>
          <p:nvPr/>
        </p:nvSpPr>
        <p:spPr>
          <a:xfrm>
            <a:off x="384048" y="1920240"/>
            <a:ext cx="2487168" cy="18288"/>
          </a:xfrm>
          <a:prstGeom prst="rect">
            <a:avLst/>
          </a:prstGeom>
          <a:solidFill>
            <a:srgbClr val="E2E8F0"/>
          </a:solidFill>
          <a:ln w="12700">
            <a:solidFill>
              <a:srgbClr val="E2E8F0"/>
            </a:solidFill>
            <a:prstDash val="solid"/>
          </a:ln>
        </p:spPr>
      </p:sp>
      <p:sp>
        <p:nvSpPr>
          <p:cNvPr id="8" name="Text 6"/>
          <p:cNvSpPr/>
          <p:nvPr/>
        </p:nvSpPr>
        <p:spPr>
          <a:xfrm>
            <a:off x="384048" y="1965960"/>
            <a:ext cx="2487168" cy="640080"/>
          </a:xfrm>
          <a:prstGeom prst="rect">
            <a:avLst/>
          </a:prstGeom>
          <a:noFill/>
          <a:ln/>
        </p:spPr>
        <p:txBody>
          <a:bodyPr wrap="square" lIns="0" tIns="0" rIns="0" bIns="0" rtlCol="0" anchor="ctr"/>
          <a:lstStyle/>
          <a:p>
            <a:pPr marL="0" indent="0">
              <a:buNone/>
            </a:pPr>
            <a:r>
              <a:rPr lang="en-US" sz="1050" i="1" dirty="0">
                <a:solidFill>
                  <a:srgbClr val="0E7C86"/>
                </a:solidFill>
                <a:latin typeface="Calibri" pitchFamily="34" charset="0"/>
                <a:ea typeface="Calibri" pitchFamily="34" charset="-122"/>
                <a:cs typeface="Calibri" pitchFamily="34" charset="-120"/>
              </a:rPr>
              <a:t>Opening Chrome creates a new process</a:t>
            </a:r>
            <a:endParaRPr lang="en-US" sz="1050" dirty="0"/>
          </a:p>
        </p:txBody>
      </p:sp>
      <p:sp>
        <p:nvSpPr>
          <p:cNvPr id="9" name="Shape 7"/>
          <p:cNvSpPr/>
          <p:nvPr/>
        </p:nvSpPr>
        <p:spPr>
          <a:xfrm>
            <a:off x="3154680" y="868680"/>
            <a:ext cx="2697480" cy="1874520"/>
          </a:xfrm>
          <a:prstGeom prst="roundRect">
            <a:avLst>
              <a:gd name="adj" fmla="val 4878"/>
            </a:avLst>
          </a:prstGeom>
          <a:solidFill>
            <a:srgbClr val="F0F4F8"/>
          </a:solidFill>
          <a:ln/>
          <a:effectLst>
            <a:outerShdw blurRad="63500" dist="25400" dir="2700000" algn="bl" rotWithShape="0">
              <a:srgbClr val="000000">
                <a:alpha val="10000"/>
              </a:srgbClr>
            </a:outerShdw>
          </a:effectLst>
        </p:spPr>
      </p:sp>
      <p:sp>
        <p:nvSpPr>
          <p:cNvPr id="10" name="Text 8"/>
          <p:cNvSpPr/>
          <p:nvPr/>
        </p:nvSpPr>
        <p:spPr>
          <a:xfrm>
            <a:off x="3264408" y="960120"/>
            <a:ext cx="2487168" cy="438912"/>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 Memory Management</a:t>
            </a:r>
            <a:endParaRPr lang="en-US" sz="1300" dirty="0"/>
          </a:p>
        </p:txBody>
      </p:sp>
      <p:sp>
        <p:nvSpPr>
          <p:cNvPr id="11" name="Text 9"/>
          <p:cNvSpPr/>
          <p:nvPr/>
        </p:nvSpPr>
        <p:spPr>
          <a:xfrm>
            <a:off x="3264408" y="1417320"/>
            <a:ext cx="2487168" cy="457200"/>
          </a:xfrm>
          <a:prstGeom prst="rect">
            <a:avLst/>
          </a:prstGeom>
          <a:noFill/>
          <a:ln/>
        </p:spPr>
        <p:txBody>
          <a:bodyPr wrap="square" lIns="0" tIns="0" rIns="0" bIns="0" rtlCol="0" anchor="ctr"/>
          <a:lstStyle/>
          <a:p>
            <a:pPr marL="0" indent="0">
              <a:buNone/>
            </a:pPr>
            <a:r>
              <a:rPr lang="en-US" sz="1150" dirty="0">
                <a:solidFill>
                  <a:srgbClr val="475569"/>
                </a:solidFill>
                <a:latin typeface="Calibri" pitchFamily="34" charset="0"/>
                <a:ea typeface="Calibri" pitchFamily="34" charset="-122"/>
                <a:cs typeface="Calibri" pitchFamily="34" charset="-120"/>
              </a:rPr>
              <a:t>Allocate &amp; protect RAM for each process</a:t>
            </a:r>
            <a:endParaRPr lang="en-US" sz="1150" dirty="0"/>
          </a:p>
        </p:txBody>
      </p:sp>
      <p:sp>
        <p:nvSpPr>
          <p:cNvPr id="12" name="Shape 10"/>
          <p:cNvSpPr/>
          <p:nvPr/>
        </p:nvSpPr>
        <p:spPr>
          <a:xfrm>
            <a:off x="3264408" y="1920240"/>
            <a:ext cx="2487168" cy="18288"/>
          </a:xfrm>
          <a:prstGeom prst="rect">
            <a:avLst/>
          </a:prstGeom>
          <a:solidFill>
            <a:srgbClr val="E2E8F0"/>
          </a:solidFill>
          <a:ln w="12700">
            <a:solidFill>
              <a:srgbClr val="E2E8F0"/>
            </a:solidFill>
            <a:prstDash val="solid"/>
          </a:ln>
        </p:spPr>
      </p:sp>
      <p:sp>
        <p:nvSpPr>
          <p:cNvPr id="13" name="Text 11"/>
          <p:cNvSpPr/>
          <p:nvPr/>
        </p:nvSpPr>
        <p:spPr>
          <a:xfrm>
            <a:off x="3264408" y="1965960"/>
            <a:ext cx="2487168" cy="640080"/>
          </a:xfrm>
          <a:prstGeom prst="rect">
            <a:avLst/>
          </a:prstGeom>
          <a:noFill/>
          <a:ln/>
        </p:spPr>
        <p:txBody>
          <a:bodyPr wrap="square" lIns="0" tIns="0" rIns="0" bIns="0" rtlCol="0" anchor="ctr"/>
          <a:lstStyle/>
          <a:p>
            <a:pPr marL="0" indent="0">
              <a:buNone/>
            </a:pPr>
            <a:r>
              <a:rPr lang="en-US" sz="1050" i="1" dirty="0">
                <a:solidFill>
                  <a:srgbClr val="0E7C86"/>
                </a:solidFill>
                <a:latin typeface="Calibri" pitchFamily="34" charset="0"/>
                <a:ea typeface="Calibri" pitchFamily="34" charset="-122"/>
                <a:cs typeface="Calibri" pitchFamily="34" charset="-120"/>
              </a:rPr>
              <a:t>Chrome uses too much RAM → OS swaps to disk</a:t>
            </a:r>
            <a:endParaRPr lang="en-US" sz="1050" dirty="0"/>
          </a:p>
        </p:txBody>
      </p:sp>
      <p:sp>
        <p:nvSpPr>
          <p:cNvPr id="14" name="Shape 12"/>
          <p:cNvSpPr/>
          <p:nvPr/>
        </p:nvSpPr>
        <p:spPr>
          <a:xfrm>
            <a:off x="6035040" y="868680"/>
            <a:ext cx="2697480" cy="1874520"/>
          </a:xfrm>
          <a:prstGeom prst="roundRect">
            <a:avLst>
              <a:gd name="adj" fmla="val 4878"/>
            </a:avLst>
          </a:prstGeom>
          <a:solidFill>
            <a:srgbClr val="F0F4F8"/>
          </a:solidFill>
          <a:ln/>
          <a:effectLst>
            <a:outerShdw blurRad="63500" dist="25400" dir="2700000" algn="bl" rotWithShape="0">
              <a:srgbClr val="000000">
                <a:alpha val="10000"/>
              </a:srgbClr>
            </a:outerShdw>
          </a:effectLst>
        </p:spPr>
      </p:sp>
      <p:sp>
        <p:nvSpPr>
          <p:cNvPr id="15" name="Text 13"/>
          <p:cNvSpPr/>
          <p:nvPr/>
        </p:nvSpPr>
        <p:spPr>
          <a:xfrm>
            <a:off x="6144768" y="960120"/>
            <a:ext cx="2487168" cy="438912"/>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 File System Mgmt</a:t>
            </a:r>
            <a:endParaRPr lang="en-US" sz="1300" dirty="0"/>
          </a:p>
        </p:txBody>
      </p:sp>
      <p:sp>
        <p:nvSpPr>
          <p:cNvPr id="16" name="Text 14"/>
          <p:cNvSpPr/>
          <p:nvPr/>
        </p:nvSpPr>
        <p:spPr>
          <a:xfrm>
            <a:off x="6144768" y="1417320"/>
            <a:ext cx="2487168" cy="457200"/>
          </a:xfrm>
          <a:prstGeom prst="rect">
            <a:avLst/>
          </a:prstGeom>
          <a:noFill/>
          <a:ln/>
        </p:spPr>
        <p:txBody>
          <a:bodyPr wrap="square" lIns="0" tIns="0" rIns="0" bIns="0" rtlCol="0" anchor="ctr"/>
          <a:lstStyle/>
          <a:p>
            <a:pPr marL="0" indent="0">
              <a:buNone/>
            </a:pPr>
            <a:r>
              <a:rPr lang="en-US" sz="1150" dirty="0">
                <a:solidFill>
                  <a:srgbClr val="475569"/>
                </a:solidFill>
                <a:latin typeface="Calibri" pitchFamily="34" charset="0"/>
                <a:ea typeface="Calibri" pitchFamily="34" charset="-122"/>
                <a:cs typeface="Calibri" pitchFamily="34" charset="-120"/>
              </a:rPr>
              <a:t>Organize data as files &amp; directories</a:t>
            </a:r>
            <a:endParaRPr lang="en-US" sz="1150" dirty="0"/>
          </a:p>
        </p:txBody>
      </p:sp>
      <p:sp>
        <p:nvSpPr>
          <p:cNvPr id="17" name="Shape 15"/>
          <p:cNvSpPr/>
          <p:nvPr/>
        </p:nvSpPr>
        <p:spPr>
          <a:xfrm>
            <a:off x="6144768" y="1920240"/>
            <a:ext cx="2487168" cy="18288"/>
          </a:xfrm>
          <a:prstGeom prst="rect">
            <a:avLst/>
          </a:prstGeom>
          <a:solidFill>
            <a:srgbClr val="E2E8F0"/>
          </a:solidFill>
          <a:ln w="12700">
            <a:solidFill>
              <a:srgbClr val="E2E8F0"/>
            </a:solidFill>
            <a:prstDash val="solid"/>
          </a:ln>
        </p:spPr>
      </p:sp>
      <p:sp>
        <p:nvSpPr>
          <p:cNvPr id="18" name="Text 16"/>
          <p:cNvSpPr/>
          <p:nvPr/>
        </p:nvSpPr>
        <p:spPr>
          <a:xfrm>
            <a:off x="6144768" y="1965960"/>
            <a:ext cx="2487168" cy="640080"/>
          </a:xfrm>
          <a:prstGeom prst="rect">
            <a:avLst/>
          </a:prstGeom>
          <a:noFill/>
          <a:ln/>
        </p:spPr>
        <p:txBody>
          <a:bodyPr wrap="square" lIns="0" tIns="0" rIns="0" bIns="0" rtlCol="0" anchor="ctr"/>
          <a:lstStyle/>
          <a:p>
            <a:pPr marL="0" indent="0">
              <a:buNone/>
            </a:pPr>
            <a:r>
              <a:rPr lang="en-US" sz="1050" i="1" dirty="0">
                <a:solidFill>
                  <a:srgbClr val="0E7C86"/>
                </a:solidFill>
                <a:latin typeface="Calibri" pitchFamily="34" charset="0"/>
                <a:ea typeface="Calibri" pitchFamily="34" charset="-122"/>
                <a:cs typeface="Calibri" pitchFamily="34" charset="-120"/>
              </a:rPr>
              <a:t>Saving a .docx file on Windows</a:t>
            </a:r>
            <a:endParaRPr lang="en-US" sz="1050" dirty="0"/>
          </a:p>
        </p:txBody>
      </p:sp>
      <p:sp>
        <p:nvSpPr>
          <p:cNvPr id="19" name="Shape 17"/>
          <p:cNvSpPr/>
          <p:nvPr/>
        </p:nvSpPr>
        <p:spPr>
          <a:xfrm>
            <a:off x="274320" y="2926080"/>
            <a:ext cx="2697480" cy="1874520"/>
          </a:xfrm>
          <a:prstGeom prst="roundRect">
            <a:avLst>
              <a:gd name="adj" fmla="val 4878"/>
            </a:avLst>
          </a:prstGeom>
          <a:solidFill>
            <a:srgbClr val="F0F4F8"/>
          </a:solidFill>
          <a:ln/>
          <a:effectLst>
            <a:outerShdw blurRad="63500" dist="25400" dir="2700000" algn="bl" rotWithShape="0">
              <a:srgbClr val="000000">
                <a:alpha val="10000"/>
              </a:srgbClr>
            </a:outerShdw>
          </a:effectLst>
        </p:spPr>
      </p:sp>
      <p:sp>
        <p:nvSpPr>
          <p:cNvPr id="20" name="Text 18"/>
          <p:cNvSpPr/>
          <p:nvPr/>
        </p:nvSpPr>
        <p:spPr>
          <a:xfrm>
            <a:off x="384048" y="3017520"/>
            <a:ext cx="2487168" cy="438912"/>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 I/O Device Mgmt</a:t>
            </a:r>
            <a:endParaRPr lang="en-US" sz="1300" dirty="0"/>
          </a:p>
        </p:txBody>
      </p:sp>
      <p:sp>
        <p:nvSpPr>
          <p:cNvPr id="21" name="Text 19"/>
          <p:cNvSpPr/>
          <p:nvPr/>
        </p:nvSpPr>
        <p:spPr>
          <a:xfrm>
            <a:off x="384048" y="3474720"/>
            <a:ext cx="2487168" cy="457200"/>
          </a:xfrm>
          <a:prstGeom prst="rect">
            <a:avLst/>
          </a:prstGeom>
          <a:noFill/>
          <a:ln/>
        </p:spPr>
        <p:txBody>
          <a:bodyPr wrap="square" lIns="0" tIns="0" rIns="0" bIns="0" rtlCol="0" anchor="ctr"/>
          <a:lstStyle/>
          <a:p>
            <a:pPr marL="0" indent="0">
              <a:buNone/>
            </a:pPr>
            <a:r>
              <a:rPr lang="en-US" sz="1150" dirty="0">
                <a:solidFill>
                  <a:srgbClr val="475569"/>
                </a:solidFill>
                <a:latin typeface="Calibri" pitchFamily="34" charset="0"/>
                <a:ea typeface="Calibri" pitchFamily="34" charset="-122"/>
                <a:cs typeface="Calibri" pitchFamily="34" charset="-120"/>
              </a:rPr>
              <a:t>Control devices via drivers</a:t>
            </a:r>
            <a:endParaRPr lang="en-US" sz="1150" dirty="0"/>
          </a:p>
        </p:txBody>
      </p:sp>
      <p:sp>
        <p:nvSpPr>
          <p:cNvPr id="22" name="Shape 20"/>
          <p:cNvSpPr/>
          <p:nvPr/>
        </p:nvSpPr>
        <p:spPr>
          <a:xfrm>
            <a:off x="384048" y="3977640"/>
            <a:ext cx="2487168" cy="18288"/>
          </a:xfrm>
          <a:prstGeom prst="rect">
            <a:avLst/>
          </a:prstGeom>
          <a:solidFill>
            <a:srgbClr val="E2E8F0"/>
          </a:solidFill>
          <a:ln w="12700">
            <a:solidFill>
              <a:srgbClr val="E2E8F0"/>
            </a:solidFill>
            <a:prstDash val="solid"/>
          </a:ln>
        </p:spPr>
      </p:sp>
      <p:sp>
        <p:nvSpPr>
          <p:cNvPr id="23" name="Text 21"/>
          <p:cNvSpPr/>
          <p:nvPr/>
        </p:nvSpPr>
        <p:spPr>
          <a:xfrm>
            <a:off x="384048" y="4023360"/>
            <a:ext cx="2487168" cy="640080"/>
          </a:xfrm>
          <a:prstGeom prst="rect">
            <a:avLst/>
          </a:prstGeom>
          <a:noFill/>
          <a:ln/>
        </p:spPr>
        <p:txBody>
          <a:bodyPr wrap="square" lIns="0" tIns="0" rIns="0" bIns="0" rtlCol="0" anchor="ctr"/>
          <a:lstStyle/>
          <a:p>
            <a:pPr marL="0" indent="0">
              <a:buNone/>
            </a:pPr>
            <a:r>
              <a:rPr lang="en-US" sz="1050" i="1" dirty="0">
                <a:solidFill>
                  <a:srgbClr val="0E7C86"/>
                </a:solidFill>
                <a:latin typeface="Calibri" pitchFamily="34" charset="0"/>
                <a:ea typeface="Calibri" pitchFamily="34" charset="-122"/>
                <a:cs typeface="Calibri" pitchFamily="34" charset="-120"/>
              </a:rPr>
              <a:t>Plug in USB printer — OS auto-installs driver</a:t>
            </a:r>
            <a:endParaRPr lang="en-US" sz="1050" dirty="0"/>
          </a:p>
        </p:txBody>
      </p:sp>
      <p:sp>
        <p:nvSpPr>
          <p:cNvPr id="24" name="Shape 22"/>
          <p:cNvSpPr/>
          <p:nvPr/>
        </p:nvSpPr>
        <p:spPr>
          <a:xfrm>
            <a:off x="3154680" y="2926080"/>
            <a:ext cx="2697480" cy="1874520"/>
          </a:xfrm>
          <a:prstGeom prst="roundRect">
            <a:avLst>
              <a:gd name="adj" fmla="val 4878"/>
            </a:avLst>
          </a:prstGeom>
          <a:solidFill>
            <a:srgbClr val="F0F4F8"/>
          </a:solidFill>
          <a:ln/>
          <a:effectLst>
            <a:outerShdw blurRad="63500" dist="25400" dir="2700000" algn="bl" rotWithShape="0">
              <a:srgbClr val="000000">
                <a:alpha val="10000"/>
              </a:srgbClr>
            </a:outerShdw>
          </a:effectLst>
        </p:spPr>
      </p:sp>
      <p:sp>
        <p:nvSpPr>
          <p:cNvPr id="25" name="Text 23"/>
          <p:cNvSpPr/>
          <p:nvPr/>
        </p:nvSpPr>
        <p:spPr>
          <a:xfrm>
            <a:off x="3264408" y="3017520"/>
            <a:ext cx="2487168" cy="438912"/>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 Security &amp; Protection</a:t>
            </a:r>
            <a:endParaRPr lang="en-US" sz="1300" dirty="0"/>
          </a:p>
        </p:txBody>
      </p:sp>
      <p:sp>
        <p:nvSpPr>
          <p:cNvPr id="26" name="Text 24"/>
          <p:cNvSpPr/>
          <p:nvPr/>
        </p:nvSpPr>
        <p:spPr>
          <a:xfrm>
            <a:off x="3264408" y="3474720"/>
            <a:ext cx="2487168" cy="457200"/>
          </a:xfrm>
          <a:prstGeom prst="rect">
            <a:avLst/>
          </a:prstGeom>
          <a:noFill/>
          <a:ln/>
        </p:spPr>
        <p:txBody>
          <a:bodyPr wrap="square" lIns="0" tIns="0" rIns="0" bIns="0" rtlCol="0" anchor="ctr"/>
          <a:lstStyle/>
          <a:p>
            <a:pPr marL="0" indent="0">
              <a:buNone/>
            </a:pPr>
            <a:r>
              <a:rPr lang="en-US" sz="1150" dirty="0">
                <a:solidFill>
                  <a:srgbClr val="475569"/>
                </a:solidFill>
                <a:latin typeface="Calibri" pitchFamily="34" charset="0"/>
                <a:ea typeface="Calibri" pitchFamily="34" charset="-122"/>
                <a:cs typeface="Calibri" pitchFamily="34" charset="-120"/>
              </a:rPr>
              <a:t>Access control, authentication, permissions</a:t>
            </a:r>
            <a:endParaRPr lang="en-US" sz="1150" dirty="0"/>
          </a:p>
        </p:txBody>
      </p:sp>
      <p:sp>
        <p:nvSpPr>
          <p:cNvPr id="27" name="Shape 25"/>
          <p:cNvSpPr/>
          <p:nvPr/>
        </p:nvSpPr>
        <p:spPr>
          <a:xfrm>
            <a:off x="3264408" y="3977640"/>
            <a:ext cx="2487168" cy="18288"/>
          </a:xfrm>
          <a:prstGeom prst="rect">
            <a:avLst/>
          </a:prstGeom>
          <a:solidFill>
            <a:srgbClr val="E2E8F0"/>
          </a:solidFill>
          <a:ln w="12700">
            <a:solidFill>
              <a:srgbClr val="E2E8F0"/>
            </a:solidFill>
            <a:prstDash val="solid"/>
          </a:ln>
        </p:spPr>
      </p:sp>
      <p:sp>
        <p:nvSpPr>
          <p:cNvPr id="28" name="Text 26"/>
          <p:cNvSpPr/>
          <p:nvPr/>
        </p:nvSpPr>
        <p:spPr>
          <a:xfrm>
            <a:off x="3264408" y="4023360"/>
            <a:ext cx="2487168" cy="640080"/>
          </a:xfrm>
          <a:prstGeom prst="rect">
            <a:avLst/>
          </a:prstGeom>
          <a:noFill/>
          <a:ln/>
        </p:spPr>
        <p:txBody>
          <a:bodyPr wrap="square" lIns="0" tIns="0" rIns="0" bIns="0" rtlCol="0" anchor="ctr"/>
          <a:lstStyle/>
          <a:p>
            <a:pPr marL="0" indent="0">
              <a:buNone/>
            </a:pPr>
            <a:r>
              <a:rPr lang="en-US" sz="1050" i="1" dirty="0">
                <a:solidFill>
                  <a:srgbClr val="0E7C86"/>
                </a:solidFill>
                <a:latin typeface="Calibri" pitchFamily="34" charset="0"/>
                <a:ea typeface="Calibri" pitchFamily="34" charset="-122"/>
                <a:cs typeface="Calibri" pitchFamily="34" charset="-120"/>
              </a:rPr>
              <a:t>Linux file permissions (rwxr-xr-x)</a:t>
            </a:r>
            <a:endParaRPr lang="en-US" sz="1050" dirty="0"/>
          </a:p>
        </p:txBody>
      </p:sp>
      <p:sp>
        <p:nvSpPr>
          <p:cNvPr id="29" name="Shape 27"/>
          <p:cNvSpPr/>
          <p:nvPr/>
        </p:nvSpPr>
        <p:spPr>
          <a:xfrm>
            <a:off x="6035040" y="2926080"/>
            <a:ext cx="2697480" cy="1874520"/>
          </a:xfrm>
          <a:prstGeom prst="roundRect">
            <a:avLst>
              <a:gd name="adj" fmla="val 4878"/>
            </a:avLst>
          </a:prstGeom>
          <a:solidFill>
            <a:srgbClr val="F0F4F8"/>
          </a:solidFill>
          <a:ln/>
          <a:effectLst>
            <a:outerShdw blurRad="63500" dist="25400" dir="2700000" algn="bl" rotWithShape="0">
              <a:srgbClr val="000000">
                <a:alpha val="10000"/>
              </a:srgbClr>
            </a:outerShdw>
          </a:effectLst>
        </p:spPr>
      </p:sp>
      <p:sp>
        <p:nvSpPr>
          <p:cNvPr id="30" name="Text 28"/>
          <p:cNvSpPr/>
          <p:nvPr/>
        </p:nvSpPr>
        <p:spPr>
          <a:xfrm>
            <a:off x="6144768" y="3017520"/>
            <a:ext cx="2487168" cy="438912"/>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 Error Detection</a:t>
            </a:r>
            <a:endParaRPr lang="en-US" sz="1300" dirty="0"/>
          </a:p>
        </p:txBody>
      </p:sp>
      <p:sp>
        <p:nvSpPr>
          <p:cNvPr id="31" name="Text 29"/>
          <p:cNvSpPr/>
          <p:nvPr/>
        </p:nvSpPr>
        <p:spPr>
          <a:xfrm>
            <a:off x="6144768" y="3474720"/>
            <a:ext cx="2487168" cy="457200"/>
          </a:xfrm>
          <a:prstGeom prst="rect">
            <a:avLst/>
          </a:prstGeom>
          <a:noFill/>
          <a:ln/>
        </p:spPr>
        <p:txBody>
          <a:bodyPr wrap="square" lIns="0" tIns="0" rIns="0" bIns="0" rtlCol="0" anchor="ctr"/>
          <a:lstStyle/>
          <a:p>
            <a:pPr marL="0" indent="0">
              <a:buNone/>
            </a:pPr>
            <a:r>
              <a:rPr lang="en-US" sz="1150" dirty="0">
                <a:solidFill>
                  <a:srgbClr val="475569"/>
                </a:solidFill>
                <a:latin typeface="Calibri" pitchFamily="34" charset="0"/>
                <a:ea typeface="Calibri" pitchFamily="34" charset="-122"/>
                <a:cs typeface="Calibri" pitchFamily="34" charset="-120"/>
              </a:rPr>
              <a:t>Monitor hardware/software for faults</a:t>
            </a:r>
            <a:endParaRPr lang="en-US" sz="1150" dirty="0"/>
          </a:p>
        </p:txBody>
      </p:sp>
      <p:sp>
        <p:nvSpPr>
          <p:cNvPr id="32" name="Shape 30"/>
          <p:cNvSpPr/>
          <p:nvPr/>
        </p:nvSpPr>
        <p:spPr>
          <a:xfrm>
            <a:off x="6144768" y="3977640"/>
            <a:ext cx="2487168" cy="18288"/>
          </a:xfrm>
          <a:prstGeom prst="rect">
            <a:avLst/>
          </a:prstGeom>
          <a:solidFill>
            <a:srgbClr val="E2E8F0"/>
          </a:solidFill>
          <a:ln w="12700">
            <a:solidFill>
              <a:srgbClr val="E2E8F0"/>
            </a:solidFill>
            <a:prstDash val="solid"/>
          </a:ln>
        </p:spPr>
      </p:sp>
      <p:sp>
        <p:nvSpPr>
          <p:cNvPr id="33" name="Text 31"/>
          <p:cNvSpPr/>
          <p:nvPr/>
        </p:nvSpPr>
        <p:spPr>
          <a:xfrm>
            <a:off x="6144768" y="4023360"/>
            <a:ext cx="2487168" cy="640080"/>
          </a:xfrm>
          <a:prstGeom prst="rect">
            <a:avLst/>
          </a:prstGeom>
          <a:noFill/>
          <a:ln/>
        </p:spPr>
        <p:txBody>
          <a:bodyPr wrap="square" lIns="0" tIns="0" rIns="0" bIns="0" rtlCol="0" anchor="ctr"/>
          <a:lstStyle/>
          <a:p>
            <a:pPr marL="0" indent="0">
              <a:buNone/>
            </a:pPr>
            <a:r>
              <a:rPr lang="en-US" sz="1050" i="1" dirty="0">
                <a:solidFill>
                  <a:srgbClr val="0E7C86"/>
                </a:solidFill>
                <a:latin typeface="Calibri" pitchFamily="34" charset="0"/>
                <a:ea typeface="Calibri" pitchFamily="34" charset="-122"/>
                <a:cs typeface="Calibri" pitchFamily="34" charset="-120"/>
              </a:rPr>
              <a:t>Windows BSOD — stops crash spreading</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1B2A"/>
          </a:solidFill>
          <a:ln w="12700">
            <a:solidFill>
              <a:srgbClr val="0D1B2A"/>
            </a:solidFill>
            <a:prstDash val="solid"/>
          </a:ln>
        </p:spPr>
      </p:sp>
      <p:sp>
        <p:nvSpPr>
          <p:cNvPr id="3" name="Text 1"/>
          <p:cNvSpPr/>
          <p:nvPr/>
        </p:nvSpPr>
        <p:spPr>
          <a:xfrm>
            <a:off x="365760" y="164592"/>
            <a:ext cx="8412480" cy="502920"/>
          </a:xfrm>
          <a:prstGeom prst="rect">
            <a:avLst/>
          </a:prstGeom>
          <a:noFill/>
          <a:ln/>
        </p:spPr>
        <p:txBody>
          <a:bodyPr wrap="square" lIns="0" tIns="0" rIns="0" bIns="0" rtlCol="0" anchor="ctr"/>
          <a:lstStyle/>
          <a:p>
            <a:pPr marL="0" indent="0">
              <a:buNone/>
            </a:pPr>
            <a:r>
              <a:rPr lang="en-US" sz="3000" b="1" dirty="0">
                <a:solidFill>
                  <a:srgbClr val="0D1B2A"/>
                </a:solidFill>
                <a:latin typeface="Cambria" pitchFamily="34" charset="0"/>
                <a:ea typeface="Cambria" pitchFamily="34" charset="-122"/>
                <a:cs typeface="Cambria" pitchFamily="34" charset="-120"/>
              </a:rPr>
              <a:t>OS Types — Quick Comparison</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274320" y="777240"/>
          <a:ext cx="8595360" cy="3657600"/>
        </p:xfrm>
        <a:graphic>
          <a:graphicData uri="http://schemas.openxmlformats.org/drawingml/2006/table">
            <a:tbl>
              <a:tblPr/>
              <a:tblGrid>
                <a:gridCol w="201168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2560320">
                  <a:extLst>
                    <a:ext uri="{9D8B030D-6E8A-4147-A177-3AD203B41FA5}">
                      <a16:colId xmlns:a16="http://schemas.microsoft.com/office/drawing/2014/main" val="20003"/>
                    </a:ext>
                  </a:extLst>
                </a:gridCol>
              </a:tblGrid>
              <a:tr h="457200">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OS Type</a:t>
                      </a:r>
                      <a:endParaRPr lang="en-US" sz="13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2A"/>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User Interaction</a:t>
                      </a:r>
                      <a:endParaRPr lang="en-US" sz="13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2A"/>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Response Time</a:t>
                      </a:r>
                      <a:endParaRPr lang="en-US" sz="13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2A"/>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Key Example</a:t>
                      </a:r>
                      <a:endParaRPr lang="en-US" sz="13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2A"/>
                    </a:solidFill>
                  </a:tcPr>
                </a:tc>
                <a:extLst>
                  <a:ext uri="{0D108BD9-81ED-4DB2-BD59-A6C34878D82A}">
                    <a16:rowId xmlns:a16="http://schemas.microsoft.com/office/drawing/2014/main" val="10000"/>
                  </a:ext>
                </a:extLst>
              </a:tr>
              <a:tr h="457200">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Batch OS</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None (offline)</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Slow</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Payroll processing</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Time-Sharing OS</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9FA"/>
                    </a:solidFill>
                  </a:tcPr>
                </a:tc>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High (multi-user)</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9FA"/>
                    </a:solidFill>
                  </a:tcPr>
                </a:tc>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Fast (ms)</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9FA"/>
                    </a:solidFill>
                  </a:tcPr>
                </a:tc>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University Linux server</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9FA"/>
                    </a:solidFill>
                  </a:tcPr>
                </a:tc>
                <a:extLst>
                  <a:ext uri="{0D108BD9-81ED-4DB2-BD59-A6C34878D82A}">
                    <a16:rowId xmlns:a16="http://schemas.microsoft.com/office/drawing/2014/main" val="10002"/>
                  </a:ext>
                </a:extLst>
              </a:tr>
              <a:tr h="457200">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Multiprocessing OS</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Medium</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Very Fast</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Database servers</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Real-Time OS (RTOS)</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9FA"/>
                    </a:solidFill>
                  </a:tcPr>
                </a:tc>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Minimal</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9FA"/>
                    </a:solidFill>
                  </a:tcPr>
                </a:tc>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Extremely Fast (μs)</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9FA"/>
                    </a:solidFill>
                  </a:tcPr>
                </a:tc>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Airbag, Pacemaker</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9FA"/>
                    </a:solidFill>
                  </a:tcPr>
                </a:tc>
                <a:extLst>
                  <a:ext uri="{0D108BD9-81ED-4DB2-BD59-A6C34878D82A}">
                    <a16:rowId xmlns:a16="http://schemas.microsoft.com/office/drawing/2014/main" val="10004"/>
                  </a:ext>
                </a:extLst>
              </a:tr>
              <a:tr h="457200">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Distributed OS</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High</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Depends on network</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Google Cloud, AWS</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Network OS</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9FA"/>
                    </a:solidFill>
                  </a:tcPr>
                </a:tc>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Medium</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9FA"/>
                    </a:solidFill>
                  </a:tcPr>
                </a:tc>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Medium</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9FA"/>
                    </a:solidFill>
                  </a:tcPr>
                </a:tc>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Windows Server</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9FA"/>
                    </a:solidFill>
                  </a:tcPr>
                </a:tc>
                <a:extLst>
                  <a:ext uri="{0D108BD9-81ED-4DB2-BD59-A6C34878D82A}">
                    <a16:rowId xmlns:a16="http://schemas.microsoft.com/office/drawing/2014/main" val="10006"/>
                  </a:ext>
                </a:extLst>
              </a:tr>
              <a:tr h="457200">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Mobile OS</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Touch/Voice</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Fast</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Android, iOS</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E7C86"/>
          </a:solidFill>
          <a:ln w="12700">
            <a:solidFill>
              <a:srgbClr val="0E7C86"/>
            </a:solidFill>
            <a:prstDash val="solid"/>
          </a:ln>
        </p:spPr>
      </p:sp>
      <p:sp>
        <p:nvSpPr>
          <p:cNvPr id="3" name="Text 1"/>
          <p:cNvSpPr/>
          <p:nvPr/>
        </p:nvSpPr>
        <p:spPr>
          <a:xfrm>
            <a:off x="457200" y="164592"/>
            <a:ext cx="8229600" cy="594360"/>
          </a:xfrm>
          <a:prstGeom prst="rect">
            <a:avLst/>
          </a:prstGeom>
          <a:noFill/>
          <a:ln/>
        </p:spPr>
        <p:txBody>
          <a:bodyPr wrap="square" lIns="0" tIns="0" rIns="0" bIns="0"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Unit 1 — Key Takeaways</a:t>
            </a:r>
            <a:endParaRPr lang="en-US" sz="3400" dirty="0"/>
          </a:p>
        </p:txBody>
      </p:sp>
      <p:sp>
        <p:nvSpPr>
          <p:cNvPr id="4" name="Shape 2"/>
          <p:cNvSpPr/>
          <p:nvPr/>
        </p:nvSpPr>
        <p:spPr>
          <a:xfrm>
            <a:off x="365760" y="1033272"/>
            <a:ext cx="457200" cy="457200"/>
          </a:xfrm>
          <a:prstGeom prst="ellipse">
            <a:avLst/>
          </a:prstGeom>
          <a:solidFill>
            <a:srgbClr val="0E7C86"/>
          </a:solidFill>
          <a:ln w="12700">
            <a:solidFill>
              <a:srgbClr val="0E7C86"/>
            </a:solidFill>
            <a:prstDash val="solid"/>
          </a:ln>
        </p:spPr>
      </p:sp>
      <p:sp>
        <p:nvSpPr>
          <p:cNvPr id="5" name="Text 3"/>
          <p:cNvSpPr/>
          <p:nvPr/>
        </p:nvSpPr>
        <p:spPr>
          <a:xfrm>
            <a:off x="365760" y="1051560"/>
            <a:ext cx="457200" cy="41148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p:nvPr/>
        </p:nvSpPr>
        <p:spPr>
          <a:xfrm>
            <a:off x="960120" y="960120"/>
            <a:ext cx="7772400" cy="59436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OS is the bridge between hardware and users/applications</a:t>
            </a:r>
            <a:endParaRPr lang="en-US" sz="1500" dirty="0"/>
          </a:p>
        </p:txBody>
      </p:sp>
      <p:sp>
        <p:nvSpPr>
          <p:cNvPr id="7" name="Shape 5"/>
          <p:cNvSpPr/>
          <p:nvPr/>
        </p:nvSpPr>
        <p:spPr>
          <a:xfrm>
            <a:off x="365760" y="1783080"/>
            <a:ext cx="457200" cy="457200"/>
          </a:xfrm>
          <a:prstGeom prst="ellipse">
            <a:avLst/>
          </a:prstGeom>
          <a:solidFill>
            <a:srgbClr val="0E7C86"/>
          </a:solidFill>
          <a:ln w="12700">
            <a:solidFill>
              <a:srgbClr val="0E7C86"/>
            </a:solidFill>
            <a:prstDash val="solid"/>
          </a:ln>
        </p:spPr>
      </p:sp>
      <p:sp>
        <p:nvSpPr>
          <p:cNvPr id="8" name="Text 6"/>
          <p:cNvSpPr/>
          <p:nvPr/>
        </p:nvSpPr>
        <p:spPr>
          <a:xfrm>
            <a:off x="365760" y="1801368"/>
            <a:ext cx="457200" cy="41148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9" name="Text 7"/>
          <p:cNvSpPr/>
          <p:nvPr/>
        </p:nvSpPr>
        <p:spPr>
          <a:xfrm>
            <a:off x="960120" y="1709928"/>
            <a:ext cx="7772400" cy="59436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4 generations: Vacuum Tubes → Transistors → ICs → Personal Computers</a:t>
            </a:r>
            <a:endParaRPr lang="en-US" sz="1500" dirty="0"/>
          </a:p>
        </p:txBody>
      </p:sp>
      <p:sp>
        <p:nvSpPr>
          <p:cNvPr id="10" name="Shape 8"/>
          <p:cNvSpPr/>
          <p:nvPr/>
        </p:nvSpPr>
        <p:spPr>
          <a:xfrm>
            <a:off x="365760" y="2532888"/>
            <a:ext cx="457200" cy="457200"/>
          </a:xfrm>
          <a:prstGeom prst="ellipse">
            <a:avLst/>
          </a:prstGeom>
          <a:solidFill>
            <a:srgbClr val="0E7C86"/>
          </a:solidFill>
          <a:ln w="12700">
            <a:solidFill>
              <a:srgbClr val="0E7C86"/>
            </a:solidFill>
            <a:prstDash val="solid"/>
          </a:ln>
        </p:spPr>
      </p:sp>
      <p:sp>
        <p:nvSpPr>
          <p:cNvPr id="11" name="Text 9"/>
          <p:cNvSpPr/>
          <p:nvPr/>
        </p:nvSpPr>
        <p:spPr>
          <a:xfrm>
            <a:off x="365760" y="2551176"/>
            <a:ext cx="457200" cy="41148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2" name="Text 10"/>
          <p:cNvSpPr/>
          <p:nvPr/>
        </p:nvSpPr>
        <p:spPr>
          <a:xfrm>
            <a:off x="960120" y="2459736"/>
            <a:ext cx="7772400" cy="59436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Two key objectives: Resource Manager + Extended Machine</a:t>
            </a:r>
            <a:endParaRPr lang="en-US" sz="1500" dirty="0"/>
          </a:p>
        </p:txBody>
      </p:sp>
      <p:sp>
        <p:nvSpPr>
          <p:cNvPr id="13" name="Shape 11"/>
          <p:cNvSpPr/>
          <p:nvPr/>
        </p:nvSpPr>
        <p:spPr>
          <a:xfrm>
            <a:off x="365760" y="3282696"/>
            <a:ext cx="457200" cy="457200"/>
          </a:xfrm>
          <a:prstGeom prst="ellipse">
            <a:avLst/>
          </a:prstGeom>
          <a:solidFill>
            <a:srgbClr val="0E7C86"/>
          </a:solidFill>
          <a:ln w="12700">
            <a:solidFill>
              <a:srgbClr val="0E7C86"/>
            </a:solidFill>
            <a:prstDash val="solid"/>
          </a:ln>
        </p:spPr>
      </p:sp>
      <p:sp>
        <p:nvSpPr>
          <p:cNvPr id="14" name="Text 12"/>
          <p:cNvSpPr/>
          <p:nvPr/>
        </p:nvSpPr>
        <p:spPr>
          <a:xfrm>
            <a:off x="365760" y="3300984"/>
            <a:ext cx="457200" cy="41148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5" name="Text 13"/>
          <p:cNvSpPr/>
          <p:nvPr/>
        </p:nvSpPr>
        <p:spPr>
          <a:xfrm>
            <a:off x="960120" y="3209544"/>
            <a:ext cx="7772400" cy="59436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7 types: Batch, Time-sharing, Multiprocessing, RTOS, Distributed, Network, Mobile</a:t>
            </a:r>
            <a:endParaRPr lang="en-US" sz="1500" dirty="0"/>
          </a:p>
        </p:txBody>
      </p:sp>
      <p:sp>
        <p:nvSpPr>
          <p:cNvPr id="16" name="Shape 14"/>
          <p:cNvSpPr/>
          <p:nvPr/>
        </p:nvSpPr>
        <p:spPr>
          <a:xfrm>
            <a:off x="365760" y="4032504"/>
            <a:ext cx="457200" cy="457200"/>
          </a:xfrm>
          <a:prstGeom prst="ellipse">
            <a:avLst/>
          </a:prstGeom>
          <a:solidFill>
            <a:srgbClr val="0E7C86"/>
          </a:solidFill>
          <a:ln w="12700">
            <a:solidFill>
              <a:srgbClr val="0E7C86"/>
            </a:solidFill>
            <a:prstDash val="solid"/>
          </a:ln>
        </p:spPr>
      </p:sp>
      <p:sp>
        <p:nvSpPr>
          <p:cNvPr id="17" name="Text 15"/>
          <p:cNvSpPr/>
          <p:nvPr/>
        </p:nvSpPr>
        <p:spPr>
          <a:xfrm>
            <a:off x="365760" y="4050792"/>
            <a:ext cx="457200" cy="41148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8" name="Text 16"/>
          <p:cNvSpPr/>
          <p:nvPr/>
        </p:nvSpPr>
        <p:spPr>
          <a:xfrm>
            <a:off x="960120" y="3959352"/>
            <a:ext cx="7772400" cy="59436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6 main functions: Process, Memory, File, I/O, Security, Error Handling</a:t>
            </a:r>
            <a:endParaRPr lang="en-US" sz="1500" dirty="0"/>
          </a:p>
        </p:txBody>
      </p:sp>
      <p:sp>
        <p:nvSpPr>
          <p:cNvPr id="19" name="Shape 17"/>
          <p:cNvSpPr/>
          <p:nvPr/>
        </p:nvSpPr>
        <p:spPr>
          <a:xfrm>
            <a:off x="457200" y="4572000"/>
            <a:ext cx="8229600" cy="457200"/>
          </a:xfrm>
          <a:prstGeom prst="roundRect">
            <a:avLst>
              <a:gd name="adj" fmla="val 16000"/>
            </a:avLst>
          </a:prstGeom>
          <a:solidFill>
            <a:srgbClr val="0E7C86"/>
          </a:solidFill>
          <a:ln/>
        </p:spPr>
      </p:sp>
      <p:sp>
        <p:nvSpPr>
          <p:cNvPr id="20" name="Text 18"/>
          <p:cNvSpPr/>
          <p:nvPr/>
        </p:nvSpPr>
        <p:spPr>
          <a:xfrm>
            <a:off x="457200" y="4608576"/>
            <a:ext cx="822960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  Next: Unit 2 — OS Structure (Kernel, Layers, Virtual Machines)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7C86"/>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2A"/>
          </a:solidFill>
          <a:ln w="12700">
            <a:solidFill>
              <a:srgbClr val="0D1B2A"/>
            </a:solidFill>
            <a:prstDash val="solid"/>
          </a:ln>
        </p:spPr>
      </p:sp>
      <p:sp>
        <p:nvSpPr>
          <p:cNvPr id="3" name="Text 1"/>
          <p:cNvSpPr/>
          <p:nvPr/>
        </p:nvSpPr>
        <p:spPr>
          <a:xfrm>
            <a:off x="457200" y="201168"/>
            <a:ext cx="8229600" cy="502920"/>
          </a:xfrm>
          <a:prstGeom prst="rect">
            <a:avLst/>
          </a:prstGeom>
          <a:noFill/>
          <a:ln/>
        </p:spPr>
        <p:txBody>
          <a:bodyPr wrap="square" lIns="0" tIns="0" rIns="0" bIns="0" rtlCol="0" anchor="ctr"/>
          <a:lstStyle/>
          <a:p>
            <a:pPr marL="0" indent="0" algn="ctr">
              <a:buNone/>
            </a:pPr>
            <a:r>
              <a:rPr lang="en-US" sz="1400" dirty="0">
                <a:solidFill>
                  <a:srgbClr val="94A3B8"/>
                </a:solidFill>
                <a:latin typeface="Calibri" pitchFamily="34" charset="0"/>
                <a:ea typeface="Calibri" pitchFamily="34" charset="-122"/>
                <a:cs typeface="Calibri" pitchFamily="34" charset="-120"/>
              </a:rPr>
              <a:t>CACS251 — Operating System  |  Unit 1</a:t>
            </a:r>
            <a:endParaRPr lang="en-US" sz="1400" dirty="0"/>
          </a:p>
        </p:txBody>
      </p:sp>
      <p:sp>
        <p:nvSpPr>
          <p:cNvPr id="4" name="Text 2"/>
          <p:cNvSpPr/>
          <p:nvPr/>
        </p:nvSpPr>
        <p:spPr>
          <a:xfrm>
            <a:off x="457200" y="1371600"/>
            <a:ext cx="8229600" cy="1097280"/>
          </a:xfrm>
          <a:prstGeom prst="rect">
            <a:avLst/>
          </a:prstGeom>
          <a:noFill/>
          <a:ln/>
        </p:spPr>
        <p:txBody>
          <a:bodyPr wrap="square" lIns="0" tIns="0" rIns="0" bIns="0" rtlCol="0" anchor="ctr"/>
          <a:lstStyle/>
          <a:p>
            <a:pPr marL="0" indent="0" algn="ctr">
              <a:buNone/>
            </a:pPr>
            <a:r>
              <a:rPr lang="en-US" sz="7200" b="1" dirty="0">
                <a:solidFill>
                  <a:srgbClr val="FFFFFF"/>
                </a:solidFill>
                <a:latin typeface="Cambria" pitchFamily="34" charset="0"/>
                <a:ea typeface="Cambria" pitchFamily="34" charset="-122"/>
                <a:cs typeface="Cambria" pitchFamily="34" charset="-120"/>
              </a:rPr>
              <a:t>Questions?</a:t>
            </a:r>
            <a:endParaRPr lang="en-US" sz="7200" dirty="0"/>
          </a:p>
        </p:txBody>
      </p:sp>
      <p:sp>
        <p:nvSpPr>
          <p:cNvPr id="5" name="Text 3"/>
          <p:cNvSpPr/>
          <p:nvPr/>
        </p:nvSpPr>
        <p:spPr>
          <a:xfrm>
            <a:off x="457200" y="2743200"/>
            <a:ext cx="8229600" cy="502920"/>
          </a:xfrm>
          <a:prstGeom prst="rect">
            <a:avLst/>
          </a:prstGeom>
          <a:noFill/>
          <a:ln/>
        </p:spPr>
        <p:txBody>
          <a:bodyPr wrap="square" lIns="0" tIns="0" rIns="0" bIns="0" rtlCol="0" anchor="ctr"/>
          <a:lstStyle/>
          <a:p>
            <a:pPr marL="0" indent="0" algn="ctr">
              <a:buNone/>
            </a:pPr>
            <a:r>
              <a:rPr lang="en-US" sz="2000" i="1" dirty="0">
                <a:solidFill>
                  <a:srgbClr val="C8F0F5"/>
                </a:solidFill>
                <a:latin typeface="Calibri" pitchFamily="34" charset="0"/>
                <a:ea typeface="Calibri" pitchFamily="34" charset="-122"/>
                <a:cs typeface="Calibri" pitchFamily="34" charset="-120"/>
              </a:rPr>
              <a:t>Good questions lead to great understanding!</a:t>
            </a:r>
            <a:endParaRPr lang="en-US" sz="2000" dirty="0"/>
          </a:p>
        </p:txBody>
      </p:sp>
      <p:sp>
        <p:nvSpPr>
          <p:cNvPr id="6" name="Text 4"/>
          <p:cNvSpPr/>
          <p:nvPr/>
        </p:nvSpPr>
        <p:spPr>
          <a:xfrm>
            <a:off x="1371600" y="3566160"/>
            <a:ext cx="6400800" cy="365760"/>
          </a:xfrm>
          <a:prstGeom prst="rect">
            <a:avLst/>
          </a:prstGeom>
          <a:noFill/>
          <a:ln/>
        </p:spPr>
        <p:txBody>
          <a:bodyPr wrap="square" lIns="0" tIns="0" rIns="0" bIns="0" rtlCol="0" anchor="ctr"/>
          <a:lstStyle/>
          <a:p>
            <a:pPr marL="0" indent="0" algn="ctr">
              <a:buNone/>
            </a:pPr>
            <a:r>
              <a:rPr lang="en-US" sz="1300" dirty="0">
                <a:solidFill>
                  <a:srgbClr val="C8F0F5"/>
                </a:solidFill>
                <a:latin typeface="Calibri" pitchFamily="34" charset="0"/>
                <a:ea typeface="Calibri" pitchFamily="34" charset="-122"/>
                <a:cs typeface="Calibri" pitchFamily="34" charset="-120"/>
              </a:rPr>
              <a:t>📚  Tanenbaum — Modern Operating System 6/e (PHI, 2011/12)</a:t>
            </a:r>
            <a:endParaRPr lang="en-US" sz="1300" dirty="0"/>
          </a:p>
        </p:txBody>
      </p:sp>
      <p:sp>
        <p:nvSpPr>
          <p:cNvPr id="7" name="Text 5"/>
          <p:cNvSpPr/>
          <p:nvPr/>
        </p:nvSpPr>
        <p:spPr>
          <a:xfrm>
            <a:off x="1371600" y="4005072"/>
            <a:ext cx="6400800" cy="365760"/>
          </a:xfrm>
          <a:prstGeom prst="rect">
            <a:avLst/>
          </a:prstGeom>
          <a:noFill/>
          <a:ln/>
        </p:spPr>
        <p:txBody>
          <a:bodyPr wrap="square" lIns="0" tIns="0" rIns="0" bIns="0" rtlCol="0" anchor="ctr"/>
          <a:lstStyle/>
          <a:p>
            <a:pPr marL="0" indent="0" algn="ctr">
              <a:buNone/>
            </a:pPr>
            <a:r>
              <a:rPr lang="en-US" sz="1300" dirty="0">
                <a:solidFill>
                  <a:srgbClr val="C8F0F5"/>
                </a:solidFill>
                <a:latin typeface="Calibri" pitchFamily="34" charset="0"/>
                <a:ea typeface="Calibri" pitchFamily="34" charset="-122"/>
                <a:cs typeface="Calibri" pitchFamily="34" charset="-120"/>
              </a:rPr>
              <a:t>📚  Silberschatz, Galvin — Operating System Concepts 8/e (Wiley India, 2014)</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1427</Words>
  <Application>Microsoft Macintosh PowerPoint</Application>
  <PresentationFormat>On-screen Show (16:9)</PresentationFormat>
  <Paragraphs>200</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Operating System</dc:title>
  <dc:subject>PptxGenJS Presentation</dc:subject>
  <dc:creator>CACS251</dc:creator>
  <cp:lastModifiedBy>Mukesh Karn</cp:lastModifiedBy>
  <cp:revision>2</cp:revision>
  <dcterms:created xsi:type="dcterms:W3CDTF">2026-06-11T08:31:58Z</dcterms:created>
  <dcterms:modified xsi:type="dcterms:W3CDTF">2026-06-11T17:52:56Z</dcterms:modified>
</cp:coreProperties>
</file>