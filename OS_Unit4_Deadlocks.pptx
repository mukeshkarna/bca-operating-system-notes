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question: 'Have you ever seen two people in a corridor both stepping the same way, blocking each other?' That's a deadlock! Unit 4 is 4 hours — compact but exam-heavy. The Banker's Algorithm numerical is almost always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traffic gridlock is the best analogy — everyone has drawn this situation in life. Database deadlock example is very practical for CS students. Key point: deadlock = CIRCULAR WAIT where nobody can move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preemptable vs non-preemptable. Ask students: 'Can the OS pull the printer mid-job?' No! That's why deadlocks involving printers are serious. Compare: 'Can the OS take CPU mid-execution?' Yes — that's Round Robin! So CPU deadlocks are easy to resolve; printer deadlocks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ALL FOUR must be present simultaneously for deadlock. Removing even ONE condition prevents deadlock. That's the idea behind prevention. The mnemonic M-H-N-C helps students remember in exams. Draw the 4-step circular wait diagram on the board for condition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Case 1 and Case 2 on the board step by step. For Case 2, trace the cycle P1→R1→P2→R2→P1 — students can 'feel' the deadlock. Emphasize: for SINGLE-instance resources, any cycle = definite deadlock. For MULTIPLE-instance resources, you need Banker's algorithm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Ostrich Algorithm is surprising to students — 'You mean the OS just IGNORES it?' Yes! Most desktop systems do. A kernel panic or BSOD is essentially the OS finally giving up on a serious problem. The 4 methods form a spectrum: most restrictive (prevention) → most permissive (ostrich).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commonly asked prevention question: 'How does resource ordering prevent circular wait?' Draw it: P1 can request R1(1) then R2(2). P2 can also request R1(1) then R2(2). But neither can hold R2 and request R1 — so the cycle cannot form! This is the cleanest and most practical prevention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Banker's Algorithm is THE most important numerical in this unit. The key insight: we don't just grant any request — we SIMULATE it first and check if the system remains safe. If granting would lead to an unsafe state, we make the process wait even if resources are physically available. Dijkstra named it after bankers who do exactly this with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step by step on the board. Students often get confused about which process to pick — remind them: at each step, look for ANY process whose Need ≤ current Work (available). There may be multiple eligible processes. The order you pick them gives the safe sequence. Practice tip: practice 3+ numericals before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is practically important for databases. MySQL/PostgreSQL automatically detect and kill the 'cheapest' transaction in a deadlock — the victim is rolled back and must retry. Ask students: 'Have you ever seen a database error about a deadlock retry?' That's exactly this recovery mechanism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summary. Stress to students: Banker's Algorithm numerical is ALWAYS in the exam. Key formula: Need = Max − Allocation. For safe sequence: at each step find process where Need ≤ Work, run it, add its Allocation to Work. Preview Unit 5 — Memory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student question: 'Why doesn't the OS always use Banker's Algorithm?' — It requires processes to declare max resource needs upfront (often impossible), and it's slow for large systems. Real OS use a mix: resource ordering (prevention) + detection + occasional ostrich approach. Next unit: Memory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0A"/>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71C1C"/>
          </a:solidFill>
          <a:ln w="12700">
            <a:solidFill>
              <a:srgbClr val="B71C1C"/>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CACS251 — Operating System  |  Unit 4  |  4 Hrs.</a:t>
            </a:r>
            <a:endParaRPr lang="en-US" sz="1400" dirty="0"/>
          </a:p>
        </p:txBody>
      </p:sp>
      <p:sp>
        <p:nvSpPr>
          <p:cNvPr id="4" name="Text 2"/>
          <p:cNvSpPr/>
          <p:nvPr/>
        </p:nvSpPr>
        <p:spPr>
          <a:xfrm>
            <a:off x="457200" y="1051560"/>
            <a:ext cx="8229600" cy="169164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Deadlocks</a:t>
            </a:r>
            <a:endParaRPr lang="en-US" sz="7200" dirty="0"/>
          </a:p>
        </p:txBody>
      </p:sp>
      <p:sp>
        <p:nvSpPr>
          <p:cNvPr id="5" name="Text 3"/>
          <p:cNvSpPr/>
          <p:nvPr/>
        </p:nvSpPr>
        <p:spPr>
          <a:xfrm>
            <a:off x="457200" y="2834640"/>
            <a:ext cx="8229600" cy="502920"/>
          </a:xfrm>
          <a:prstGeom prst="rect">
            <a:avLst/>
          </a:prstGeom>
          <a:noFill/>
          <a:ln/>
        </p:spPr>
        <p:txBody>
          <a:bodyPr wrap="square" lIns="0" tIns="0" rIns="0" bIns="0" rtlCol="0" anchor="ctr"/>
          <a:lstStyle/>
          <a:p>
            <a:pPr algn="ctr" indent="0" marL="0">
              <a:buNone/>
            </a:pPr>
            <a:r>
              <a:rPr lang="en-US" sz="2200" i="1" dirty="0">
                <a:solidFill>
                  <a:srgbClr val="F9A825"/>
                </a:solidFill>
                <a:latin typeface="Calibri" pitchFamily="34" charset="0"/>
                <a:ea typeface="Calibri" pitchFamily="34" charset="-122"/>
                <a:cs typeface="Calibri" pitchFamily="34" charset="-120"/>
              </a:rPr>
              <a:t>When Processes Wait Forever…</a:t>
            </a:r>
            <a:endParaRPr lang="en-US" sz="2200" dirty="0"/>
          </a:p>
        </p:txBody>
      </p:sp>
      <p:sp>
        <p:nvSpPr>
          <p:cNvPr id="6" name="Shape 4"/>
          <p:cNvSpPr/>
          <p:nvPr/>
        </p:nvSpPr>
        <p:spPr>
          <a:xfrm>
            <a:off x="365760" y="3547872"/>
            <a:ext cx="1920240" cy="1298448"/>
          </a:xfrm>
          <a:prstGeom prst="roundRect">
            <a:avLst>
              <a:gd name="adj" fmla="val 7042"/>
            </a:avLst>
          </a:prstGeom>
          <a:solidFill>
            <a:srgbClr val="2C1010"/>
          </a:solidFill>
          <a:ln/>
          <a:effectLst>
            <a:outerShdw sx="100000" sy="100000" kx="0" ky="0" algn="bl" rotWithShape="0" blurRad="101600" dist="38100" dir="2700000">
              <a:srgbClr val="000000">
                <a:alpha val="15000"/>
              </a:srgbClr>
            </a:outerShdw>
          </a:effectLst>
        </p:spPr>
      </p:sp>
      <p:sp>
        <p:nvSpPr>
          <p:cNvPr id="7" name="Text 5"/>
          <p:cNvSpPr/>
          <p:nvPr/>
        </p:nvSpPr>
        <p:spPr>
          <a:xfrm>
            <a:off x="365760" y="3611880"/>
            <a:ext cx="1920240" cy="475488"/>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365760" y="4114800"/>
            <a:ext cx="1920240" cy="658368"/>
          </a:xfrm>
          <a:prstGeom prst="rect">
            <a:avLst/>
          </a:prstGeom>
          <a:noFill/>
          <a:ln/>
        </p:spPr>
        <p:txBody>
          <a:bodyPr wrap="square" lIns="0" tIns="0" rIns="0" bIns="0" rtlCol="0" anchor="ctr"/>
          <a:lstStyle/>
          <a:p>
            <a:pPr algn="ctr" indent="0" marL="0">
              <a:buNone/>
            </a:pPr>
            <a:r>
              <a:rPr lang="en-US" sz="1300" b="1" dirty="0">
                <a:solidFill>
                  <a:srgbClr val="F9A825"/>
                </a:solidFill>
                <a:latin typeface="Calibri" pitchFamily="34" charset="0"/>
                <a:ea typeface="Calibri" pitchFamily="34" charset="-122"/>
                <a:cs typeface="Calibri" pitchFamily="34" charset="-120"/>
              </a:rPr>
              <a:t>Conditions</a:t>
            </a:r>
            <a:endParaRPr lang="en-US" sz="1300" dirty="0"/>
          </a:p>
        </p:txBody>
      </p:sp>
      <p:sp>
        <p:nvSpPr>
          <p:cNvPr id="9" name="Shape 7"/>
          <p:cNvSpPr/>
          <p:nvPr/>
        </p:nvSpPr>
        <p:spPr>
          <a:xfrm>
            <a:off x="2468880" y="3547872"/>
            <a:ext cx="1920240" cy="1298448"/>
          </a:xfrm>
          <a:prstGeom prst="roundRect">
            <a:avLst>
              <a:gd name="adj" fmla="val 7042"/>
            </a:avLst>
          </a:prstGeom>
          <a:solidFill>
            <a:srgbClr val="2C1010"/>
          </a:solidFill>
          <a:ln/>
          <a:effectLst>
            <a:outerShdw sx="100000" sy="100000" kx="0" ky="0" algn="bl" rotWithShape="0" blurRad="101600" dist="38100" dir="2700000">
              <a:srgbClr val="000000">
                <a:alpha val="15000"/>
              </a:srgbClr>
            </a:outerShdw>
          </a:effectLst>
        </p:spPr>
      </p:sp>
      <p:sp>
        <p:nvSpPr>
          <p:cNvPr id="10" name="Text 8"/>
          <p:cNvSpPr/>
          <p:nvPr/>
        </p:nvSpPr>
        <p:spPr>
          <a:xfrm>
            <a:off x="2468880" y="3611880"/>
            <a:ext cx="1920240" cy="475488"/>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2468880" y="4114800"/>
            <a:ext cx="1920240" cy="658368"/>
          </a:xfrm>
          <a:prstGeom prst="rect">
            <a:avLst/>
          </a:prstGeom>
          <a:noFill/>
          <a:ln/>
        </p:spPr>
        <p:txBody>
          <a:bodyPr wrap="square" lIns="0" tIns="0" rIns="0" bIns="0" rtlCol="0" anchor="ctr"/>
          <a:lstStyle/>
          <a:p>
            <a:pPr algn="ctr" indent="0" marL="0">
              <a:buNone/>
            </a:pPr>
            <a:r>
              <a:rPr lang="en-US" sz="1300" b="1" dirty="0">
                <a:solidFill>
                  <a:srgbClr val="F9A825"/>
                </a:solidFill>
                <a:latin typeface="Calibri" pitchFamily="34" charset="0"/>
                <a:ea typeface="Calibri" pitchFamily="34" charset="-122"/>
                <a:cs typeface="Calibri" pitchFamily="34" charset="-120"/>
              </a:rPr>
              <a:t>Modeling (RAG)</a:t>
            </a:r>
            <a:endParaRPr lang="en-US" sz="1300" dirty="0"/>
          </a:p>
        </p:txBody>
      </p:sp>
      <p:sp>
        <p:nvSpPr>
          <p:cNvPr id="12" name="Shape 10"/>
          <p:cNvSpPr/>
          <p:nvPr/>
        </p:nvSpPr>
        <p:spPr>
          <a:xfrm>
            <a:off x="4572000" y="3547872"/>
            <a:ext cx="1920240" cy="1298448"/>
          </a:xfrm>
          <a:prstGeom prst="roundRect">
            <a:avLst>
              <a:gd name="adj" fmla="val 7042"/>
            </a:avLst>
          </a:prstGeom>
          <a:solidFill>
            <a:srgbClr val="2C1010"/>
          </a:solidFill>
          <a:ln/>
          <a:effectLst>
            <a:outerShdw sx="100000" sy="100000" kx="0" ky="0" algn="bl" rotWithShape="0" blurRad="101600" dist="38100" dir="2700000">
              <a:srgbClr val="000000">
                <a:alpha val="15000"/>
              </a:srgbClr>
            </a:outerShdw>
          </a:effectLst>
        </p:spPr>
      </p:sp>
      <p:sp>
        <p:nvSpPr>
          <p:cNvPr id="13" name="Text 11"/>
          <p:cNvSpPr/>
          <p:nvPr/>
        </p:nvSpPr>
        <p:spPr>
          <a:xfrm>
            <a:off x="4572000" y="3611880"/>
            <a:ext cx="1920240" cy="475488"/>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4572000" y="4114800"/>
            <a:ext cx="1920240" cy="658368"/>
          </a:xfrm>
          <a:prstGeom prst="rect">
            <a:avLst/>
          </a:prstGeom>
          <a:noFill/>
          <a:ln/>
        </p:spPr>
        <p:txBody>
          <a:bodyPr wrap="square" lIns="0" tIns="0" rIns="0" bIns="0" rtlCol="0" anchor="ctr"/>
          <a:lstStyle/>
          <a:p>
            <a:pPr algn="ctr" indent="0" marL="0">
              <a:buNone/>
            </a:pPr>
            <a:r>
              <a:rPr lang="en-US" sz="1300" b="1" dirty="0">
                <a:solidFill>
                  <a:srgbClr val="F9A825"/>
                </a:solidFill>
                <a:latin typeface="Calibri" pitchFamily="34" charset="0"/>
                <a:ea typeface="Calibri" pitchFamily="34" charset="-122"/>
                <a:cs typeface="Calibri" pitchFamily="34" charset="-120"/>
              </a:rPr>
              <a:t>Prevention &amp;</a:t>
            </a:r>
            <a:endParaRPr lang="en-US" sz="1300" dirty="0"/>
          </a:p>
          <a:p>
            <a:pPr algn="ctr" indent="0" marL="0">
              <a:buNone/>
            </a:pPr>
            <a:r>
              <a:rPr lang="en-US" sz="1300" b="1" dirty="0">
                <a:solidFill>
                  <a:srgbClr val="F9A825"/>
                </a:solidFill>
                <a:latin typeface="Calibri" pitchFamily="34" charset="0"/>
                <a:ea typeface="Calibri" pitchFamily="34" charset="-122"/>
                <a:cs typeface="Calibri" pitchFamily="34" charset="-120"/>
              </a:rPr>
              <a:t>Avoidance</a:t>
            </a:r>
            <a:endParaRPr lang="en-US" sz="1300" dirty="0"/>
          </a:p>
        </p:txBody>
      </p:sp>
      <p:sp>
        <p:nvSpPr>
          <p:cNvPr id="15" name="Shape 13"/>
          <p:cNvSpPr/>
          <p:nvPr/>
        </p:nvSpPr>
        <p:spPr>
          <a:xfrm>
            <a:off x="6675120" y="3547872"/>
            <a:ext cx="1920240" cy="1298448"/>
          </a:xfrm>
          <a:prstGeom prst="roundRect">
            <a:avLst>
              <a:gd name="adj" fmla="val 7042"/>
            </a:avLst>
          </a:prstGeom>
          <a:solidFill>
            <a:srgbClr val="2C1010"/>
          </a:solidFill>
          <a:ln/>
          <a:effectLst>
            <a:outerShdw sx="100000" sy="100000" kx="0" ky="0" algn="bl" rotWithShape="0" blurRad="101600" dist="38100" dir="2700000">
              <a:srgbClr val="000000">
                <a:alpha val="15000"/>
              </a:srgbClr>
            </a:outerShdw>
          </a:effectLst>
        </p:spPr>
      </p:sp>
      <p:sp>
        <p:nvSpPr>
          <p:cNvPr id="16" name="Text 14"/>
          <p:cNvSpPr/>
          <p:nvPr/>
        </p:nvSpPr>
        <p:spPr>
          <a:xfrm>
            <a:off x="6675120" y="3611880"/>
            <a:ext cx="1920240" cy="475488"/>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6675120" y="4114800"/>
            <a:ext cx="1920240" cy="658368"/>
          </a:xfrm>
          <a:prstGeom prst="rect">
            <a:avLst/>
          </a:prstGeom>
          <a:noFill/>
          <a:ln/>
        </p:spPr>
        <p:txBody>
          <a:bodyPr wrap="square" lIns="0" tIns="0" rIns="0" bIns="0" rtlCol="0" anchor="ctr"/>
          <a:lstStyle/>
          <a:p>
            <a:pPr algn="ctr" indent="0" marL="0">
              <a:buNone/>
            </a:pPr>
            <a:r>
              <a:rPr lang="en-US" sz="1300" b="1" dirty="0">
                <a:solidFill>
                  <a:srgbClr val="F9A825"/>
                </a:solidFill>
                <a:latin typeface="Calibri" pitchFamily="34" charset="0"/>
                <a:ea typeface="Calibri" pitchFamily="34" charset="-122"/>
                <a:cs typeface="Calibri" pitchFamily="34" charset="-120"/>
              </a:rPr>
              <a:t>Detection &amp;</a:t>
            </a:r>
            <a:endParaRPr lang="en-US" sz="1300" dirty="0"/>
          </a:p>
          <a:p>
            <a:pPr algn="ctr" indent="0" marL="0">
              <a:buNone/>
            </a:pPr>
            <a:r>
              <a:rPr lang="en-US" sz="1300" b="1" dirty="0">
                <a:solidFill>
                  <a:srgbClr val="F9A825"/>
                </a:solidFill>
                <a:latin typeface="Calibri" pitchFamily="34" charset="0"/>
                <a:ea typeface="Calibri" pitchFamily="34" charset="-122"/>
                <a:cs typeface="Calibri" pitchFamily="34" charset="-120"/>
              </a:rPr>
              <a:t>Recovery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71C1C"/>
          </a:solidFill>
          <a:ln w="12700">
            <a:solidFill>
              <a:srgbClr val="B71C1C"/>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400" b="1" dirty="0">
                <a:solidFill>
                  <a:srgbClr val="1A0A0A"/>
                </a:solidFill>
                <a:latin typeface="Cambria" pitchFamily="34" charset="0"/>
                <a:ea typeface="Cambria" pitchFamily="34" charset="-122"/>
                <a:cs typeface="Cambria" pitchFamily="34" charset="-120"/>
              </a:rPr>
              <a:t>What is a Deadlock?</a:t>
            </a:r>
            <a:endParaRPr lang="en-US" sz="3400" dirty="0"/>
          </a:p>
        </p:txBody>
      </p:sp>
      <p:sp>
        <p:nvSpPr>
          <p:cNvPr id="4" name="Shape 2"/>
          <p:cNvSpPr/>
          <p:nvPr/>
        </p:nvSpPr>
        <p:spPr>
          <a:xfrm>
            <a:off x="320040" y="841248"/>
            <a:ext cx="8503920" cy="804672"/>
          </a:xfrm>
          <a:prstGeom prst="roundRect">
            <a:avLst>
              <a:gd name="adj" fmla="val 11364"/>
            </a:avLst>
          </a:prstGeom>
          <a:solidFill>
            <a:srgbClr val="FFEBEE"/>
          </a:solidFill>
          <a:ln w="25400">
            <a:solidFill>
              <a:srgbClr val="B71C1C"/>
            </a:solidFill>
            <a:prstDash val="solid"/>
          </a:ln>
        </p:spPr>
      </p:sp>
      <p:sp>
        <p:nvSpPr>
          <p:cNvPr id="5" name="Text 3"/>
          <p:cNvSpPr/>
          <p:nvPr/>
        </p:nvSpPr>
        <p:spPr>
          <a:xfrm>
            <a:off x="502920" y="896112"/>
            <a:ext cx="8138160" cy="676656"/>
          </a:xfrm>
          <a:prstGeom prst="rect">
            <a:avLst/>
          </a:prstGeom>
          <a:noFill/>
          <a:ln/>
        </p:spPr>
        <p:txBody>
          <a:bodyPr wrap="square" rtlCol="0" anchor="ctr"/>
          <a:lstStyle/>
          <a:p>
            <a:pPr algn="ctr" indent="0" marL="0">
              <a:buNone/>
            </a:pPr>
            <a:r>
              <a:rPr lang="en-US" sz="1500" dirty="0">
                <a:solidFill>
                  <a:srgbClr val="1C0A0A"/>
                </a:solidFill>
                <a:latin typeface="Calibri" pitchFamily="34" charset="0"/>
                <a:ea typeface="Calibri" pitchFamily="34" charset="-122"/>
                <a:cs typeface="Calibri" pitchFamily="34" charset="-120"/>
              </a:rPr>
              <a:t>A deadlock is a situation where a set of processes are permanently blocked, each waiting for a resource held by another process in the set — and none can ever proceed.</a:t>
            </a:r>
            <a:endParaRPr lang="en-US" sz="1500" dirty="0"/>
          </a:p>
        </p:txBody>
      </p:sp>
      <p:sp>
        <p:nvSpPr>
          <p:cNvPr id="6" name="Shape 4"/>
          <p:cNvSpPr/>
          <p:nvPr/>
        </p:nvSpPr>
        <p:spPr>
          <a:xfrm>
            <a:off x="914400" y="1828800"/>
            <a:ext cx="1463040" cy="658368"/>
          </a:xfrm>
          <a:prstGeom prst="ellipse">
            <a:avLst/>
          </a:prstGeom>
          <a:solidFill>
            <a:srgbClr val="1565C0"/>
          </a:solidFill>
          <a:ln w="12700">
            <a:solidFill>
              <a:srgbClr val="1565C0"/>
            </a:solidFill>
            <a:prstDash val="solid"/>
          </a:ln>
          <a:effectLst>
            <a:outerShdw sx="100000" sy="100000" kx="0" ky="0" algn="bl" rotWithShape="0" blurRad="63500" dist="25400" dir="2700000">
              <a:srgbClr val="000000">
                <a:alpha val="10000"/>
              </a:srgbClr>
            </a:outerShdw>
          </a:effectLst>
        </p:spPr>
      </p:sp>
      <p:sp>
        <p:nvSpPr>
          <p:cNvPr id="7" name="Text 5"/>
          <p:cNvSpPr/>
          <p:nvPr/>
        </p:nvSpPr>
        <p:spPr>
          <a:xfrm>
            <a:off x="914400" y="1920240"/>
            <a:ext cx="14630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 A</a:t>
            </a:r>
            <a:endParaRPr lang="en-US" sz="1300" dirty="0"/>
          </a:p>
        </p:txBody>
      </p:sp>
      <p:sp>
        <p:nvSpPr>
          <p:cNvPr id="8" name="Shape 6"/>
          <p:cNvSpPr/>
          <p:nvPr/>
        </p:nvSpPr>
        <p:spPr>
          <a:xfrm>
            <a:off x="914400" y="3520440"/>
            <a:ext cx="1463040" cy="658368"/>
          </a:xfrm>
          <a:prstGeom prst="ellipse">
            <a:avLst/>
          </a:prstGeom>
          <a:solidFill>
            <a:srgbClr val="6A1B9A"/>
          </a:solidFill>
          <a:ln w="12700">
            <a:solidFill>
              <a:srgbClr val="6A1B9A"/>
            </a:solidFill>
            <a:prstDash val="solid"/>
          </a:ln>
          <a:effectLst>
            <a:outerShdw sx="100000" sy="100000" kx="0" ky="0" algn="bl" rotWithShape="0" blurRad="63500" dist="25400" dir="2700000">
              <a:srgbClr val="000000">
                <a:alpha val="10000"/>
              </a:srgbClr>
            </a:outerShdw>
          </a:effectLst>
        </p:spPr>
      </p:sp>
      <p:sp>
        <p:nvSpPr>
          <p:cNvPr id="9" name="Text 7"/>
          <p:cNvSpPr/>
          <p:nvPr/>
        </p:nvSpPr>
        <p:spPr>
          <a:xfrm>
            <a:off x="914400" y="3611880"/>
            <a:ext cx="14630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 B</a:t>
            </a:r>
            <a:endParaRPr lang="en-US" sz="1300" dirty="0"/>
          </a:p>
        </p:txBody>
      </p:sp>
      <p:sp>
        <p:nvSpPr>
          <p:cNvPr id="10" name="Shape 8"/>
          <p:cNvSpPr/>
          <p:nvPr/>
        </p:nvSpPr>
        <p:spPr>
          <a:xfrm>
            <a:off x="3200400" y="1874520"/>
            <a:ext cx="1554480" cy="566928"/>
          </a:xfrm>
          <a:prstGeom prst="roundRect">
            <a:avLst>
              <a:gd name="adj" fmla="val 12903"/>
            </a:avLst>
          </a:prstGeom>
          <a:solidFill>
            <a:srgbClr val="F57C00"/>
          </a:solidFill>
          <a:ln/>
          <a:effectLst>
            <a:outerShdw sx="100000" sy="100000" kx="0" ky="0" algn="bl" rotWithShape="0" blurRad="63500" dist="25400" dir="2700000">
              <a:srgbClr val="000000">
                <a:alpha val="10000"/>
              </a:srgbClr>
            </a:outerShdw>
          </a:effectLst>
        </p:spPr>
      </p:sp>
      <p:sp>
        <p:nvSpPr>
          <p:cNvPr id="11" name="Text 9"/>
          <p:cNvSpPr/>
          <p:nvPr/>
        </p:nvSpPr>
        <p:spPr>
          <a:xfrm>
            <a:off x="3200400" y="1901952"/>
            <a:ext cx="155448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Resource 1</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(Printer)</a:t>
            </a:r>
            <a:endParaRPr lang="en-US" sz="1150" dirty="0"/>
          </a:p>
        </p:txBody>
      </p:sp>
      <p:sp>
        <p:nvSpPr>
          <p:cNvPr id="12" name="Shape 10"/>
          <p:cNvSpPr/>
          <p:nvPr/>
        </p:nvSpPr>
        <p:spPr>
          <a:xfrm>
            <a:off x="3200400" y="3566160"/>
            <a:ext cx="1554480" cy="566928"/>
          </a:xfrm>
          <a:prstGeom prst="roundRect">
            <a:avLst>
              <a:gd name="adj" fmla="val 12903"/>
            </a:avLst>
          </a:prstGeom>
          <a:solidFill>
            <a:srgbClr val="00695C"/>
          </a:solidFill>
          <a:ln/>
          <a:effectLst>
            <a:outerShdw sx="100000" sy="100000" kx="0" ky="0" algn="bl" rotWithShape="0" blurRad="63500" dist="25400" dir="2700000">
              <a:srgbClr val="000000">
                <a:alpha val="10000"/>
              </a:srgbClr>
            </a:outerShdw>
          </a:effectLst>
        </p:spPr>
      </p:sp>
      <p:sp>
        <p:nvSpPr>
          <p:cNvPr id="13" name="Text 11"/>
          <p:cNvSpPr/>
          <p:nvPr/>
        </p:nvSpPr>
        <p:spPr>
          <a:xfrm>
            <a:off x="3200400" y="3593592"/>
            <a:ext cx="155448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Resource 2</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(Scanner)</a:t>
            </a:r>
            <a:endParaRPr lang="en-US" sz="1150" dirty="0"/>
          </a:p>
        </p:txBody>
      </p:sp>
      <p:sp>
        <p:nvSpPr>
          <p:cNvPr id="14" name="Shape 12"/>
          <p:cNvSpPr/>
          <p:nvPr/>
        </p:nvSpPr>
        <p:spPr>
          <a:xfrm>
            <a:off x="2395728" y="2157984"/>
            <a:ext cx="786384" cy="0"/>
          </a:xfrm>
          <a:prstGeom prst="line">
            <a:avLst/>
          </a:prstGeom>
          <a:noFill/>
          <a:ln w="31750">
            <a:solidFill>
              <a:srgbClr val="F57C00"/>
            </a:solidFill>
            <a:prstDash val="solid"/>
          </a:ln>
        </p:spPr>
      </p:sp>
      <p:sp>
        <p:nvSpPr>
          <p:cNvPr id="15" name="Text 13"/>
          <p:cNvSpPr/>
          <p:nvPr/>
        </p:nvSpPr>
        <p:spPr>
          <a:xfrm>
            <a:off x="2423160" y="1920240"/>
            <a:ext cx="777240" cy="228600"/>
          </a:xfrm>
          <a:prstGeom prst="rect">
            <a:avLst/>
          </a:prstGeom>
          <a:noFill/>
          <a:ln/>
        </p:spPr>
        <p:txBody>
          <a:bodyPr wrap="square" lIns="0" tIns="0" rIns="0" bIns="0" rtlCol="0" anchor="ctr"/>
          <a:lstStyle/>
          <a:p>
            <a:pPr algn="ctr" indent="0" marL="0">
              <a:buNone/>
            </a:pPr>
            <a:r>
              <a:rPr lang="en-US" sz="1000" b="1" dirty="0">
                <a:solidFill>
                  <a:srgbClr val="F57C00"/>
                </a:solidFill>
                <a:latin typeface="Calibri" pitchFamily="34" charset="0"/>
                <a:ea typeface="Calibri" pitchFamily="34" charset="-122"/>
                <a:cs typeface="Calibri" pitchFamily="34" charset="-120"/>
              </a:rPr>
              <a:t>holds →</a:t>
            </a:r>
            <a:endParaRPr lang="en-US" sz="1000" dirty="0"/>
          </a:p>
        </p:txBody>
      </p:sp>
      <p:sp>
        <p:nvSpPr>
          <p:cNvPr id="16" name="Shape 14"/>
          <p:cNvSpPr/>
          <p:nvPr/>
        </p:nvSpPr>
        <p:spPr>
          <a:xfrm>
            <a:off x="2395728" y="3858768"/>
            <a:ext cx="786384" cy="0"/>
          </a:xfrm>
          <a:prstGeom prst="line">
            <a:avLst/>
          </a:prstGeom>
          <a:noFill/>
          <a:ln w="31750">
            <a:solidFill>
              <a:srgbClr val="00695C"/>
            </a:solidFill>
            <a:prstDash val="solid"/>
          </a:ln>
        </p:spPr>
      </p:sp>
      <p:sp>
        <p:nvSpPr>
          <p:cNvPr id="17" name="Text 15"/>
          <p:cNvSpPr/>
          <p:nvPr/>
        </p:nvSpPr>
        <p:spPr>
          <a:xfrm>
            <a:off x="2423160" y="3630168"/>
            <a:ext cx="777240" cy="228600"/>
          </a:xfrm>
          <a:prstGeom prst="rect">
            <a:avLst/>
          </a:prstGeom>
          <a:noFill/>
          <a:ln/>
        </p:spPr>
        <p:txBody>
          <a:bodyPr wrap="square" lIns="0" tIns="0" rIns="0" bIns="0" rtlCol="0" anchor="ctr"/>
          <a:lstStyle/>
          <a:p>
            <a:pPr algn="ctr" indent="0" marL="0">
              <a:buNone/>
            </a:pPr>
            <a:r>
              <a:rPr lang="en-US" sz="1000" b="1" dirty="0">
                <a:solidFill>
                  <a:srgbClr val="00695C"/>
                </a:solidFill>
                <a:latin typeface="Calibri" pitchFamily="34" charset="0"/>
                <a:ea typeface="Calibri" pitchFamily="34" charset="-122"/>
                <a:cs typeface="Calibri" pitchFamily="34" charset="-120"/>
              </a:rPr>
              <a:t>holds →</a:t>
            </a:r>
            <a:endParaRPr lang="en-US" sz="1000" dirty="0"/>
          </a:p>
        </p:txBody>
      </p:sp>
      <p:sp>
        <p:nvSpPr>
          <p:cNvPr id="18" name="Shape 16"/>
          <p:cNvSpPr/>
          <p:nvPr/>
        </p:nvSpPr>
        <p:spPr>
          <a:xfrm>
            <a:off x="3200400" y="3657600"/>
            <a:ext cx="0" cy="-1207008"/>
          </a:xfrm>
          <a:prstGeom prst="line">
            <a:avLst/>
          </a:prstGeom>
          <a:noFill/>
          <a:ln w="25400">
            <a:solidFill>
              <a:srgbClr val="B71C1C"/>
            </a:solidFill>
            <a:prstDash val="dash"/>
          </a:ln>
        </p:spPr>
      </p:sp>
      <p:sp>
        <p:nvSpPr>
          <p:cNvPr id="19" name="Text 17"/>
          <p:cNvSpPr/>
          <p:nvPr/>
        </p:nvSpPr>
        <p:spPr>
          <a:xfrm>
            <a:off x="3310128" y="2514600"/>
            <a:ext cx="1188720" cy="457200"/>
          </a:xfrm>
          <a:prstGeom prst="rect">
            <a:avLst/>
          </a:prstGeom>
          <a:noFill/>
          <a:ln/>
        </p:spPr>
        <p:txBody>
          <a:bodyPr wrap="square" lIns="0" tIns="0" rIns="0" bIns="0" rtlCol="0" anchor="ctr"/>
          <a:lstStyle/>
          <a:p>
            <a:pPr indent="0" marL="0">
              <a:buNone/>
            </a:pPr>
            <a:r>
              <a:rPr lang="en-US" sz="1050" b="1" dirty="0">
                <a:solidFill>
                  <a:srgbClr val="B71C1C"/>
                </a:solidFill>
                <a:latin typeface="Calibri" pitchFamily="34" charset="0"/>
                <a:ea typeface="Calibri" pitchFamily="34" charset="-122"/>
                <a:cs typeface="Calibri" pitchFamily="34" charset="-120"/>
              </a:rPr>
              <a:t>A waits</a:t>
            </a:r>
            <a:endParaRPr lang="en-US" sz="1050" dirty="0"/>
          </a:p>
          <a:p>
            <a:pPr indent="0" marL="0">
              <a:buNone/>
            </a:pPr>
            <a:r>
              <a:rPr lang="en-US" sz="1050" b="1" dirty="0">
                <a:solidFill>
                  <a:srgbClr val="B71C1C"/>
                </a:solidFill>
                <a:latin typeface="Calibri" pitchFamily="34" charset="0"/>
                <a:ea typeface="Calibri" pitchFamily="34" charset="-122"/>
                <a:cs typeface="Calibri" pitchFamily="34" charset="-120"/>
              </a:rPr>
              <a:t>for R2</a:t>
            </a:r>
            <a:endParaRPr lang="en-US" sz="1050" dirty="0"/>
          </a:p>
        </p:txBody>
      </p:sp>
      <p:sp>
        <p:nvSpPr>
          <p:cNvPr id="20" name="Shape 18"/>
          <p:cNvSpPr/>
          <p:nvPr/>
        </p:nvSpPr>
        <p:spPr>
          <a:xfrm>
            <a:off x="3200400" y="2157984"/>
            <a:ext cx="0" cy="1389888"/>
          </a:xfrm>
          <a:prstGeom prst="line">
            <a:avLst/>
          </a:prstGeom>
          <a:noFill/>
          <a:ln w="25400">
            <a:solidFill>
              <a:srgbClr val="B71C1C"/>
            </a:solidFill>
            <a:prstDash val="dash"/>
          </a:ln>
        </p:spPr>
      </p:sp>
      <p:sp>
        <p:nvSpPr>
          <p:cNvPr id="21" name="Text 19"/>
          <p:cNvSpPr/>
          <p:nvPr/>
        </p:nvSpPr>
        <p:spPr>
          <a:xfrm>
            <a:off x="3310128" y="2834640"/>
            <a:ext cx="1188720" cy="457200"/>
          </a:xfrm>
          <a:prstGeom prst="rect">
            <a:avLst/>
          </a:prstGeom>
          <a:noFill/>
          <a:ln/>
        </p:spPr>
        <p:txBody>
          <a:bodyPr wrap="square" lIns="0" tIns="0" rIns="0" bIns="0" rtlCol="0" anchor="ctr"/>
          <a:lstStyle/>
          <a:p>
            <a:pPr indent="0" marL="0">
              <a:buNone/>
            </a:pPr>
            <a:r>
              <a:rPr lang="en-US" sz="1050" b="1" dirty="0">
                <a:solidFill>
                  <a:srgbClr val="B71C1C"/>
                </a:solidFill>
                <a:latin typeface="Calibri" pitchFamily="34" charset="0"/>
                <a:ea typeface="Calibri" pitchFamily="34" charset="-122"/>
                <a:cs typeface="Calibri" pitchFamily="34" charset="-120"/>
              </a:rPr>
              <a:t>B waits</a:t>
            </a:r>
            <a:endParaRPr lang="en-US" sz="1050" dirty="0"/>
          </a:p>
          <a:p>
            <a:pPr indent="0" marL="0">
              <a:buNone/>
            </a:pPr>
            <a:r>
              <a:rPr lang="en-US" sz="1050" b="1" dirty="0">
                <a:solidFill>
                  <a:srgbClr val="B71C1C"/>
                </a:solidFill>
                <a:latin typeface="Calibri" pitchFamily="34" charset="0"/>
                <a:ea typeface="Calibri" pitchFamily="34" charset="-122"/>
                <a:cs typeface="Calibri" pitchFamily="34" charset="-120"/>
              </a:rPr>
              <a:t>for R1</a:t>
            </a:r>
            <a:endParaRPr lang="en-US" sz="1050" dirty="0"/>
          </a:p>
        </p:txBody>
      </p:sp>
      <p:sp>
        <p:nvSpPr>
          <p:cNvPr id="22" name="Shape 20"/>
          <p:cNvSpPr/>
          <p:nvPr/>
        </p:nvSpPr>
        <p:spPr>
          <a:xfrm>
            <a:off x="914400" y="2743200"/>
            <a:ext cx="1463040" cy="658368"/>
          </a:xfrm>
          <a:prstGeom prst="roundRect">
            <a:avLst>
              <a:gd name="adj" fmla="val 11111"/>
            </a:avLst>
          </a:prstGeom>
          <a:solidFill>
            <a:srgbClr val="B71C1C"/>
          </a:solidFill>
          <a:ln/>
        </p:spPr>
      </p:sp>
      <p:sp>
        <p:nvSpPr>
          <p:cNvPr id="23" name="Text 21"/>
          <p:cNvSpPr/>
          <p:nvPr/>
        </p:nvSpPr>
        <p:spPr>
          <a:xfrm>
            <a:off x="914400" y="2788920"/>
            <a:ext cx="14630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DEADLOCK</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Neither moves!</a:t>
            </a:r>
            <a:endParaRPr lang="en-US" sz="1200" dirty="0"/>
          </a:p>
        </p:txBody>
      </p:sp>
      <p:sp>
        <p:nvSpPr>
          <p:cNvPr id="24" name="Shape 22"/>
          <p:cNvSpPr/>
          <p:nvPr/>
        </p:nvSpPr>
        <p:spPr>
          <a:xfrm>
            <a:off x="5029200" y="1755648"/>
            <a:ext cx="3794760" cy="3401568"/>
          </a:xfrm>
          <a:prstGeom prst="roundRect">
            <a:avLst>
              <a:gd name="adj" fmla="val 3226"/>
            </a:avLst>
          </a:prstGeom>
          <a:solidFill>
            <a:srgbClr val="FFFFFF"/>
          </a:solidFill>
          <a:ln/>
          <a:effectLst>
            <a:outerShdw sx="100000" sy="100000" kx="0" ky="0" algn="bl" rotWithShape="0" blurRad="101600" dist="38100" dir="2700000">
              <a:srgbClr val="000000">
                <a:alpha val="15000"/>
              </a:srgbClr>
            </a:outerShdw>
          </a:effectLst>
        </p:spPr>
      </p:sp>
      <p:sp>
        <p:nvSpPr>
          <p:cNvPr id="25" name="Text 23"/>
          <p:cNvSpPr/>
          <p:nvPr/>
        </p:nvSpPr>
        <p:spPr>
          <a:xfrm>
            <a:off x="5166360" y="1847088"/>
            <a:ext cx="3520440" cy="384048"/>
          </a:xfrm>
          <a:prstGeom prst="rect">
            <a:avLst/>
          </a:prstGeom>
          <a:noFill/>
          <a:ln/>
        </p:spPr>
        <p:txBody>
          <a:bodyPr wrap="square" lIns="0" tIns="0" rIns="0" bIns="0" rtlCol="0" anchor="ctr"/>
          <a:lstStyle/>
          <a:p>
            <a:pPr indent="0" marL="0">
              <a:buNone/>
            </a:pPr>
            <a:r>
              <a:rPr lang="en-US" sz="1600" b="1" dirty="0">
                <a:solidFill>
                  <a:srgbClr val="B71C1C"/>
                </a:solidFill>
                <a:latin typeface="Calibri" pitchFamily="34" charset="0"/>
                <a:ea typeface="Calibri" pitchFamily="34" charset="-122"/>
                <a:cs typeface="Calibri" pitchFamily="34" charset="-120"/>
              </a:rPr>
              <a:t>Real-World Examples</a:t>
            </a:r>
            <a:endParaRPr lang="en-US" sz="1600" dirty="0"/>
          </a:p>
        </p:txBody>
      </p:sp>
      <p:sp>
        <p:nvSpPr>
          <p:cNvPr id="26" name="Text 24"/>
          <p:cNvSpPr/>
          <p:nvPr/>
        </p:nvSpPr>
        <p:spPr>
          <a:xfrm>
            <a:off x="5166360" y="2304288"/>
            <a:ext cx="3520440" cy="320040"/>
          </a:xfrm>
          <a:prstGeom prst="rect">
            <a:avLst/>
          </a:prstGeom>
          <a:noFill/>
          <a:ln/>
        </p:spPr>
        <p:txBody>
          <a:bodyPr wrap="square" lIns="0" tIns="0" rIns="0" bIns="0" rtlCol="0" anchor="ctr"/>
          <a:lstStyle/>
          <a:p>
            <a:pPr indent="0" marL="0">
              <a:buNone/>
            </a:pPr>
            <a:r>
              <a:rPr lang="en-US" sz="1350" b="1" dirty="0">
                <a:solidFill>
                  <a:srgbClr val="1A0A0A"/>
                </a:solidFill>
                <a:latin typeface="Calibri" pitchFamily="34" charset="0"/>
                <a:ea typeface="Calibri" pitchFamily="34" charset="-122"/>
                <a:cs typeface="Calibri" pitchFamily="34" charset="-120"/>
              </a:rPr>
              <a:t>🚗  Traffic Gridlock</a:t>
            </a:r>
            <a:endParaRPr lang="en-US" sz="1350" dirty="0"/>
          </a:p>
        </p:txBody>
      </p:sp>
      <p:sp>
        <p:nvSpPr>
          <p:cNvPr id="27" name="Text 25"/>
          <p:cNvSpPr/>
          <p:nvPr/>
        </p:nvSpPr>
        <p:spPr>
          <a:xfrm>
            <a:off x="5166360" y="2633472"/>
            <a:ext cx="3520440" cy="347472"/>
          </a:xfrm>
          <a:prstGeom prst="rect">
            <a:avLst/>
          </a:prstGeom>
          <a:noFill/>
          <a:ln/>
        </p:spPr>
        <p:txBody>
          <a:bodyPr wrap="square" lIns="0" tIns="0" rIns="0" bIns="0" rtlCol="0" anchor="ctr"/>
          <a:lstStyle/>
          <a:p>
            <a:pPr indent="0" marL="0">
              <a:buNone/>
            </a:pPr>
            <a:r>
              <a:rPr lang="en-US" sz="1150" dirty="0">
                <a:solidFill>
                  <a:srgbClr val="5D3A3A"/>
                </a:solidFill>
                <a:latin typeface="Calibri" pitchFamily="34" charset="0"/>
                <a:ea typeface="Calibri" pitchFamily="34" charset="-122"/>
                <a:cs typeface="Calibri" pitchFamily="34" charset="-120"/>
              </a:rPr>
              <a:t>4-way intersection — each car blocks another. Nobody moves.</a:t>
            </a:r>
            <a:endParaRPr lang="en-US" sz="1150" dirty="0"/>
          </a:p>
        </p:txBody>
      </p:sp>
      <p:sp>
        <p:nvSpPr>
          <p:cNvPr id="28" name="Text 26"/>
          <p:cNvSpPr/>
          <p:nvPr/>
        </p:nvSpPr>
        <p:spPr>
          <a:xfrm>
            <a:off x="5166360" y="3035808"/>
            <a:ext cx="3520440" cy="320040"/>
          </a:xfrm>
          <a:prstGeom prst="rect">
            <a:avLst/>
          </a:prstGeom>
          <a:noFill/>
          <a:ln/>
        </p:spPr>
        <p:txBody>
          <a:bodyPr wrap="square" lIns="0" tIns="0" rIns="0" bIns="0" rtlCol="0" anchor="ctr"/>
          <a:lstStyle/>
          <a:p>
            <a:pPr indent="0" marL="0">
              <a:buNone/>
            </a:pPr>
            <a:r>
              <a:rPr lang="en-US" sz="1350" b="1" dirty="0">
                <a:solidFill>
                  <a:srgbClr val="1A0A0A"/>
                </a:solidFill>
                <a:latin typeface="Calibri" pitchFamily="34" charset="0"/>
                <a:ea typeface="Calibri" pitchFamily="34" charset="-122"/>
                <a:cs typeface="Calibri" pitchFamily="34" charset="-120"/>
              </a:rPr>
              <a:t>🌉  Narrow Bridge</a:t>
            </a:r>
            <a:endParaRPr lang="en-US" sz="1350" dirty="0"/>
          </a:p>
        </p:txBody>
      </p:sp>
      <p:sp>
        <p:nvSpPr>
          <p:cNvPr id="29" name="Text 27"/>
          <p:cNvSpPr/>
          <p:nvPr/>
        </p:nvSpPr>
        <p:spPr>
          <a:xfrm>
            <a:off x="5166360" y="3364992"/>
            <a:ext cx="3520440" cy="347472"/>
          </a:xfrm>
          <a:prstGeom prst="rect">
            <a:avLst/>
          </a:prstGeom>
          <a:noFill/>
          <a:ln/>
        </p:spPr>
        <p:txBody>
          <a:bodyPr wrap="square" lIns="0" tIns="0" rIns="0" bIns="0" rtlCol="0" anchor="ctr"/>
          <a:lstStyle/>
          <a:p>
            <a:pPr indent="0" marL="0">
              <a:buNone/>
            </a:pPr>
            <a:r>
              <a:rPr lang="en-US" sz="1150" dirty="0">
                <a:solidFill>
                  <a:srgbClr val="5D3A3A"/>
                </a:solidFill>
                <a:latin typeface="Calibri" pitchFamily="34" charset="0"/>
                <a:ea typeface="Calibri" pitchFamily="34" charset="-122"/>
                <a:cs typeface="Calibri" pitchFamily="34" charset="-120"/>
              </a:rPr>
              <a:t>Two people walking towards each other — each waits for the other to step back.</a:t>
            </a:r>
            <a:endParaRPr lang="en-US" sz="1150" dirty="0"/>
          </a:p>
        </p:txBody>
      </p:sp>
      <p:sp>
        <p:nvSpPr>
          <p:cNvPr id="30" name="Text 28"/>
          <p:cNvSpPr/>
          <p:nvPr/>
        </p:nvSpPr>
        <p:spPr>
          <a:xfrm>
            <a:off x="5166360" y="3767328"/>
            <a:ext cx="3520440" cy="320040"/>
          </a:xfrm>
          <a:prstGeom prst="rect">
            <a:avLst/>
          </a:prstGeom>
          <a:noFill/>
          <a:ln/>
        </p:spPr>
        <p:txBody>
          <a:bodyPr wrap="square" lIns="0" tIns="0" rIns="0" bIns="0" rtlCol="0" anchor="ctr"/>
          <a:lstStyle/>
          <a:p>
            <a:pPr indent="0" marL="0">
              <a:buNone/>
            </a:pPr>
            <a:r>
              <a:rPr lang="en-US" sz="1350" b="1" dirty="0">
                <a:solidFill>
                  <a:srgbClr val="1A0A0A"/>
                </a:solidFill>
                <a:latin typeface="Calibri" pitchFamily="34" charset="0"/>
                <a:ea typeface="Calibri" pitchFamily="34" charset="-122"/>
                <a:cs typeface="Calibri" pitchFamily="34" charset="-120"/>
              </a:rPr>
              <a:t>🤝  Two People Bowing</a:t>
            </a:r>
            <a:endParaRPr lang="en-US" sz="1350" dirty="0"/>
          </a:p>
        </p:txBody>
      </p:sp>
      <p:sp>
        <p:nvSpPr>
          <p:cNvPr id="31" name="Text 29"/>
          <p:cNvSpPr/>
          <p:nvPr/>
        </p:nvSpPr>
        <p:spPr>
          <a:xfrm>
            <a:off x="5166360" y="4096512"/>
            <a:ext cx="3520440" cy="347472"/>
          </a:xfrm>
          <a:prstGeom prst="rect">
            <a:avLst/>
          </a:prstGeom>
          <a:noFill/>
          <a:ln/>
        </p:spPr>
        <p:txBody>
          <a:bodyPr wrap="square" lIns="0" tIns="0" rIns="0" bIns="0" rtlCol="0" anchor="ctr"/>
          <a:lstStyle/>
          <a:p>
            <a:pPr indent="0" marL="0">
              <a:buNone/>
            </a:pPr>
            <a:r>
              <a:rPr lang="en-US" sz="1150" dirty="0">
                <a:solidFill>
                  <a:srgbClr val="5D3A3A"/>
                </a:solidFill>
                <a:latin typeface="Calibri" pitchFamily="34" charset="0"/>
                <a:ea typeface="Calibri" pitchFamily="34" charset="-122"/>
                <a:cs typeface="Calibri" pitchFamily="34" charset="-120"/>
              </a:rPr>
              <a:t>Each waits for the other to straighten first — polite infinite loop!</a:t>
            </a:r>
            <a:endParaRPr lang="en-US" sz="1150" dirty="0"/>
          </a:p>
        </p:txBody>
      </p:sp>
      <p:sp>
        <p:nvSpPr>
          <p:cNvPr id="32" name="Text 30"/>
          <p:cNvSpPr/>
          <p:nvPr/>
        </p:nvSpPr>
        <p:spPr>
          <a:xfrm>
            <a:off x="5166360" y="4498848"/>
            <a:ext cx="3520440" cy="320040"/>
          </a:xfrm>
          <a:prstGeom prst="rect">
            <a:avLst/>
          </a:prstGeom>
          <a:noFill/>
          <a:ln/>
        </p:spPr>
        <p:txBody>
          <a:bodyPr wrap="square" lIns="0" tIns="0" rIns="0" bIns="0" rtlCol="0" anchor="ctr"/>
          <a:lstStyle/>
          <a:p>
            <a:pPr indent="0" marL="0">
              <a:buNone/>
            </a:pPr>
            <a:r>
              <a:rPr lang="en-US" sz="1350" b="1" dirty="0">
                <a:solidFill>
                  <a:srgbClr val="1A0A0A"/>
                </a:solidFill>
                <a:latin typeface="Calibri" pitchFamily="34" charset="0"/>
                <a:ea typeface="Calibri" pitchFamily="34" charset="-122"/>
                <a:cs typeface="Calibri" pitchFamily="34" charset="-120"/>
              </a:rPr>
              <a:t>💾  Database Locks</a:t>
            </a:r>
            <a:endParaRPr lang="en-US" sz="1350" dirty="0"/>
          </a:p>
        </p:txBody>
      </p:sp>
      <p:sp>
        <p:nvSpPr>
          <p:cNvPr id="33" name="Text 31"/>
          <p:cNvSpPr/>
          <p:nvPr/>
        </p:nvSpPr>
        <p:spPr>
          <a:xfrm>
            <a:off x="5166360" y="4828032"/>
            <a:ext cx="3520440" cy="347472"/>
          </a:xfrm>
          <a:prstGeom prst="rect">
            <a:avLst/>
          </a:prstGeom>
          <a:noFill/>
          <a:ln/>
        </p:spPr>
        <p:txBody>
          <a:bodyPr wrap="square" lIns="0" tIns="0" rIns="0" bIns="0" rtlCol="0" anchor="ctr"/>
          <a:lstStyle/>
          <a:p>
            <a:pPr indent="0" marL="0">
              <a:buNone/>
            </a:pPr>
            <a:r>
              <a:rPr lang="en-US" sz="1150" dirty="0">
                <a:solidFill>
                  <a:srgbClr val="5D3A3A"/>
                </a:solidFill>
                <a:latin typeface="Calibri" pitchFamily="34" charset="0"/>
                <a:ea typeface="Calibri" pitchFamily="34" charset="-122"/>
                <a:cs typeface="Calibri" pitchFamily="34" charset="-120"/>
              </a:rPr>
              <a:t>Transaction A locks Table1, waits for Table2. B locks Table2, waits for Table1.</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5100"/>
          </a:solidFill>
          <a:ln w="12700">
            <a:solidFill>
              <a:srgbClr val="E6510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400" b="1" dirty="0">
                <a:solidFill>
                  <a:srgbClr val="1A0A0A"/>
                </a:solidFill>
                <a:latin typeface="Cambria" pitchFamily="34" charset="0"/>
                <a:ea typeface="Cambria" pitchFamily="34" charset="-122"/>
                <a:cs typeface="Cambria" pitchFamily="34" charset="-120"/>
              </a:rPr>
              <a:t>System Resources</a:t>
            </a:r>
            <a:endParaRPr lang="en-US" sz="3400" dirty="0"/>
          </a:p>
        </p:txBody>
      </p:sp>
      <p:sp>
        <p:nvSpPr>
          <p:cNvPr id="4" name="Shape 2"/>
          <p:cNvSpPr/>
          <p:nvPr/>
        </p:nvSpPr>
        <p:spPr>
          <a:xfrm>
            <a:off x="320040" y="841248"/>
            <a:ext cx="8503920" cy="640080"/>
          </a:xfrm>
          <a:prstGeom prst="roundRect">
            <a:avLst>
              <a:gd name="adj" fmla="val 14286"/>
            </a:avLst>
          </a:prstGeom>
          <a:solidFill>
            <a:srgbClr val="FFF3E0"/>
          </a:solidFill>
          <a:ln w="19050">
            <a:solidFill>
              <a:srgbClr val="E65100"/>
            </a:solidFill>
            <a:prstDash val="solid"/>
          </a:ln>
        </p:spPr>
      </p:sp>
      <p:sp>
        <p:nvSpPr>
          <p:cNvPr id="5" name="Text 3"/>
          <p:cNvSpPr/>
          <p:nvPr/>
        </p:nvSpPr>
        <p:spPr>
          <a:xfrm>
            <a:off x="502920" y="914400"/>
            <a:ext cx="8229600" cy="493776"/>
          </a:xfrm>
          <a:prstGeom prst="rect">
            <a:avLst/>
          </a:prstGeom>
          <a:noFill/>
          <a:ln/>
        </p:spPr>
        <p:txBody>
          <a:bodyPr wrap="square" rtlCol="0" anchor="ctr"/>
          <a:lstStyle/>
          <a:p>
            <a:pPr algn="ctr" indent="0" marL="0">
              <a:buNone/>
            </a:pPr>
            <a:r>
              <a:rPr lang="en-US" sz="1600" b="1" dirty="0">
                <a:solidFill>
                  <a:srgbClr val="1C0A0A"/>
                </a:solidFill>
                <a:latin typeface="Calibri" pitchFamily="34" charset="0"/>
                <a:ea typeface="Calibri" pitchFamily="34" charset="-122"/>
                <a:cs typeface="Calibri" pitchFamily="34" charset="-120"/>
              </a:rPr>
              <a:t>Resource Usage Sequence:   Request  →  Allocate  →  Use  →  Release</a:t>
            </a:r>
            <a:endParaRPr lang="en-US" sz="1600" dirty="0"/>
          </a:p>
        </p:txBody>
      </p:sp>
      <p:sp>
        <p:nvSpPr>
          <p:cNvPr id="6" name="Shape 4"/>
          <p:cNvSpPr/>
          <p:nvPr/>
        </p:nvSpPr>
        <p:spPr>
          <a:xfrm>
            <a:off x="274320" y="1627632"/>
            <a:ext cx="4206240" cy="3520440"/>
          </a:xfrm>
          <a:prstGeom prst="roundRect">
            <a:avLst>
              <a:gd name="adj" fmla="val 3117"/>
            </a:avLst>
          </a:prstGeom>
          <a:solidFill>
            <a:srgbClr val="FFF8F8"/>
          </a:solidFill>
          <a:ln/>
          <a:effectLst>
            <a:outerShdw sx="100000" sy="100000" kx="0" ky="0" algn="bl" rotWithShape="0" blurRad="101600" dist="38100" dir="2700000">
              <a:srgbClr val="000000">
                <a:alpha val="15000"/>
              </a:srgbClr>
            </a:outerShdw>
          </a:effectLst>
        </p:spPr>
      </p:sp>
      <p:sp>
        <p:nvSpPr>
          <p:cNvPr id="7" name="Shape 5"/>
          <p:cNvSpPr/>
          <p:nvPr/>
        </p:nvSpPr>
        <p:spPr>
          <a:xfrm>
            <a:off x="329184" y="1673352"/>
            <a:ext cx="4096512" cy="548640"/>
          </a:xfrm>
          <a:prstGeom prst="roundRect">
            <a:avLst>
              <a:gd name="adj" fmla="val 13333"/>
            </a:avLst>
          </a:prstGeom>
          <a:solidFill>
            <a:srgbClr val="00695C"/>
          </a:solidFill>
          <a:ln/>
        </p:spPr>
      </p:sp>
      <p:sp>
        <p:nvSpPr>
          <p:cNvPr id="8" name="Text 6"/>
          <p:cNvSpPr/>
          <p:nvPr/>
        </p:nvSpPr>
        <p:spPr>
          <a:xfrm>
            <a:off x="329184" y="1709928"/>
            <a:ext cx="4096512"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  Preemptable Resources</a:t>
            </a:r>
            <a:endParaRPr lang="en-US" sz="1600" dirty="0"/>
          </a:p>
        </p:txBody>
      </p:sp>
      <p:sp>
        <p:nvSpPr>
          <p:cNvPr id="9" name="Text 7"/>
          <p:cNvSpPr/>
          <p:nvPr/>
        </p:nvSpPr>
        <p:spPr>
          <a:xfrm>
            <a:off x="402336" y="2304288"/>
            <a:ext cx="3931920" cy="658368"/>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Can be taken away from a process WITHOUT causing failure. Work can resume after resource is returned.</a:t>
            </a:r>
            <a:endParaRPr lang="en-US" sz="1200" dirty="0"/>
          </a:p>
        </p:txBody>
      </p:sp>
      <p:sp>
        <p:nvSpPr>
          <p:cNvPr id="10" name="Text 8"/>
          <p:cNvSpPr/>
          <p:nvPr/>
        </p:nvSpPr>
        <p:spPr>
          <a:xfrm>
            <a:off x="402336" y="2999232"/>
            <a:ext cx="3931920" cy="274320"/>
          </a:xfrm>
          <a:prstGeom prst="rect">
            <a:avLst/>
          </a:prstGeom>
          <a:noFill/>
          <a:ln/>
        </p:spPr>
        <p:txBody>
          <a:bodyPr wrap="square" lIns="0" tIns="0" rIns="0" bIns="0" rtlCol="0" anchor="ctr"/>
          <a:lstStyle/>
          <a:p>
            <a:pPr indent="0" marL="0">
              <a:buNone/>
            </a:pPr>
            <a:r>
              <a:rPr lang="en-US" sz="1250" b="1" dirty="0">
                <a:solidFill>
                  <a:srgbClr val="00695C"/>
                </a:solidFill>
                <a:latin typeface="Calibri" pitchFamily="34" charset="0"/>
                <a:ea typeface="Calibri" pitchFamily="34" charset="-122"/>
                <a:cs typeface="Calibri" pitchFamily="34" charset="-120"/>
              </a:rPr>
              <a:t>Examples:</a:t>
            </a:r>
            <a:endParaRPr lang="en-US" sz="1250" dirty="0"/>
          </a:p>
        </p:txBody>
      </p:sp>
      <p:sp>
        <p:nvSpPr>
          <p:cNvPr id="11" name="Text 9"/>
          <p:cNvSpPr/>
          <p:nvPr/>
        </p:nvSpPr>
        <p:spPr>
          <a:xfrm>
            <a:off x="402336" y="3291840"/>
            <a:ext cx="3931920" cy="347472"/>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 CPU — can be preempted by scheduler</a:t>
            </a:r>
            <a:endParaRPr lang="en-US" sz="1200" dirty="0"/>
          </a:p>
        </p:txBody>
      </p:sp>
      <p:sp>
        <p:nvSpPr>
          <p:cNvPr id="12" name="Text 10"/>
          <p:cNvSpPr/>
          <p:nvPr/>
        </p:nvSpPr>
        <p:spPr>
          <a:xfrm>
            <a:off x="402336" y="3675888"/>
            <a:ext cx="3931920" cy="347472"/>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 Main Memory — pages can be swapped out</a:t>
            </a:r>
            <a:endParaRPr lang="en-US" sz="1200" dirty="0"/>
          </a:p>
        </p:txBody>
      </p:sp>
      <p:sp>
        <p:nvSpPr>
          <p:cNvPr id="13" name="Text 11"/>
          <p:cNvSpPr/>
          <p:nvPr/>
        </p:nvSpPr>
        <p:spPr>
          <a:xfrm>
            <a:off x="402336" y="4059936"/>
            <a:ext cx="3931920" cy="347472"/>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 Process can safely save/restore state</a:t>
            </a:r>
            <a:endParaRPr lang="en-US" sz="1200" dirty="0"/>
          </a:p>
        </p:txBody>
      </p:sp>
      <p:sp>
        <p:nvSpPr>
          <p:cNvPr id="14" name="Shape 12"/>
          <p:cNvSpPr/>
          <p:nvPr/>
        </p:nvSpPr>
        <p:spPr>
          <a:xfrm>
            <a:off x="402336" y="4553712"/>
            <a:ext cx="3931920" cy="502920"/>
          </a:xfrm>
          <a:prstGeom prst="roundRect">
            <a:avLst>
              <a:gd name="adj" fmla="val 12727"/>
            </a:avLst>
          </a:prstGeom>
          <a:solidFill>
            <a:srgbClr val="00695C"/>
          </a:solidFill>
          <a:ln/>
        </p:spPr>
      </p:sp>
      <p:sp>
        <p:nvSpPr>
          <p:cNvPr id="15" name="Text 13"/>
          <p:cNvSpPr/>
          <p:nvPr/>
        </p:nvSpPr>
        <p:spPr>
          <a:xfrm>
            <a:off x="457200" y="4608576"/>
            <a:ext cx="3840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Deadlocks rarely involve preemptable resources</a:t>
            </a:r>
            <a:endParaRPr lang="en-US" sz="1200" dirty="0"/>
          </a:p>
        </p:txBody>
      </p:sp>
      <p:sp>
        <p:nvSpPr>
          <p:cNvPr id="16" name="Shape 14"/>
          <p:cNvSpPr/>
          <p:nvPr/>
        </p:nvSpPr>
        <p:spPr>
          <a:xfrm>
            <a:off x="4754880" y="1627632"/>
            <a:ext cx="4206240" cy="3520440"/>
          </a:xfrm>
          <a:prstGeom prst="roundRect">
            <a:avLst>
              <a:gd name="adj" fmla="val 3117"/>
            </a:avLst>
          </a:prstGeom>
          <a:solidFill>
            <a:srgbClr val="FFF8F8"/>
          </a:solidFill>
          <a:ln/>
          <a:effectLst>
            <a:outerShdw sx="100000" sy="100000" kx="0" ky="0" algn="bl" rotWithShape="0" blurRad="101600" dist="38100" dir="2700000">
              <a:srgbClr val="000000">
                <a:alpha val="15000"/>
              </a:srgbClr>
            </a:outerShdw>
          </a:effectLst>
        </p:spPr>
      </p:sp>
      <p:sp>
        <p:nvSpPr>
          <p:cNvPr id="17" name="Shape 15"/>
          <p:cNvSpPr/>
          <p:nvPr/>
        </p:nvSpPr>
        <p:spPr>
          <a:xfrm>
            <a:off x="4809744" y="1673352"/>
            <a:ext cx="4096512" cy="548640"/>
          </a:xfrm>
          <a:prstGeom prst="roundRect">
            <a:avLst>
              <a:gd name="adj" fmla="val 13333"/>
            </a:avLst>
          </a:prstGeom>
          <a:solidFill>
            <a:srgbClr val="B71C1C"/>
          </a:solidFill>
          <a:ln/>
        </p:spPr>
      </p:sp>
      <p:sp>
        <p:nvSpPr>
          <p:cNvPr id="18" name="Text 16"/>
          <p:cNvSpPr/>
          <p:nvPr/>
        </p:nvSpPr>
        <p:spPr>
          <a:xfrm>
            <a:off x="4809744" y="1709928"/>
            <a:ext cx="4096512"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  Non-Preemptable Resources</a:t>
            </a:r>
            <a:endParaRPr lang="en-US" sz="1600" dirty="0"/>
          </a:p>
        </p:txBody>
      </p:sp>
      <p:sp>
        <p:nvSpPr>
          <p:cNvPr id="19" name="Text 17"/>
          <p:cNvSpPr/>
          <p:nvPr/>
        </p:nvSpPr>
        <p:spPr>
          <a:xfrm>
            <a:off x="4882896" y="2304288"/>
            <a:ext cx="3931920" cy="658368"/>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Cannot be forcibly taken away without causing the process to FAIL. Must be voluntarily released.</a:t>
            </a:r>
            <a:endParaRPr lang="en-US" sz="1200" dirty="0"/>
          </a:p>
        </p:txBody>
      </p:sp>
      <p:sp>
        <p:nvSpPr>
          <p:cNvPr id="20" name="Text 18"/>
          <p:cNvSpPr/>
          <p:nvPr/>
        </p:nvSpPr>
        <p:spPr>
          <a:xfrm>
            <a:off x="4882896" y="2999232"/>
            <a:ext cx="3931920" cy="274320"/>
          </a:xfrm>
          <a:prstGeom prst="rect">
            <a:avLst/>
          </a:prstGeom>
          <a:noFill/>
          <a:ln/>
        </p:spPr>
        <p:txBody>
          <a:bodyPr wrap="square" lIns="0" tIns="0" rIns="0" bIns="0" rtlCol="0" anchor="ctr"/>
          <a:lstStyle/>
          <a:p>
            <a:pPr indent="0" marL="0">
              <a:buNone/>
            </a:pPr>
            <a:r>
              <a:rPr lang="en-US" sz="1250" b="1" dirty="0">
                <a:solidFill>
                  <a:srgbClr val="B71C1C"/>
                </a:solidFill>
                <a:latin typeface="Calibri" pitchFamily="34" charset="0"/>
                <a:ea typeface="Calibri" pitchFamily="34" charset="-122"/>
                <a:cs typeface="Calibri" pitchFamily="34" charset="-120"/>
              </a:rPr>
              <a:t>Examples:</a:t>
            </a:r>
            <a:endParaRPr lang="en-US" sz="1250" dirty="0"/>
          </a:p>
        </p:txBody>
      </p:sp>
      <p:sp>
        <p:nvSpPr>
          <p:cNvPr id="21" name="Text 19"/>
          <p:cNvSpPr/>
          <p:nvPr/>
        </p:nvSpPr>
        <p:spPr>
          <a:xfrm>
            <a:off x="4882896" y="3291840"/>
            <a:ext cx="3931920" cy="347472"/>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 Printer — cannot pull paper mid-print</a:t>
            </a:r>
            <a:endParaRPr lang="en-US" sz="1200" dirty="0"/>
          </a:p>
        </p:txBody>
      </p:sp>
      <p:sp>
        <p:nvSpPr>
          <p:cNvPr id="22" name="Text 20"/>
          <p:cNvSpPr/>
          <p:nvPr/>
        </p:nvSpPr>
        <p:spPr>
          <a:xfrm>
            <a:off x="4882896" y="3675888"/>
            <a:ext cx="3931920" cy="347472"/>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 CD-ROM burner — cannot interrupt burn</a:t>
            </a:r>
            <a:endParaRPr lang="en-US" sz="1200" dirty="0"/>
          </a:p>
        </p:txBody>
      </p:sp>
      <p:sp>
        <p:nvSpPr>
          <p:cNvPr id="23" name="Text 21"/>
          <p:cNvSpPr/>
          <p:nvPr/>
        </p:nvSpPr>
        <p:spPr>
          <a:xfrm>
            <a:off x="4882896" y="4059936"/>
            <a:ext cx="3931920" cy="347472"/>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 Tape drive, specialized hardware</a:t>
            </a:r>
            <a:endParaRPr lang="en-US" sz="1200" dirty="0"/>
          </a:p>
        </p:txBody>
      </p:sp>
      <p:sp>
        <p:nvSpPr>
          <p:cNvPr id="24" name="Shape 22"/>
          <p:cNvSpPr/>
          <p:nvPr/>
        </p:nvSpPr>
        <p:spPr>
          <a:xfrm>
            <a:off x="4882896" y="4553712"/>
            <a:ext cx="3931920" cy="502920"/>
          </a:xfrm>
          <a:prstGeom prst="roundRect">
            <a:avLst>
              <a:gd name="adj" fmla="val 12727"/>
            </a:avLst>
          </a:prstGeom>
          <a:solidFill>
            <a:srgbClr val="B71C1C"/>
          </a:solidFill>
          <a:ln/>
        </p:spPr>
      </p:sp>
      <p:sp>
        <p:nvSpPr>
          <p:cNvPr id="25" name="Text 23"/>
          <p:cNvSpPr/>
          <p:nvPr/>
        </p:nvSpPr>
        <p:spPr>
          <a:xfrm>
            <a:off x="4937760" y="4608576"/>
            <a:ext cx="38404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Deadlocks PRIMARILY involve non-preemptable resources!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71C1C"/>
          </a:solidFill>
          <a:ln w="12700">
            <a:solidFill>
              <a:srgbClr val="B71C1C"/>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200" b="1" dirty="0">
                <a:solidFill>
                  <a:srgbClr val="1A0A0A"/>
                </a:solidFill>
                <a:latin typeface="Cambria" pitchFamily="34" charset="0"/>
                <a:ea typeface="Cambria" pitchFamily="34" charset="-122"/>
                <a:cs typeface="Cambria" pitchFamily="34" charset="-120"/>
              </a:rPr>
              <a:t>Four Conditions for Deadlock</a:t>
            </a:r>
            <a:endParaRPr lang="en-US" sz="3200" dirty="0"/>
          </a:p>
        </p:txBody>
      </p:sp>
      <p:sp>
        <p:nvSpPr>
          <p:cNvPr id="4" name="Text 2"/>
          <p:cNvSpPr/>
          <p:nvPr/>
        </p:nvSpPr>
        <p:spPr>
          <a:xfrm>
            <a:off x="457200" y="694944"/>
            <a:ext cx="8229600" cy="274320"/>
          </a:xfrm>
          <a:prstGeom prst="rect">
            <a:avLst/>
          </a:prstGeom>
          <a:noFill/>
          <a:ln/>
        </p:spPr>
        <p:txBody>
          <a:bodyPr wrap="square" lIns="0" tIns="0" rIns="0" bIns="0" rtlCol="0" anchor="ctr"/>
          <a:lstStyle/>
          <a:p>
            <a:pPr algn="ctr" indent="0" marL="0">
              <a:buNone/>
            </a:pPr>
            <a:r>
              <a:rPr lang="en-US" sz="1350" b="1" dirty="0">
                <a:solidFill>
                  <a:srgbClr val="B71C1C"/>
                </a:solidFill>
                <a:latin typeface="Calibri" pitchFamily="34" charset="0"/>
                <a:ea typeface="Calibri" pitchFamily="34" charset="-122"/>
                <a:cs typeface="Calibri" pitchFamily="34" charset="-120"/>
              </a:rPr>
              <a:t>(Coffman Conditions — ALL FOUR must hold simultaneously)</a:t>
            </a:r>
            <a:endParaRPr lang="en-US" sz="1350" dirty="0"/>
          </a:p>
        </p:txBody>
      </p:sp>
      <p:sp>
        <p:nvSpPr>
          <p:cNvPr id="5" name="Shape 3"/>
          <p:cNvSpPr/>
          <p:nvPr/>
        </p:nvSpPr>
        <p:spPr>
          <a:xfrm>
            <a:off x="274320" y="1005840"/>
            <a:ext cx="4224528" cy="2148840"/>
          </a:xfrm>
          <a:prstGeom prst="roundRect">
            <a:avLst>
              <a:gd name="adj" fmla="val 5106"/>
            </a:avLst>
          </a:prstGeom>
          <a:solidFill>
            <a:srgbClr val="FFFFFF"/>
          </a:solidFill>
          <a:ln/>
          <a:effectLst>
            <a:outerShdw sx="100000" sy="100000" kx="0" ky="0" algn="bl" rotWithShape="0" blurRad="63500" dist="25400" dir="2700000">
              <a:srgbClr val="000000">
                <a:alpha val="10000"/>
              </a:srgbClr>
            </a:outerShdw>
          </a:effectLst>
        </p:spPr>
      </p:sp>
      <p:sp>
        <p:nvSpPr>
          <p:cNvPr id="6" name="Shape 4"/>
          <p:cNvSpPr/>
          <p:nvPr/>
        </p:nvSpPr>
        <p:spPr>
          <a:xfrm>
            <a:off x="329184" y="1060704"/>
            <a:ext cx="4114800" cy="502920"/>
          </a:xfrm>
          <a:prstGeom prst="roundRect">
            <a:avLst>
              <a:gd name="adj" fmla="val 14545"/>
            </a:avLst>
          </a:prstGeom>
          <a:solidFill>
            <a:srgbClr val="B71C1C"/>
          </a:solidFill>
          <a:ln/>
        </p:spPr>
      </p:sp>
      <p:sp>
        <p:nvSpPr>
          <p:cNvPr id="7" name="Text 5"/>
          <p:cNvSpPr/>
          <p:nvPr/>
        </p:nvSpPr>
        <p:spPr>
          <a:xfrm>
            <a:off x="384048" y="1115568"/>
            <a:ext cx="397764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  🔐  Mutual Exclusion</a:t>
            </a:r>
            <a:endParaRPr lang="en-US" sz="1500" dirty="0"/>
          </a:p>
        </p:txBody>
      </p:sp>
      <p:sp>
        <p:nvSpPr>
          <p:cNvPr id="8" name="Text 6"/>
          <p:cNvSpPr/>
          <p:nvPr/>
        </p:nvSpPr>
        <p:spPr>
          <a:xfrm>
            <a:off x="402336" y="1627632"/>
            <a:ext cx="3950208" cy="566928"/>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At least one resource must be held in NON-SHAREABLE mode. Only one process can use it at a time.</a:t>
            </a:r>
            <a:endParaRPr lang="en-US" sz="1150" dirty="0"/>
          </a:p>
        </p:txBody>
      </p:sp>
      <p:sp>
        <p:nvSpPr>
          <p:cNvPr id="9" name="Text 7"/>
          <p:cNvSpPr/>
          <p:nvPr/>
        </p:nvSpPr>
        <p:spPr>
          <a:xfrm>
            <a:off x="402336" y="2212848"/>
            <a:ext cx="3950208" cy="384048"/>
          </a:xfrm>
          <a:prstGeom prst="rect">
            <a:avLst/>
          </a:prstGeom>
          <a:noFill/>
          <a:ln/>
        </p:spPr>
        <p:txBody>
          <a:bodyPr wrap="square" lIns="0" tIns="0" rIns="0" bIns="0" rtlCol="0" anchor="ctr"/>
          <a:lstStyle/>
          <a:p>
            <a:pPr indent="0" marL="0">
              <a:buNone/>
            </a:pPr>
            <a:r>
              <a:rPr lang="en-US" sz="1100" i="1" dirty="0">
                <a:solidFill>
                  <a:srgbClr val="B71C1C"/>
                </a:solidFill>
                <a:latin typeface="Calibri" pitchFamily="34" charset="0"/>
                <a:ea typeface="Calibri" pitchFamily="34" charset="-122"/>
                <a:cs typeface="Calibri" pitchFamily="34" charset="-120"/>
              </a:rPr>
              <a:t>📍 Only ONE process can print at a time. If two try, one must wait.</a:t>
            </a:r>
            <a:endParaRPr lang="en-US" sz="1100" dirty="0"/>
          </a:p>
        </p:txBody>
      </p:sp>
      <p:sp>
        <p:nvSpPr>
          <p:cNvPr id="10" name="Text 8"/>
          <p:cNvSpPr/>
          <p:nvPr/>
        </p:nvSpPr>
        <p:spPr>
          <a:xfrm>
            <a:off x="402336" y="2633472"/>
            <a:ext cx="3950208" cy="347472"/>
          </a:xfrm>
          <a:prstGeom prst="rect">
            <a:avLst/>
          </a:prstGeom>
          <a:noFill/>
          <a:ln/>
        </p:spPr>
        <p:txBody>
          <a:bodyPr wrap="square" lIns="0" tIns="0" rIns="0" bIns="0" rtlCol="0" anchor="ctr"/>
          <a:lstStyle/>
          <a:p>
            <a:pPr indent="0" marL="0">
              <a:buNone/>
            </a:pPr>
            <a:r>
              <a:rPr lang="en-US" sz="1050" dirty="0">
                <a:solidFill>
                  <a:srgbClr val="00695C"/>
                </a:solidFill>
                <a:latin typeface="Calibri" pitchFamily="34" charset="0"/>
                <a:ea typeface="Calibri" pitchFamily="34" charset="-122"/>
                <a:cs typeface="Calibri" pitchFamily="34" charset="-120"/>
              </a:rPr>
              <a:t>💡 Break: Share resources where possible (spooling).</a:t>
            </a:r>
            <a:endParaRPr lang="en-US" sz="1050" dirty="0"/>
          </a:p>
        </p:txBody>
      </p:sp>
      <p:sp>
        <p:nvSpPr>
          <p:cNvPr id="11" name="Shape 9"/>
          <p:cNvSpPr/>
          <p:nvPr/>
        </p:nvSpPr>
        <p:spPr>
          <a:xfrm>
            <a:off x="4736592" y="1005840"/>
            <a:ext cx="4224528" cy="2148840"/>
          </a:xfrm>
          <a:prstGeom prst="roundRect">
            <a:avLst>
              <a:gd name="adj" fmla="val 5106"/>
            </a:avLst>
          </a:prstGeom>
          <a:solidFill>
            <a:srgbClr val="FFFFFF"/>
          </a:solidFill>
          <a:ln/>
          <a:effectLst>
            <a:outerShdw sx="100000" sy="100000" kx="0" ky="0" algn="bl" rotWithShape="0" blurRad="63500" dist="25400" dir="2700000">
              <a:srgbClr val="000000">
                <a:alpha val="10000"/>
              </a:srgbClr>
            </a:outerShdw>
          </a:effectLst>
        </p:spPr>
      </p:sp>
      <p:sp>
        <p:nvSpPr>
          <p:cNvPr id="12" name="Shape 10"/>
          <p:cNvSpPr/>
          <p:nvPr/>
        </p:nvSpPr>
        <p:spPr>
          <a:xfrm>
            <a:off x="4791456" y="1060704"/>
            <a:ext cx="4114800" cy="502920"/>
          </a:xfrm>
          <a:prstGeom prst="roundRect">
            <a:avLst>
              <a:gd name="adj" fmla="val 14545"/>
            </a:avLst>
          </a:prstGeom>
          <a:solidFill>
            <a:srgbClr val="E65100"/>
          </a:solidFill>
          <a:ln/>
        </p:spPr>
      </p:sp>
      <p:sp>
        <p:nvSpPr>
          <p:cNvPr id="13" name="Text 11"/>
          <p:cNvSpPr/>
          <p:nvPr/>
        </p:nvSpPr>
        <p:spPr>
          <a:xfrm>
            <a:off x="4846320" y="1115568"/>
            <a:ext cx="397764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  🤲  Hold and Wait</a:t>
            </a:r>
            <a:endParaRPr lang="en-US" sz="1500" dirty="0"/>
          </a:p>
        </p:txBody>
      </p:sp>
      <p:sp>
        <p:nvSpPr>
          <p:cNvPr id="14" name="Text 12"/>
          <p:cNvSpPr/>
          <p:nvPr/>
        </p:nvSpPr>
        <p:spPr>
          <a:xfrm>
            <a:off x="4864608" y="1627632"/>
            <a:ext cx="3950208" cy="566928"/>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A process holds at least one resource AND is waiting to acquire additional resources held by others.</a:t>
            </a:r>
            <a:endParaRPr lang="en-US" sz="1150" dirty="0"/>
          </a:p>
        </p:txBody>
      </p:sp>
      <p:sp>
        <p:nvSpPr>
          <p:cNvPr id="15" name="Text 13"/>
          <p:cNvSpPr/>
          <p:nvPr/>
        </p:nvSpPr>
        <p:spPr>
          <a:xfrm>
            <a:off x="4864608" y="2212848"/>
            <a:ext cx="3950208" cy="384048"/>
          </a:xfrm>
          <a:prstGeom prst="rect">
            <a:avLst/>
          </a:prstGeom>
          <a:noFill/>
          <a:ln/>
        </p:spPr>
        <p:txBody>
          <a:bodyPr wrap="square" lIns="0" tIns="0" rIns="0" bIns="0" rtlCol="0" anchor="ctr"/>
          <a:lstStyle/>
          <a:p>
            <a:pPr indent="0" marL="0">
              <a:buNone/>
            </a:pPr>
            <a:r>
              <a:rPr lang="en-US" sz="1100" i="1" dirty="0">
                <a:solidFill>
                  <a:srgbClr val="E65100"/>
                </a:solidFill>
                <a:latin typeface="Calibri" pitchFamily="34" charset="0"/>
                <a:ea typeface="Calibri" pitchFamily="34" charset="-122"/>
                <a:cs typeface="Calibri" pitchFamily="34" charset="-120"/>
              </a:rPr>
              <a:t>📍 Process A holds the Printer AND is waiting for the Scanner.</a:t>
            </a:r>
            <a:endParaRPr lang="en-US" sz="1100" dirty="0"/>
          </a:p>
        </p:txBody>
      </p:sp>
      <p:sp>
        <p:nvSpPr>
          <p:cNvPr id="16" name="Text 14"/>
          <p:cNvSpPr/>
          <p:nvPr/>
        </p:nvSpPr>
        <p:spPr>
          <a:xfrm>
            <a:off x="4864608" y="2633472"/>
            <a:ext cx="3950208" cy="347472"/>
          </a:xfrm>
          <a:prstGeom prst="rect">
            <a:avLst/>
          </a:prstGeom>
          <a:noFill/>
          <a:ln/>
        </p:spPr>
        <p:txBody>
          <a:bodyPr wrap="square" lIns="0" tIns="0" rIns="0" bIns="0" rtlCol="0" anchor="ctr"/>
          <a:lstStyle/>
          <a:p>
            <a:pPr indent="0" marL="0">
              <a:buNone/>
            </a:pPr>
            <a:r>
              <a:rPr lang="en-US" sz="1050" dirty="0">
                <a:solidFill>
                  <a:srgbClr val="00695C"/>
                </a:solidFill>
                <a:latin typeface="Calibri" pitchFamily="34" charset="0"/>
                <a:ea typeface="Calibri" pitchFamily="34" charset="-122"/>
                <a:cs typeface="Calibri" pitchFamily="34" charset="-120"/>
              </a:rPr>
              <a:t>💡 Break: Request ALL needed resources at once before starting.</a:t>
            </a:r>
            <a:endParaRPr lang="en-US" sz="1050" dirty="0"/>
          </a:p>
        </p:txBody>
      </p:sp>
      <p:sp>
        <p:nvSpPr>
          <p:cNvPr id="17" name="Shape 15"/>
          <p:cNvSpPr/>
          <p:nvPr/>
        </p:nvSpPr>
        <p:spPr>
          <a:xfrm>
            <a:off x="274320" y="3310128"/>
            <a:ext cx="4224528" cy="2148840"/>
          </a:xfrm>
          <a:prstGeom prst="roundRect">
            <a:avLst>
              <a:gd name="adj" fmla="val 5106"/>
            </a:avLst>
          </a:prstGeom>
          <a:solidFill>
            <a:srgbClr val="FFFFFF"/>
          </a:solidFill>
          <a:ln/>
          <a:effectLst>
            <a:outerShdw sx="100000" sy="100000" kx="0" ky="0" algn="bl" rotWithShape="0" blurRad="63500" dist="25400" dir="2700000">
              <a:srgbClr val="000000">
                <a:alpha val="10000"/>
              </a:srgbClr>
            </a:outerShdw>
          </a:effectLst>
        </p:spPr>
      </p:sp>
      <p:sp>
        <p:nvSpPr>
          <p:cNvPr id="18" name="Shape 16"/>
          <p:cNvSpPr/>
          <p:nvPr/>
        </p:nvSpPr>
        <p:spPr>
          <a:xfrm>
            <a:off x="329184" y="3364992"/>
            <a:ext cx="4114800" cy="502920"/>
          </a:xfrm>
          <a:prstGeom prst="roundRect">
            <a:avLst>
              <a:gd name="adj" fmla="val 14545"/>
            </a:avLst>
          </a:prstGeom>
          <a:solidFill>
            <a:srgbClr val="6A1B9A"/>
          </a:solidFill>
          <a:ln/>
        </p:spPr>
      </p:sp>
      <p:sp>
        <p:nvSpPr>
          <p:cNvPr id="19" name="Text 17"/>
          <p:cNvSpPr/>
          <p:nvPr/>
        </p:nvSpPr>
        <p:spPr>
          <a:xfrm>
            <a:off x="384048" y="3419856"/>
            <a:ext cx="397764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  No Preemption</a:t>
            </a:r>
            <a:endParaRPr lang="en-US" sz="1500" dirty="0"/>
          </a:p>
        </p:txBody>
      </p:sp>
      <p:sp>
        <p:nvSpPr>
          <p:cNvPr id="20" name="Text 18"/>
          <p:cNvSpPr/>
          <p:nvPr/>
        </p:nvSpPr>
        <p:spPr>
          <a:xfrm>
            <a:off x="402336" y="3931920"/>
            <a:ext cx="3950208" cy="566928"/>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Resources cannot be forcibly taken from a process. Must be voluntarily released.</a:t>
            </a:r>
            <a:endParaRPr lang="en-US" sz="1150" dirty="0"/>
          </a:p>
        </p:txBody>
      </p:sp>
      <p:sp>
        <p:nvSpPr>
          <p:cNvPr id="21" name="Text 19"/>
          <p:cNvSpPr/>
          <p:nvPr/>
        </p:nvSpPr>
        <p:spPr>
          <a:xfrm>
            <a:off x="402336" y="4517136"/>
            <a:ext cx="3950208" cy="384048"/>
          </a:xfrm>
          <a:prstGeom prst="rect">
            <a:avLst/>
          </a:prstGeom>
          <a:noFill/>
          <a:ln/>
        </p:spPr>
        <p:txBody>
          <a:bodyPr wrap="square" lIns="0" tIns="0" rIns="0" bIns="0" rtlCol="0" anchor="ctr"/>
          <a:lstStyle/>
          <a:p>
            <a:pPr indent="0" marL="0">
              <a:buNone/>
            </a:pPr>
            <a:r>
              <a:rPr lang="en-US" sz="1100" i="1" dirty="0">
                <a:solidFill>
                  <a:srgbClr val="6A1B9A"/>
                </a:solidFill>
                <a:latin typeface="Calibri" pitchFamily="34" charset="0"/>
                <a:ea typeface="Calibri" pitchFamily="34" charset="-122"/>
                <a:cs typeface="Calibri" pitchFamily="34" charset="-120"/>
              </a:rPr>
              <a:t>📍 Cannot pull the printer away from Process A mid-job without ruining the print.</a:t>
            </a:r>
            <a:endParaRPr lang="en-US" sz="1100" dirty="0"/>
          </a:p>
        </p:txBody>
      </p:sp>
      <p:sp>
        <p:nvSpPr>
          <p:cNvPr id="22" name="Text 20"/>
          <p:cNvSpPr/>
          <p:nvPr/>
        </p:nvSpPr>
        <p:spPr>
          <a:xfrm>
            <a:off x="402336" y="4937760"/>
            <a:ext cx="3950208" cy="347472"/>
          </a:xfrm>
          <a:prstGeom prst="rect">
            <a:avLst/>
          </a:prstGeom>
          <a:noFill/>
          <a:ln/>
        </p:spPr>
        <p:txBody>
          <a:bodyPr wrap="square" lIns="0" tIns="0" rIns="0" bIns="0" rtlCol="0" anchor="ctr"/>
          <a:lstStyle/>
          <a:p>
            <a:pPr indent="0" marL="0">
              <a:buNone/>
            </a:pPr>
            <a:r>
              <a:rPr lang="en-US" sz="1050" dirty="0">
                <a:solidFill>
                  <a:srgbClr val="00695C"/>
                </a:solidFill>
                <a:latin typeface="Calibri" pitchFamily="34" charset="0"/>
                <a:ea typeface="Calibri" pitchFamily="34" charset="-122"/>
                <a:cs typeface="Calibri" pitchFamily="34" charset="-120"/>
              </a:rPr>
              <a:t>💡 Break: Allow OS to preempt resources from waiting processes.</a:t>
            </a:r>
            <a:endParaRPr lang="en-US" sz="1050" dirty="0"/>
          </a:p>
        </p:txBody>
      </p:sp>
      <p:sp>
        <p:nvSpPr>
          <p:cNvPr id="23" name="Shape 21"/>
          <p:cNvSpPr/>
          <p:nvPr/>
        </p:nvSpPr>
        <p:spPr>
          <a:xfrm>
            <a:off x="4736592" y="3310128"/>
            <a:ext cx="4224528" cy="2148840"/>
          </a:xfrm>
          <a:prstGeom prst="roundRect">
            <a:avLst>
              <a:gd name="adj" fmla="val 5106"/>
            </a:avLst>
          </a:prstGeom>
          <a:solidFill>
            <a:srgbClr val="FFFFFF"/>
          </a:solidFill>
          <a:ln/>
          <a:effectLst>
            <a:outerShdw sx="100000" sy="100000" kx="0" ky="0" algn="bl" rotWithShape="0" blurRad="63500" dist="25400" dir="2700000">
              <a:srgbClr val="000000">
                <a:alpha val="10000"/>
              </a:srgbClr>
            </a:outerShdw>
          </a:effectLst>
        </p:spPr>
      </p:sp>
      <p:sp>
        <p:nvSpPr>
          <p:cNvPr id="24" name="Shape 22"/>
          <p:cNvSpPr/>
          <p:nvPr/>
        </p:nvSpPr>
        <p:spPr>
          <a:xfrm>
            <a:off x="4791456" y="3364992"/>
            <a:ext cx="4114800" cy="502920"/>
          </a:xfrm>
          <a:prstGeom prst="roundRect">
            <a:avLst>
              <a:gd name="adj" fmla="val 14545"/>
            </a:avLst>
          </a:prstGeom>
          <a:solidFill>
            <a:srgbClr val="00695C"/>
          </a:solidFill>
          <a:ln/>
        </p:spPr>
      </p:sp>
      <p:sp>
        <p:nvSpPr>
          <p:cNvPr id="25" name="Text 23"/>
          <p:cNvSpPr/>
          <p:nvPr/>
        </p:nvSpPr>
        <p:spPr>
          <a:xfrm>
            <a:off x="4846320" y="3419856"/>
            <a:ext cx="397764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4.  🔄  Circular Wait</a:t>
            </a:r>
            <a:endParaRPr lang="en-US" sz="1500" dirty="0"/>
          </a:p>
        </p:txBody>
      </p:sp>
      <p:sp>
        <p:nvSpPr>
          <p:cNvPr id="26" name="Text 24"/>
          <p:cNvSpPr/>
          <p:nvPr/>
        </p:nvSpPr>
        <p:spPr>
          <a:xfrm>
            <a:off x="4864608" y="3931920"/>
            <a:ext cx="3950208" cy="566928"/>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A circular chain of processes: each holds a resource needed by the next process in the chain.</a:t>
            </a:r>
            <a:endParaRPr lang="en-US" sz="1150" dirty="0"/>
          </a:p>
        </p:txBody>
      </p:sp>
      <p:sp>
        <p:nvSpPr>
          <p:cNvPr id="27" name="Text 25"/>
          <p:cNvSpPr/>
          <p:nvPr/>
        </p:nvSpPr>
        <p:spPr>
          <a:xfrm>
            <a:off x="4864608" y="4517136"/>
            <a:ext cx="3950208" cy="384048"/>
          </a:xfrm>
          <a:prstGeom prst="rect">
            <a:avLst/>
          </a:prstGeom>
          <a:noFill/>
          <a:ln/>
        </p:spPr>
        <p:txBody>
          <a:bodyPr wrap="square" lIns="0" tIns="0" rIns="0" bIns="0" rtlCol="0" anchor="ctr"/>
          <a:lstStyle/>
          <a:p>
            <a:pPr indent="0" marL="0">
              <a:buNone/>
            </a:pPr>
            <a:r>
              <a:rPr lang="en-US" sz="1100" i="1" dirty="0">
                <a:solidFill>
                  <a:srgbClr val="00695C"/>
                </a:solidFill>
                <a:latin typeface="Calibri" pitchFamily="34" charset="0"/>
                <a:ea typeface="Calibri" pitchFamily="34" charset="-122"/>
                <a:cs typeface="Calibri" pitchFamily="34" charset="-120"/>
              </a:rPr>
              <a:t>📍 P1 waits for P2's resource. P2 waits for P3's resource. P3 waits for P1's resource.</a:t>
            </a:r>
            <a:endParaRPr lang="en-US" sz="1100" dirty="0"/>
          </a:p>
        </p:txBody>
      </p:sp>
      <p:sp>
        <p:nvSpPr>
          <p:cNvPr id="28" name="Text 26"/>
          <p:cNvSpPr/>
          <p:nvPr/>
        </p:nvSpPr>
        <p:spPr>
          <a:xfrm>
            <a:off x="4864608" y="4937760"/>
            <a:ext cx="3950208" cy="347472"/>
          </a:xfrm>
          <a:prstGeom prst="rect">
            <a:avLst/>
          </a:prstGeom>
          <a:noFill/>
          <a:ln/>
        </p:spPr>
        <p:txBody>
          <a:bodyPr wrap="square" lIns="0" tIns="0" rIns="0" bIns="0" rtlCol="0" anchor="ctr"/>
          <a:lstStyle/>
          <a:p>
            <a:pPr indent="0" marL="0">
              <a:buNone/>
            </a:pPr>
            <a:r>
              <a:rPr lang="en-US" sz="1050" dirty="0">
                <a:solidFill>
                  <a:srgbClr val="00695C"/>
                </a:solidFill>
                <a:latin typeface="Calibri" pitchFamily="34" charset="0"/>
                <a:ea typeface="Calibri" pitchFamily="34" charset="-122"/>
                <a:cs typeface="Calibri" pitchFamily="34" charset="-120"/>
              </a:rPr>
              <a:t>💡 Break: Impose a total ordering on resource types; request in order.</a:t>
            </a:r>
            <a:endParaRPr lang="en-US" sz="1050" dirty="0"/>
          </a:p>
        </p:txBody>
      </p:sp>
      <p:sp>
        <p:nvSpPr>
          <p:cNvPr id="29" name="Shape 27"/>
          <p:cNvSpPr/>
          <p:nvPr/>
        </p:nvSpPr>
        <p:spPr>
          <a:xfrm>
            <a:off x="320040" y="4773168"/>
            <a:ext cx="8503920" cy="384048"/>
          </a:xfrm>
          <a:prstGeom prst="roundRect">
            <a:avLst>
              <a:gd name="adj" fmla="val 19048"/>
            </a:avLst>
          </a:prstGeom>
          <a:solidFill>
            <a:srgbClr val="1A0A0A"/>
          </a:solidFill>
          <a:ln/>
        </p:spPr>
      </p:sp>
      <p:sp>
        <p:nvSpPr>
          <p:cNvPr id="30" name="Text 28"/>
          <p:cNvSpPr/>
          <p:nvPr/>
        </p:nvSpPr>
        <p:spPr>
          <a:xfrm>
            <a:off x="457200" y="4818888"/>
            <a:ext cx="8229600" cy="292608"/>
          </a:xfrm>
          <a:prstGeom prst="rect">
            <a:avLst/>
          </a:prstGeom>
          <a:noFill/>
          <a:ln/>
        </p:spPr>
        <p:txBody>
          <a:bodyPr wrap="square" lIns="0" tIns="0" rIns="0" bIns="0" rtlCol="0" anchor="ctr"/>
          <a:lstStyle/>
          <a:p>
            <a:pPr algn="ctr" indent="0" marL="0">
              <a:buNone/>
            </a:pPr>
            <a:r>
              <a:rPr lang="en-US" sz="1300" b="1" dirty="0">
                <a:solidFill>
                  <a:srgbClr val="F9A825"/>
                </a:solidFill>
                <a:latin typeface="Calibri" pitchFamily="34" charset="0"/>
                <a:ea typeface="Calibri" pitchFamily="34" charset="-122"/>
                <a:cs typeface="Calibri" pitchFamily="34" charset="-120"/>
              </a:rPr>
              <a:t>🧠  Memory Trick:  M-H-N-C  →  Mutual exclusion, Hold &amp; wait, No preemption, Circular wait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695C"/>
          </a:solidFill>
          <a:ln w="12700">
            <a:solidFill>
              <a:srgbClr val="00695C"/>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200" b="1" dirty="0">
                <a:solidFill>
                  <a:srgbClr val="1A0A0A"/>
                </a:solidFill>
                <a:latin typeface="Cambria" pitchFamily="34" charset="0"/>
                <a:ea typeface="Cambria" pitchFamily="34" charset="-122"/>
                <a:cs typeface="Cambria" pitchFamily="34" charset="-120"/>
              </a:rPr>
              <a:t>Resource Allocation Graph (RAG)</a:t>
            </a:r>
            <a:endParaRPr lang="en-US" sz="3200" dirty="0"/>
          </a:p>
        </p:txBody>
      </p:sp>
      <p:sp>
        <p:nvSpPr>
          <p:cNvPr id="4" name="Shape 2"/>
          <p:cNvSpPr/>
          <p:nvPr/>
        </p:nvSpPr>
        <p:spPr>
          <a:xfrm>
            <a:off x="320040" y="822960"/>
            <a:ext cx="8503920" cy="658368"/>
          </a:xfrm>
          <a:prstGeom prst="roundRect">
            <a:avLst>
              <a:gd name="adj" fmla="val 13889"/>
            </a:avLst>
          </a:prstGeom>
          <a:solidFill>
            <a:srgbClr val="E0F7FA"/>
          </a:solidFill>
          <a:ln w="19050">
            <a:solidFill>
              <a:srgbClr val="00695C"/>
            </a:solidFill>
            <a:prstDash val="solid"/>
          </a:ln>
        </p:spPr>
      </p:sp>
      <p:sp>
        <p:nvSpPr>
          <p:cNvPr id="5" name="Text 3"/>
          <p:cNvSpPr/>
          <p:nvPr/>
        </p:nvSpPr>
        <p:spPr>
          <a:xfrm>
            <a:off x="457200" y="877824"/>
            <a:ext cx="4389120" cy="502920"/>
          </a:xfrm>
          <a:prstGeom prst="rect">
            <a:avLst/>
          </a:prstGeom>
          <a:noFill/>
          <a:ln/>
        </p:spPr>
        <p:txBody>
          <a:bodyPr wrap="square" lIns="0" tIns="0" rIns="0" bIns="0" rtlCol="0" anchor="ctr"/>
          <a:lstStyle/>
          <a:p>
            <a:pPr indent="0" marL="0">
              <a:buNone/>
            </a:pPr>
            <a:r>
              <a:rPr lang="en-US" sz="1250" dirty="0">
                <a:solidFill>
                  <a:srgbClr val="1C0A0A"/>
                </a:solidFill>
                <a:latin typeface="Calibri" pitchFamily="34" charset="0"/>
                <a:ea typeface="Calibri" pitchFamily="34" charset="-122"/>
                <a:cs typeface="Calibri" pitchFamily="34" charset="-120"/>
              </a:rPr>
              <a:t>🔵 Circle = Process  |  ⬛ Rectangle = Resource  |  Dot inside rectangle = resource instance</a:t>
            </a:r>
            <a:endParaRPr lang="en-US" sz="1250" dirty="0"/>
          </a:p>
        </p:txBody>
      </p:sp>
      <p:sp>
        <p:nvSpPr>
          <p:cNvPr id="6" name="Text 4"/>
          <p:cNvSpPr/>
          <p:nvPr/>
        </p:nvSpPr>
        <p:spPr>
          <a:xfrm>
            <a:off x="4892040" y="877824"/>
            <a:ext cx="3840480" cy="502920"/>
          </a:xfrm>
          <a:prstGeom prst="rect">
            <a:avLst/>
          </a:prstGeom>
          <a:noFill/>
          <a:ln/>
        </p:spPr>
        <p:txBody>
          <a:bodyPr wrap="square" lIns="0" tIns="0" rIns="0" bIns="0" rtlCol="0" anchor="ctr"/>
          <a:lstStyle/>
          <a:p>
            <a:pPr indent="0" marL="0">
              <a:buNone/>
            </a:pPr>
            <a:r>
              <a:rPr lang="en-US" sz="1250" dirty="0">
                <a:solidFill>
                  <a:srgbClr val="1C0A0A"/>
                </a:solidFill>
                <a:latin typeface="Calibri" pitchFamily="34" charset="0"/>
                <a:ea typeface="Calibri" pitchFamily="34" charset="-122"/>
                <a:cs typeface="Calibri" pitchFamily="34" charset="-120"/>
              </a:rPr>
              <a:t>→ Process to Resource = REQUEST EDGE  |  → Resource to Process = ASSIGNMENT EDGE</a:t>
            </a:r>
            <a:endParaRPr lang="en-US" sz="1250" dirty="0"/>
          </a:p>
        </p:txBody>
      </p:sp>
      <p:sp>
        <p:nvSpPr>
          <p:cNvPr id="7" name="Shape 5"/>
          <p:cNvSpPr/>
          <p:nvPr/>
        </p:nvSpPr>
        <p:spPr>
          <a:xfrm>
            <a:off x="274320" y="1572768"/>
            <a:ext cx="2743200" cy="3566160"/>
          </a:xfrm>
          <a:prstGeom prst="roundRect">
            <a:avLst>
              <a:gd name="adj" fmla="val 3333"/>
            </a:avLst>
          </a:prstGeom>
          <a:solidFill>
            <a:srgbClr val="FFF8F8"/>
          </a:solidFill>
          <a:ln/>
          <a:effectLst>
            <a:outerShdw sx="100000" sy="100000" kx="0" ky="0" algn="bl" rotWithShape="0" blurRad="63500" dist="25400" dir="2700000">
              <a:srgbClr val="000000">
                <a:alpha val="10000"/>
              </a:srgbClr>
            </a:outerShdw>
          </a:effectLst>
        </p:spPr>
      </p:sp>
      <p:sp>
        <p:nvSpPr>
          <p:cNvPr id="8" name="Shape 6"/>
          <p:cNvSpPr/>
          <p:nvPr/>
        </p:nvSpPr>
        <p:spPr>
          <a:xfrm>
            <a:off x="274320" y="1572768"/>
            <a:ext cx="2743200" cy="475488"/>
          </a:xfrm>
          <a:prstGeom prst="roundRect">
            <a:avLst>
              <a:gd name="adj" fmla="val 15385"/>
            </a:avLst>
          </a:prstGeom>
          <a:solidFill>
            <a:srgbClr val="00695C"/>
          </a:solidFill>
          <a:ln/>
        </p:spPr>
      </p:sp>
      <p:sp>
        <p:nvSpPr>
          <p:cNvPr id="9" name="Text 7"/>
          <p:cNvSpPr/>
          <p:nvPr/>
        </p:nvSpPr>
        <p:spPr>
          <a:xfrm>
            <a:off x="320040" y="1618488"/>
            <a:ext cx="26517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Case 1 — NO Deadlock</a:t>
            </a:r>
            <a:endParaRPr lang="en-US" sz="1300" dirty="0"/>
          </a:p>
        </p:txBody>
      </p:sp>
      <p:sp>
        <p:nvSpPr>
          <p:cNvPr id="10" name="Shape 8"/>
          <p:cNvSpPr/>
          <p:nvPr/>
        </p:nvSpPr>
        <p:spPr>
          <a:xfrm>
            <a:off x="502920" y="2176272"/>
            <a:ext cx="1005840" cy="566928"/>
          </a:xfrm>
          <a:prstGeom prst="ellipse">
            <a:avLst/>
          </a:prstGeom>
          <a:solidFill>
            <a:srgbClr val="1565C0"/>
          </a:solidFill>
          <a:ln w="12700">
            <a:solidFill>
              <a:srgbClr val="1565C0"/>
            </a:solidFill>
            <a:prstDash val="solid"/>
          </a:ln>
        </p:spPr>
      </p:sp>
      <p:sp>
        <p:nvSpPr>
          <p:cNvPr id="11" name="Text 9"/>
          <p:cNvSpPr/>
          <p:nvPr/>
        </p:nvSpPr>
        <p:spPr>
          <a:xfrm>
            <a:off x="502920" y="2240280"/>
            <a:ext cx="10058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P1</a:t>
            </a:r>
            <a:endParaRPr lang="en-US" sz="1300" dirty="0"/>
          </a:p>
        </p:txBody>
      </p:sp>
      <p:sp>
        <p:nvSpPr>
          <p:cNvPr id="12" name="Shape 10"/>
          <p:cNvSpPr/>
          <p:nvPr/>
        </p:nvSpPr>
        <p:spPr>
          <a:xfrm>
            <a:off x="1737360" y="2176272"/>
            <a:ext cx="1005840" cy="566928"/>
          </a:xfrm>
          <a:prstGeom prst="roundRect">
            <a:avLst>
              <a:gd name="adj" fmla="val 9677"/>
            </a:avLst>
          </a:prstGeom>
          <a:solidFill>
            <a:srgbClr val="F57C00"/>
          </a:solidFill>
          <a:ln w="12700">
            <a:solidFill>
              <a:srgbClr val="F57C00"/>
            </a:solidFill>
            <a:prstDash val="solid"/>
          </a:ln>
        </p:spPr>
      </p:sp>
      <p:sp>
        <p:nvSpPr>
          <p:cNvPr id="13" name="Text 11"/>
          <p:cNvSpPr/>
          <p:nvPr/>
        </p:nvSpPr>
        <p:spPr>
          <a:xfrm>
            <a:off x="1737360" y="2231136"/>
            <a:ext cx="100584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R1 ●</a:t>
            </a:r>
            <a:endParaRPr lang="en-US" sz="1300" dirty="0"/>
          </a:p>
        </p:txBody>
      </p:sp>
      <p:sp>
        <p:nvSpPr>
          <p:cNvPr id="14" name="Shape 12"/>
          <p:cNvSpPr/>
          <p:nvPr/>
        </p:nvSpPr>
        <p:spPr>
          <a:xfrm>
            <a:off x="502920" y="3017520"/>
            <a:ext cx="1005840" cy="566928"/>
          </a:xfrm>
          <a:prstGeom prst="ellipse">
            <a:avLst/>
          </a:prstGeom>
          <a:solidFill>
            <a:srgbClr val="6A1B9A"/>
          </a:solidFill>
          <a:ln w="12700">
            <a:solidFill>
              <a:srgbClr val="6A1B9A"/>
            </a:solidFill>
            <a:prstDash val="solid"/>
          </a:ln>
        </p:spPr>
      </p:sp>
      <p:sp>
        <p:nvSpPr>
          <p:cNvPr id="15" name="Text 13"/>
          <p:cNvSpPr/>
          <p:nvPr/>
        </p:nvSpPr>
        <p:spPr>
          <a:xfrm>
            <a:off x="502920" y="3081528"/>
            <a:ext cx="10058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6" name="Shape 14"/>
          <p:cNvSpPr/>
          <p:nvPr/>
        </p:nvSpPr>
        <p:spPr>
          <a:xfrm>
            <a:off x="1508760" y="2459736"/>
            <a:ext cx="228600" cy="0"/>
          </a:xfrm>
          <a:prstGeom prst="line">
            <a:avLst/>
          </a:prstGeom>
          <a:noFill/>
          <a:ln w="25400">
            <a:solidFill>
              <a:srgbClr val="B71C1C"/>
            </a:solidFill>
            <a:prstDash val="solid"/>
          </a:ln>
        </p:spPr>
      </p:sp>
      <p:sp>
        <p:nvSpPr>
          <p:cNvPr id="17" name="Text 15"/>
          <p:cNvSpPr/>
          <p:nvPr/>
        </p:nvSpPr>
        <p:spPr>
          <a:xfrm>
            <a:off x="1508760" y="2286000"/>
            <a:ext cx="822960" cy="228600"/>
          </a:xfrm>
          <a:prstGeom prst="rect">
            <a:avLst/>
          </a:prstGeom>
          <a:noFill/>
          <a:ln/>
        </p:spPr>
        <p:txBody>
          <a:bodyPr wrap="square" lIns="0" tIns="0" rIns="0" bIns="0" rtlCol="0" anchor="ctr"/>
          <a:lstStyle/>
          <a:p>
            <a:pPr indent="0" marL="0">
              <a:buNone/>
            </a:pPr>
            <a:r>
              <a:rPr lang="en-US" sz="950" dirty="0">
                <a:solidFill>
                  <a:srgbClr val="B71C1C"/>
                </a:solidFill>
                <a:latin typeface="Calibri" pitchFamily="34" charset="0"/>
                <a:ea typeface="Calibri" pitchFamily="34" charset="-122"/>
                <a:cs typeface="Calibri" pitchFamily="34" charset="-120"/>
              </a:rPr>
              <a:t>request →</a:t>
            </a:r>
            <a:endParaRPr lang="en-US" sz="950" dirty="0"/>
          </a:p>
        </p:txBody>
      </p:sp>
      <p:sp>
        <p:nvSpPr>
          <p:cNvPr id="18" name="Shape 16"/>
          <p:cNvSpPr/>
          <p:nvPr/>
        </p:nvSpPr>
        <p:spPr>
          <a:xfrm>
            <a:off x="1737360" y="3310128"/>
            <a:ext cx="-685800" cy="0"/>
          </a:xfrm>
          <a:prstGeom prst="line">
            <a:avLst/>
          </a:prstGeom>
          <a:noFill/>
          <a:ln w="25400">
            <a:solidFill>
              <a:srgbClr val="00695C"/>
            </a:solidFill>
            <a:prstDash val="solid"/>
          </a:ln>
        </p:spPr>
      </p:sp>
      <p:sp>
        <p:nvSpPr>
          <p:cNvPr id="19" name="Text 17"/>
          <p:cNvSpPr/>
          <p:nvPr/>
        </p:nvSpPr>
        <p:spPr>
          <a:xfrm>
            <a:off x="1051560" y="3364992"/>
            <a:ext cx="822960" cy="228600"/>
          </a:xfrm>
          <a:prstGeom prst="rect">
            <a:avLst/>
          </a:prstGeom>
          <a:noFill/>
          <a:ln/>
        </p:spPr>
        <p:txBody>
          <a:bodyPr wrap="square" lIns="0" tIns="0" rIns="0" bIns="0" rtlCol="0" anchor="ctr"/>
          <a:lstStyle/>
          <a:p>
            <a:pPr indent="0" marL="0">
              <a:buNone/>
            </a:pPr>
            <a:r>
              <a:rPr lang="en-US" sz="950" dirty="0">
                <a:solidFill>
                  <a:srgbClr val="00695C"/>
                </a:solidFill>
                <a:latin typeface="Calibri" pitchFamily="34" charset="0"/>
                <a:ea typeface="Calibri" pitchFamily="34" charset="-122"/>
                <a:cs typeface="Calibri" pitchFamily="34" charset="-120"/>
              </a:rPr>
              <a:t>← assigned</a:t>
            </a:r>
            <a:endParaRPr lang="en-US" sz="950" dirty="0"/>
          </a:p>
        </p:txBody>
      </p:sp>
      <p:sp>
        <p:nvSpPr>
          <p:cNvPr id="20" name="Text 18"/>
          <p:cNvSpPr/>
          <p:nvPr/>
        </p:nvSpPr>
        <p:spPr>
          <a:xfrm>
            <a:off x="365760" y="4526280"/>
            <a:ext cx="2542032" cy="365760"/>
          </a:xfrm>
          <a:prstGeom prst="rect">
            <a:avLst/>
          </a:prstGeom>
          <a:noFill/>
          <a:ln/>
        </p:spPr>
        <p:txBody>
          <a:bodyPr wrap="square" lIns="0" tIns="0" rIns="0" bIns="0" rtlCol="0" anchor="ctr"/>
          <a:lstStyle/>
          <a:p>
            <a:pPr algn="ctr" indent="0" marL="0">
              <a:buNone/>
            </a:pPr>
            <a:r>
              <a:rPr lang="en-US" sz="1200" b="1" dirty="0">
                <a:solidFill>
                  <a:srgbClr val="2E7D32"/>
                </a:solidFill>
                <a:latin typeface="Calibri" pitchFamily="34" charset="0"/>
                <a:ea typeface="Calibri" pitchFamily="34" charset="-122"/>
                <a:cs typeface="Calibri" pitchFamily="34" charset="-120"/>
              </a:rPr>
              <a:t>No cycle → NO DEADLOCK ✅</a:t>
            </a:r>
            <a:endParaRPr lang="en-US" sz="1200" dirty="0"/>
          </a:p>
        </p:txBody>
      </p:sp>
      <p:sp>
        <p:nvSpPr>
          <p:cNvPr id="21" name="Shape 19"/>
          <p:cNvSpPr/>
          <p:nvPr/>
        </p:nvSpPr>
        <p:spPr>
          <a:xfrm>
            <a:off x="3291840" y="1572768"/>
            <a:ext cx="2743200" cy="3566160"/>
          </a:xfrm>
          <a:prstGeom prst="roundRect">
            <a:avLst>
              <a:gd name="adj" fmla="val 3333"/>
            </a:avLst>
          </a:prstGeom>
          <a:solidFill>
            <a:srgbClr val="FFF8F8"/>
          </a:solidFill>
          <a:ln/>
          <a:effectLst>
            <a:outerShdw sx="100000" sy="100000" kx="0" ky="0" algn="bl" rotWithShape="0" blurRad="63500" dist="25400" dir="2700000">
              <a:srgbClr val="000000">
                <a:alpha val="10000"/>
              </a:srgbClr>
            </a:outerShdw>
          </a:effectLst>
        </p:spPr>
      </p:sp>
      <p:sp>
        <p:nvSpPr>
          <p:cNvPr id="22" name="Shape 20"/>
          <p:cNvSpPr/>
          <p:nvPr/>
        </p:nvSpPr>
        <p:spPr>
          <a:xfrm>
            <a:off x="3291840" y="1572768"/>
            <a:ext cx="2743200" cy="475488"/>
          </a:xfrm>
          <a:prstGeom prst="roundRect">
            <a:avLst>
              <a:gd name="adj" fmla="val 15385"/>
            </a:avLst>
          </a:prstGeom>
          <a:solidFill>
            <a:srgbClr val="B71C1C"/>
          </a:solidFill>
          <a:ln/>
        </p:spPr>
      </p:sp>
      <p:sp>
        <p:nvSpPr>
          <p:cNvPr id="23" name="Text 21"/>
          <p:cNvSpPr/>
          <p:nvPr/>
        </p:nvSpPr>
        <p:spPr>
          <a:xfrm>
            <a:off x="3337560" y="1618488"/>
            <a:ext cx="26517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Case 2 — DEADLOCK</a:t>
            </a:r>
            <a:endParaRPr lang="en-US" sz="1300" dirty="0"/>
          </a:p>
        </p:txBody>
      </p:sp>
      <p:sp>
        <p:nvSpPr>
          <p:cNvPr id="24" name="Shape 22"/>
          <p:cNvSpPr/>
          <p:nvPr/>
        </p:nvSpPr>
        <p:spPr>
          <a:xfrm>
            <a:off x="3429000" y="2148840"/>
            <a:ext cx="1005840" cy="566928"/>
          </a:xfrm>
          <a:prstGeom prst="ellipse">
            <a:avLst/>
          </a:prstGeom>
          <a:solidFill>
            <a:srgbClr val="1565C0"/>
          </a:solidFill>
          <a:ln w="12700">
            <a:solidFill>
              <a:srgbClr val="1565C0"/>
            </a:solidFill>
            <a:prstDash val="solid"/>
          </a:ln>
        </p:spPr>
      </p:sp>
      <p:sp>
        <p:nvSpPr>
          <p:cNvPr id="25" name="Text 23"/>
          <p:cNvSpPr/>
          <p:nvPr/>
        </p:nvSpPr>
        <p:spPr>
          <a:xfrm>
            <a:off x="3429000" y="2212848"/>
            <a:ext cx="10058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P1</a:t>
            </a:r>
            <a:endParaRPr lang="en-US" sz="1300" dirty="0"/>
          </a:p>
        </p:txBody>
      </p:sp>
      <p:sp>
        <p:nvSpPr>
          <p:cNvPr id="26" name="Shape 24"/>
          <p:cNvSpPr/>
          <p:nvPr/>
        </p:nvSpPr>
        <p:spPr>
          <a:xfrm>
            <a:off x="3429000" y="3200400"/>
            <a:ext cx="1005840" cy="566928"/>
          </a:xfrm>
          <a:prstGeom prst="ellipse">
            <a:avLst/>
          </a:prstGeom>
          <a:solidFill>
            <a:srgbClr val="6A1B9A"/>
          </a:solidFill>
          <a:ln w="12700">
            <a:solidFill>
              <a:srgbClr val="6A1B9A"/>
            </a:solidFill>
            <a:prstDash val="solid"/>
          </a:ln>
        </p:spPr>
      </p:sp>
      <p:sp>
        <p:nvSpPr>
          <p:cNvPr id="27" name="Text 25"/>
          <p:cNvSpPr/>
          <p:nvPr/>
        </p:nvSpPr>
        <p:spPr>
          <a:xfrm>
            <a:off x="3429000" y="3264408"/>
            <a:ext cx="10058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28" name="Shape 26"/>
          <p:cNvSpPr/>
          <p:nvPr/>
        </p:nvSpPr>
        <p:spPr>
          <a:xfrm>
            <a:off x="4736592" y="2148840"/>
            <a:ext cx="1051560" cy="566928"/>
          </a:xfrm>
          <a:prstGeom prst="roundRect">
            <a:avLst>
              <a:gd name="adj" fmla="val 9677"/>
            </a:avLst>
          </a:prstGeom>
          <a:solidFill>
            <a:srgbClr val="F57C00"/>
          </a:solidFill>
          <a:ln/>
        </p:spPr>
      </p:sp>
      <p:sp>
        <p:nvSpPr>
          <p:cNvPr id="29" name="Text 27"/>
          <p:cNvSpPr/>
          <p:nvPr/>
        </p:nvSpPr>
        <p:spPr>
          <a:xfrm>
            <a:off x="4736592" y="2203704"/>
            <a:ext cx="105156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R1 ●</a:t>
            </a:r>
            <a:endParaRPr lang="en-US" sz="1300" dirty="0"/>
          </a:p>
        </p:txBody>
      </p:sp>
      <p:sp>
        <p:nvSpPr>
          <p:cNvPr id="30" name="Shape 28"/>
          <p:cNvSpPr/>
          <p:nvPr/>
        </p:nvSpPr>
        <p:spPr>
          <a:xfrm>
            <a:off x="4736592" y="3200400"/>
            <a:ext cx="1051560" cy="566928"/>
          </a:xfrm>
          <a:prstGeom prst="roundRect">
            <a:avLst>
              <a:gd name="adj" fmla="val 9677"/>
            </a:avLst>
          </a:prstGeom>
          <a:solidFill>
            <a:srgbClr val="00695C"/>
          </a:solidFill>
          <a:ln/>
        </p:spPr>
      </p:sp>
      <p:sp>
        <p:nvSpPr>
          <p:cNvPr id="31" name="Text 29"/>
          <p:cNvSpPr/>
          <p:nvPr/>
        </p:nvSpPr>
        <p:spPr>
          <a:xfrm>
            <a:off x="4736592" y="3255264"/>
            <a:ext cx="105156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R2 ●</a:t>
            </a:r>
            <a:endParaRPr lang="en-US" sz="1300" dirty="0"/>
          </a:p>
        </p:txBody>
      </p:sp>
      <p:sp>
        <p:nvSpPr>
          <p:cNvPr id="32" name="Shape 30"/>
          <p:cNvSpPr/>
          <p:nvPr/>
        </p:nvSpPr>
        <p:spPr>
          <a:xfrm>
            <a:off x="4434840" y="2432304"/>
            <a:ext cx="301752" cy="0"/>
          </a:xfrm>
          <a:prstGeom prst="line">
            <a:avLst/>
          </a:prstGeom>
          <a:noFill/>
          <a:ln w="25400">
            <a:solidFill>
              <a:srgbClr val="B71C1C"/>
            </a:solidFill>
            <a:prstDash val="solid"/>
          </a:ln>
        </p:spPr>
      </p:sp>
      <p:sp>
        <p:nvSpPr>
          <p:cNvPr id="33" name="Shape 31"/>
          <p:cNvSpPr/>
          <p:nvPr/>
        </p:nvSpPr>
        <p:spPr>
          <a:xfrm>
            <a:off x="4736592" y="3255264"/>
            <a:ext cx="-1216152" cy="0"/>
          </a:xfrm>
          <a:prstGeom prst="line">
            <a:avLst/>
          </a:prstGeom>
          <a:noFill/>
          <a:ln w="25400">
            <a:solidFill>
              <a:srgbClr val="00897B"/>
            </a:solidFill>
            <a:prstDash val="solid"/>
          </a:ln>
        </p:spPr>
      </p:sp>
      <p:sp>
        <p:nvSpPr>
          <p:cNvPr id="34" name="Shape 32"/>
          <p:cNvSpPr/>
          <p:nvPr/>
        </p:nvSpPr>
        <p:spPr>
          <a:xfrm>
            <a:off x="4434840" y="3474720"/>
            <a:ext cx="301752" cy="0"/>
          </a:xfrm>
          <a:prstGeom prst="line">
            <a:avLst/>
          </a:prstGeom>
          <a:noFill/>
          <a:ln w="25400">
            <a:solidFill>
              <a:srgbClr val="B71C1C"/>
            </a:solidFill>
            <a:prstDash val="solid"/>
          </a:ln>
        </p:spPr>
      </p:sp>
      <p:sp>
        <p:nvSpPr>
          <p:cNvPr id="35" name="Shape 33"/>
          <p:cNvSpPr/>
          <p:nvPr/>
        </p:nvSpPr>
        <p:spPr>
          <a:xfrm>
            <a:off x="4736592" y="2432304"/>
            <a:ext cx="-1216152" cy="0"/>
          </a:xfrm>
          <a:prstGeom prst="line">
            <a:avLst/>
          </a:prstGeom>
          <a:noFill/>
          <a:ln w="25400">
            <a:solidFill>
              <a:srgbClr val="F57C00"/>
            </a:solidFill>
            <a:prstDash val="solid"/>
          </a:ln>
        </p:spPr>
      </p:sp>
      <p:sp>
        <p:nvSpPr>
          <p:cNvPr id="36" name="Text 34"/>
          <p:cNvSpPr/>
          <p:nvPr/>
        </p:nvSpPr>
        <p:spPr>
          <a:xfrm>
            <a:off x="3337560" y="4315968"/>
            <a:ext cx="2560320" cy="365760"/>
          </a:xfrm>
          <a:prstGeom prst="rect">
            <a:avLst/>
          </a:prstGeom>
          <a:noFill/>
          <a:ln/>
        </p:spPr>
        <p:txBody>
          <a:bodyPr wrap="square" lIns="0" tIns="0" rIns="0" bIns="0" rtlCol="0" anchor="ctr"/>
          <a:lstStyle/>
          <a:p>
            <a:pPr algn="ctr" indent="0" marL="0">
              <a:buNone/>
            </a:pPr>
            <a:r>
              <a:rPr lang="en-US" sz="1200" b="1" dirty="0">
                <a:solidFill>
                  <a:srgbClr val="B71C1C"/>
                </a:solidFill>
                <a:latin typeface="Calibri" pitchFamily="34" charset="0"/>
                <a:ea typeface="Calibri" pitchFamily="34" charset="-122"/>
                <a:cs typeface="Calibri" pitchFamily="34" charset="-120"/>
              </a:rPr>
              <a:t>Cycle → DEADLOCK 🔴</a:t>
            </a:r>
            <a:endParaRPr lang="en-US" sz="1200" dirty="0"/>
          </a:p>
        </p:txBody>
      </p:sp>
      <p:sp>
        <p:nvSpPr>
          <p:cNvPr id="37" name="Text 35"/>
          <p:cNvSpPr/>
          <p:nvPr/>
        </p:nvSpPr>
        <p:spPr>
          <a:xfrm>
            <a:off x="3337560" y="4617720"/>
            <a:ext cx="2560320" cy="457200"/>
          </a:xfrm>
          <a:prstGeom prst="rect">
            <a:avLst/>
          </a:prstGeom>
          <a:noFill/>
          <a:ln/>
        </p:spPr>
        <p:txBody>
          <a:bodyPr wrap="square" lIns="0" tIns="0" rIns="0" bIns="0" rtlCol="0" anchor="ctr"/>
          <a:lstStyle/>
          <a:p>
            <a:pPr algn="ctr" indent="0" marL="0">
              <a:buNone/>
            </a:pPr>
            <a:r>
              <a:rPr lang="en-US" sz="1100" dirty="0">
                <a:solidFill>
                  <a:srgbClr val="5D3A3A"/>
                </a:solidFill>
                <a:latin typeface="Calibri" pitchFamily="34" charset="0"/>
                <a:ea typeface="Calibri" pitchFamily="34" charset="-122"/>
                <a:cs typeface="Calibri" pitchFamily="34" charset="-120"/>
              </a:rPr>
              <a:t>P1 holds R2, waits R1</a:t>
            </a:r>
            <a:endParaRPr lang="en-US" sz="1100" dirty="0"/>
          </a:p>
          <a:p>
            <a:pPr algn="ctr" indent="0" marL="0">
              <a:buNone/>
            </a:pPr>
            <a:r>
              <a:rPr lang="en-US" sz="1100" dirty="0">
                <a:solidFill>
                  <a:srgbClr val="5D3A3A"/>
                </a:solidFill>
                <a:latin typeface="Calibri" pitchFamily="34" charset="0"/>
                <a:ea typeface="Calibri" pitchFamily="34" charset="-122"/>
                <a:cs typeface="Calibri" pitchFamily="34" charset="-120"/>
              </a:rPr>
              <a:t>P2 holds R1, waits R2</a:t>
            </a:r>
            <a:endParaRPr lang="en-US" sz="1100" dirty="0"/>
          </a:p>
        </p:txBody>
      </p:sp>
      <p:sp>
        <p:nvSpPr>
          <p:cNvPr id="38" name="Shape 36"/>
          <p:cNvSpPr/>
          <p:nvPr/>
        </p:nvSpPr>
        <p:spPr>
          <a:xfrm>
            <a:off x="6263640" y="1572768"/>
            <a:ext cx="2560320" cy="3566160"/>
          </a:xfrm>
          <a:prstGeom prst="roundRect">
            <a:avLst>
              <a:gd name="adj" fmla="val 4286"/>
            </a:avLst>
          </a:prstGeom>
          <a:solidFill>
            <a:srgbClr val="1A0A0A"/>
          </a:solidFill>
          <a:ln/>
          <a:effectLst>
            <a:outerShdw sx="100000" sy="100000" kx="0" ky="0" algn="bl" rotWithShape="0" blurRad="101600" dist="38100" dir="2700000">
              <a:srgbClr val="000000">
                <a:alpha val="15000"/>
              </a:srgbClr>
            </a:outerShdw>
          </a:effectLst>
        </p:spPr>
      </p:sp>
      <p:sp>
        <p:nvSpPr>
          <p:cNvPr id="39" name="Text 37"/>
          <p:cNvSpPr/>
          <p:nvPr/>
        </p:nvSpPr>
        <p:spPr>
          <a:xfrm>
            <a:off x="6400800" y="1664208"/>
            <a:ext cx="2286000" cy="384048"/>
          </a:xfrm>
          <a:prstGeom prst="rect">
            <a:avLst/>
          </a:prstGeom>
          <a:noFill/>
          <a:ln/>
        </p:spPr>
        <p:txBody>
          <a:bodyPr wrap="square" lIns="0" tIns="0" rIns="0" bIns="0" rtlCol="0" anchor="ctr"/>
          <a:lstStyle/>
          <a:p>
            <a:pPr indent="0" marL="0">
              <a:buNone/>
            </a:pPr>
            <a:r>
              <a:rPr lang="en-US" sz="1600" b="1" dirty="0">
                <a:solidFill>
                  <a:srgbClr val="F9A825"/>
                </a:solidFill>
                <a:latin typeface="Calibri" pitchFamily="34" charset="0"/>
                <a:ea typeface="Calibri" pitchFamily="34" charset="-122"/>
                <a:cs typeface="Calibri" pitchFamily="34" charset="-120"/>
              </a:rPr>
              <a:t>RAG Rules</a:t>
            </a:r>
            <a:endParaRPr lang="en-US" sz="1600" dirty="0"/>
          </a:p>
        </p:txBody>
      </p:sp>
      <p:sp>
        <p:nvSpPr>
          <p:cNvPr id="40" name="Shape 38"/>
          <p:cNvSpPr/>
          <p:nvPr/>
        </p:nvSpPr>
        <p:spPr>
          <a:xfrm>
            <a:off x="6400800" y="2103120"/>
            <a:ext cx="2286000" cy="868680"/>
          </a:xfrm>
          <a:prstGeom prst="roundRect">
            <a:avLst>
              <a:gd name="adj" fmla="val 8421"/>
            </a:avLst>
          </a:prstGeom>
          <a:solidFill>
            <a:srgbClr val="2C1010"/>
          </a:solidFill>
          <a:ln/>
        </p:spPr>
      </p:sp>
      <p:sp>
        <p:nvSpPr>
          <p:cNvPr id="41" name="Text 39"/>
          <p:cNvSpPr/>
          <p:nvPr/>
        </p:nvSpPr>
        <p:spPr>
          <a:xfrm>
            <a:off x="6473952" y="2148840"/>
            <a:ext cx="21488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If: No cycle</a:t>
            </a:r>
            <a:endParaRPr lang="en-US" sz="1200" dirty="0"/>
          </a:p>
        </p:txBody>
      </p:sp>
      <p:sp>
        <p:nvSpPr>
          <p:cNvPr id="42" name="Text 40"/>
          <p:cNvSpPr/>
          <p:nvPr/>
        </p:nvSpPr>
        <p:spPr>
          <a:xfrm>
            <a:off x="6473952" y="2532888"/>
            <a:ext cx="2148840" cy="347472"/>
          </a:xfrm>
          <a:prstGeom prst="rect">
            <a:avLst/>
          </a:prstGeom>
          <a:noFill/>
          <a:ln/>
        </p:spPr>
        <p:txBody>
          <a:bodyPr wrap="square" lIns="0" tIns="0" rIns="0" bIns="0" rtlCol="0" anchor="ctr"/>
          <a:lstStyle/>
          <a:p>
            <a:pPr indent="0" marL="0">
              <a:buNone/>
            </a:pPr>
            <a:r>
              <a:rPr lang="en-US" sz="1200" dirty="0">
                <a:solidFill>
                  <a:srgbClr val="F9A825"/>
                </a:solidFill>
                <a:latin typeface="Calibri" pitchFamily="34" charset="0"/>
                <a:ea typeface="Calibri" pitchFamily="34" charset="-122"/>
                <a:cs typeface="Calibri" pitchFamily="34" charset="-120"/>
              </a:rPr>
              <a:t>Then: NO deadlock ✅</a:t>
            </a:r>
            <a:endParaRPr lang="en-US" sz="1200" dirty="0"/>
          </a:p>
        </p:txBody>
      </p:sp>
      <p:sp>
        <p:nvSpPr>
          <p:cNvPr id="43" name="Shape 41"/>
          <p:cNvSpPr/>
          <p:nvPr/>
        </p:nvSpPr>
        <p:spPr>
          <a:xfrm>
            <a:off x="6400800" y="3108960"/>
            <a:ext cx="2286000" cy="868680"/>
          </a:xfrm>
          <a:prstGeom prst="roundRect">
            <a:avLst>
              <a:gd name="adj" fmla="val 8421"/>
            </a:avLst>
          </a:prstGeom>
          <a:solidFill>
            <a:srgbClr val="2C1010"/>
          </a:solidFill>
          <a:ln/>
        </p:spPr>
      </p:sp>
      <p:sp>
        <p:nvSpPr>
          <p:cNvPr id="44" name="Text 42"/>
          <p:cNvSpPr/>
          <p:nvPr/>
        </p:nvSpPr>
        <p:spPr>
          <a:xfrm>
            <a:off x="6473952" y="3154680"/>
            <a:ext cx="21488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If: Cycle +</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single instances</a:t>
            </a:r>
            <a:endParaRPr lang="en-US" sz="1200" dirty="0"/>
          </a:p>
        </p:txBody>
      </p:sp>
      <p:sp>
        <p:nvSpPr>
          <p:cNvPr id="45" name="Text 43"/>
          <p:cNvSpPr/>
          <p:nvPr/>
        </p:nvSpPr>
        <p:spPr>
          <a:xfrm>
            <a:off x="6473952" y="3538728"/>
            <a:ext cx="2148840" cy="347472"/>
          </a:xfrm>
          <a:prstGeom prst="rect">
            <a:avLst/>
          </a:prstGeom>
          <a:noFill/>
          <a:ln/>
        </p:spPr>
        <p:txBody>
          <a:bodyPr wrap="square" lIns="0" tIns="0" rIns="0" bIns="0" rtlCol="0" anchor="ctr"/>
          <a:lstStyle/>
          <a:p>
            <a:pPr indent="0" marL="0">
              <a:buNone/>
            </a:pPr>
            <a:r>
              <a:rPr lang="en-US" sz="1200" dirty="0">
                <a:solidFill>
                  <a:srgbClr val="F9A825"/>
                </a:solidFill>
                <a:latin typeface="Calibri" pitchFamily="34" charset="0"/>
                <a:ea typeface="Calibri" pitchFamily="34" charset="-122"/>
                <a:cs typeface="Calibri" pitchFamily="34" charset="-120"/>
              </a:rPr>
              <a:t>Then: DEADLOCK 🔴</a:t>
            </a:r>
            <a:endParaRPr lang="en-US" sz="1200" dirty="0"/>
          </a:p>
        </p:txBody>
      </p:sp>
      <p:sp>
        <p:nvSpPr>
          <p:cNvPr id="46" name="Shape 44"/>
          <p:cNvSpPr/>
          <p:nvPr/>
        </p:nvSpPr>
        <p:spPr>
          <a:xfrm>
            <a:off x="6400800" y="4114800"/>
            <a:ext cx="2286000" cy="868680"/>
          </a:xfrm>
          <a:prstGeom prst="roundRect">
            <a:avLst>
              <a:gd name="adj" fmla="val 8421"/>
            </a:avLst>
          </a:prstGeom>
          <a:solidFill>
            <a:srgbClr val="2C1010"/>
          </a:solidFill>
          <a:ln/>
        </p:spPr>
      </p:sp>
      <p:sp>
        <p:nvSpPr>
          <p:cNvPr id="47" name="Text 45"/>
          <p:cNvSpPr/>
          <p:nvPr/>
        </p:nvSpPr>
        <p:spPr>
          <a:xfrm>
            <a:off x="6473952" y="4160520"/>
            <a:ext cx="21488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If: Cycle +</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multiple instances</a:t>
            </a:r>
            <a:endParaRPr lang="en-US" sz="1200" dirty="0"/>
          </a:p>
        </p:txBody>
      </p:sp>
      <p:sp>
        <p:nvSpPr>
          <p:cNvPr id="48" name="Text 46"/>
          <p:cNvSpPr/>
          <p:nvPr/>
        </p:nvSpPr>
        <p:spPr>
          <a:xfrm>
            <a:off x="6473952" y="4544568"/>
            <a:ext cx="2148840" cy="347472"/>
          </a:xfrm>
          <a:prstGeom prst="rect">
            <a:avLst/>
          </a:prstGeom>
          <a:noFill/>
          <a:ln/>
        </p:spPr>
        <p:txBody>
          <a:bodyPr wrap="square" lIns="0" tIns="0" rIns="0" bIns="0" rtlCol="0" anchor="ctr"/>
          <a:lstStyle/>
          <a:p>
            <a:pPr indent="0" marL="0">
              <a:buNone/>
            </a:pPr>
            <a:r>
              <a:rPr lang="en-US" sz="1200" dirty="0">
                <a:solidFill>
                  <a:srgbClr val="F9A825"/>
                </a:solidFill>
                <a:latin typeface="Calibri" pitchFamily="34" charset="0"/>
                <a:ea typeface="Calibri" pitchFamily="34" charset="-122"/>
                <a:cs typeface="Calibri" pitchFamily="34" charset="-120"/>
              </a:rPr>
              <a:t>Then: Maybe deadlock ⚠️</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5100"/>
          </a:solidFill>
          <a:ln w="12700">
            <a:solidFill>
              <a:srgbClr val="E6510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200" b="1" dirty="0">
                <a:solidFill>
                  <a:srgbClr val="1A0A0A"/>
                </a:solidFill>
                <a:latin typeface="Cambria" pitchFamily="34" charset="0"/>
                <a:ea typeface="Cambria" pitchFamily="34" charset="-122"/>
                <a:cs typeface="Cambria" pitchFamily="34" charset="-120"/>
              </a:rPr>
              <a:t>Methods of Handling Deadlocks</a:t>
            </a:r>
            <a:endParaRPr lang="en-US" sz="3200" dirty="0"/>
          </a:p>
        </p:txBody>
      </p:sp>
      <p:sp>
        <p:nvSpPr>
          <p:cNvPr id="4" name="Shape 2"/>
          <p:cNvSpPr/>
          <p:nvPr/>
        </p:nvSpPr>
        <p:spPr>
          <a:xfrm>
            <a:off x="274320" y="822960"/>
            <a:ext cx="8595360" cy="1298448"/>
          </a:xfrm>
          <a:prstGeom prst="roundRect">
            <a:avLst>
              <a:gd name="adj" fmla="val 8451"/>
            </a:avLst>
          </a:prstGeom>
          <a:solidFill>
            <a:srgbClr val="1A0A0A"/>
          </a:solidFill>
          <a:ln/>
          <a:effectLst>
            <a:outerShdw sx="100000" sy="100000" kx="0" ky="0" algn="bl" rotWithShape="0" blurRad="101600" dist="38100" dir="2700000">
              <a:srgbClr val="000000">
                <a:alpha val="15000"/>
              </a:srgbClr>
            </a:outerShdw>
          </a:effectLst>
        </p:spPr>
      </p:sp>
      <p:sp>
        <p:nvSpPr>
          <p:cNvPr id="5" name="Text 3"/>
          <p:cNvSpPr/>
          <p:nvPr/>
        </p:nvSpPr>
        <p:spPr>
          <a:xfrm>
            <a:off x="457200" y="896112"/>
            <a:ext cx="3840480" cy="438912"/>
          </a:xfrm>
          <a:prstGeom prst="rect">
            <a:avLst/>
          </a:prstGeom>
          <a:noFill/>
          <a:ln/>
        </p:spPr>
        <p:txBody>
          <a:bodyPr wrap="square" lIns="0" tIns="0" rIns="0" bIns="0" rtlCol="0" anchor="ctr"/>
          <a:lstStyle/>
          <a:p>
            <a:pPr indent="0" marL="0">
              <a:buNone/>
            </a:pPr>
            <a:r>
              <a:rPr lang="en-US" sz="2000" b="1" dirty="0">
                <a:solidFill>
                  <a:srgbClr val="F9A825"/>
                </a:solidFill>
                <a:latin typeface="Calibri" pitchFamily="34" charset="0"/>
                <a:ea typeface="Calibri" pitchFamily="34" charset="-122"/>
                <a:cs typeface="Calibri" pitchFamily="34" charset="-120"/>
              </a:rPr>
              <a:t>🦅  The OSTRICH Algorithm</a:t>
            </a:r>
            <a:endParaRPr lang="en-US" sz="2000" dirty="0"/>
          </a:p>
        </p:txBody>
      </p:sp>
      <p:sp>
        <p:nvSpPr>
          <p:cNvPr id="6" name="Text 4"/>
          <p:cNvSpPr/>
          <p:nvPr/>
        </p:nvSpPr>
        <p:spPr>
          <a:xfrm>
            <a:off x="457200" y="1353312"/>
            <a:ext cx="420624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Strategy: IGNORE the problem entirely — pretend deadlocks don't exist.</a:t>
            </a:r>
            <a:endParaRPr lang="en-US" sz="1400" dirty="0"/>
          </a:p>
        </p:txBody>
      </p:sp>
      <p:sp>
        <p:nvSpPr>
          <p:cNvPr id="7" name="Text 5"/>
          <p:cNvSpPr/>
          <p:nvPr/>
        </p:nvSpPr>
        <p:spPr>
          <a:xfrm>
            <a:off x="4846320" y="896112"/>
            <a:ext cx="3840480" cy="11704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Zero overhead — no detection/prevention code</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Used by UNIX, Linux, Windows for most cases</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Can cause instability — reboot needed</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Not suitable for critical/safety systems</a:t>
            </a:r>
            <a:endParaRPr lang="en-US" sz="1250" dirty="0"/>
          </a:p>
        </p:txBody>
      </p:sp>
      <p:sp>
        <p:nvSpPr>
          <p:cNvPr id="8" name="Shape 6"/>
          <p:cNvSpPr/>
          <p:nvPr/>
        </p:nvSpPr>
        <p:spPr>
          <a:xfrm>
            <a:off x="274320" y="2240280"/>
            <a:ext cx="2788920" cy="2880360"/>
          </a:xfrm>
          <a:prstGeom prst="roundRect">
            <a:avLst>
              <a:gd name="adj" fmla="val 3934"/>
            </a:avLst>
          </a:prstGeom>
          <a:solidFill>
            <a:srgbClr val="FFFFFF"/>
          </a:solidFill>
          <a:ln/>
          <a:effectLst>
            <a:outerShdw sx="100000" sy="100000" kx="0" ky="0" algn="bl" rotWithShape="0" blurRad="63500" dist="25400" dir="2700000">
              <a:srgbClr val="000000">
                <a:alpha val="10000"/>
              </a:srgbClr>
            </a:outerShdw>
          </a:effectLst>
        </p:spPr>
      </p:sp>
      <p:sp>
        <p:nvSpPr>
          <p:cNvPr id="9" name="Shape 7"/>
          <p:cNvSpPr/>
          <p:nvPr/>
        </p:nvSpPr>
        <p:spPr>
          <a:xfrm>
            <a:off x="320040" y="2286000"/>
            <a:ext cx="2697480" cy="502920"/>
          </a:xfrm>
          <a:prstGeom prst="roundRect">
            <a:avLst>
              <a:gd name="adj" fmla="val 14545"/>
            </a:avLst>
          </a:prstGeom>
          <a:solidFill>
            <a:srgbClr val="00695C"/>
          </a:solidFill>
          <a:ln/>
        </p:spPr>
      </p:sp>
      <p:sp>
        <p:nvSpPr>
          <p:cNvPr id="10" name="Text 8"/>
          <p:cNvSpPr/>
          <p:nvPr/>
        </p:nvSpPr>
        <p:spPr>
          <a:xfrm>
            <a:off x="320040" y="2331720"/>
            <a:ext cx="269748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Prevention</a:t>
            </a:r>
            <a:endParaRPr lang="en-US" sz="1400" dirty="0"/>
          </a:p>
        </p:txBody>
      </p:sp>
      <p:sp>
        <p:nvSpPr>
          <p:cNvPr id="11" name="Text 9"/>
          <p:cNvSpPr/>
          <p:nvPr/>
        </p:nvSpPr>
        <p:spPr>
          <a:xfrm>
            <a:off x="384048" y="2862072"/>
            <a:ext cx="2578608" cy="475488"/>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Ensure at least ONE Coffman condition can NEVER hold</a:t>
            </a:r>
            <a:endParaRPr lang="en-US" sz="1150" dirty="0"/>
          </a:p>
        </p:txBody>
      </p:sp>
      <p:sp>
        <p:nvSpPr>
          <p:cNvPr id="12" name="Text 10"/>
          <p:cNvSpPr/>
          <p:nvPr/>
        </p:nvSpPr>
        <p:spPr>
          <a:xfrm>
            <a:off x="384048" y="3383280"/>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Attack mutual exclusion (spooling)</a:t>
            </a:r>
            <a:endParaRPr lang="en-US" sz="1100" dirty="0"/>
          </a:p>
        </p:txBody>
      </p:sp>
      <p:sp>
        <p:nvSpPr>
          <p:cNvPr id="13" name="Text 11"/>
          <p:cNvSpPr/>
          <p:nvPr/>
        </p:nvSpPr>
        <p:spPr>
          <a:xfrm>
            <a:off x="384048" y="3767328"/>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Request all resources upfront</a:t>
            </a:r>
            <a:endParaRPr lang="en-US" sz="1100" dirty="0"/>
          </a:p>
        </p:txBody>
      </p:sp>
      <p:sp>
        <p:nvSpPr>
          <p:cNvPr id="14" name="Text 12"/>
          <p:cNvSpPr/>
          <p:nvPr/>
        </p:nvSpPr>
        <p:spPr>
          <a:xfrm>
            <a:off x="384048" y="4151376"/>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Allow preemption</a:t>
            </a:r>
            <a:endParaRPr lang="en-US" sz="1100" dirty="0"/>
          </a:p>
        </p:txBody>
      </p:sp>
      <p:sp>
        <p:nvSpPr>
          <p:cNvPr id="15" name="Text 13"/>
          <p:cNvSpPr/>
          <p:nvPr/>
        </p:nvSpPr>
        <p:spPr>
          <a:xfrm>
            <a:off x="384048" y="4535424"/>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Total resource ordering</a:t>
            </a:r>
            <a:endParaRPr lang="en-US" sz="1100" dirty="0"/>
          </a:p>
        </p:txBody>
      </p:sp>
      <p:sp>
        <p:nvSpPr>
          <p:cNvPr id="16" name="Shape 14"/>
          <p:cNvSpPr/>
          <p:nvPr/>
        </p:nvSpPr>
        <p:spPr>
          <a:xfrm>
            <a:off x="384048" y="4910328"/>
            <a:ext cx="2578608" cy="18288"/>
          </a:xfrm>
          <a:prstGeom prst="rect">
            <a:avLst/>
          </a:prstGeom>
          <a:solidFill>
            <a:srgbClr val="F5E8E8"/>
          </a:solidFill>
          <a:ln w="12700">
            <a:solidFill>
              <a:srgbClr val="F5E8E8"/>
            </a:solidFill>
            <a:prstDash val="solid"/>
          </a:ln>
        </p:spPr>
      </p:sp>
      <p:sp>
        <p:nvSpPr>
          <p:cNvPr id="17" name="Text 15"/>
          <p:cNvSpPr/>
          <p:nvPr/>
        </p:nvSpPr>
        <p:spPr>
          <a:xfrm>
            <a:off x="384048" y="4937760"/>
            <a:ext cx="2578608" cy="347472"/>
          </a:xfrm>
          <a:prstGeom prst="rect">
            <a:avLst/>
          </a:prstGeom>
          <a:noFill/>
          <a:ln/>
        </p:spPr>
        <p:txBody>
          <a:bodyPr wrap="square" lIns="0" tIns="0" rIns="0" bIns="0" rtlCol="0" anchor="ctr"/>
          <a:lstStyle/>
          <a:p>
            <a:pPr indent="0" marL="0">
              <a:buNone/>
            </a:pPr>
            <a:r>
              <a:rPr lang="en-US" sz="1050" dirty="0">
                <a:solidFill>
                  <a:srgbClr val="00695C"/>
                </a:solidFill>
                <a:latin typeface="Calibri" pitchFamily="34" charset="0"/>
                <a:ea typeface="Calibri" pitchFamily="34" charset="-122"/>
                <a:cs typeface="Calibri" pitchFamily="34" charset="-120"/>
              </a:rPr>
              <a:t>Cost: High — restricts usage</a:t>
            </a:r>
            <a:endParaRPr lang="en-US" sz="1050" dirty="0"/>
          </a:p>
        </p:txBody>
      </p:sp>
      <p:sp>
        <p:nvSpPr>
          <p:cNvPr id="18" name="Shape 16"/>
          <p:cNvSpPr/>
          <p:nvPr/>
        </p:nvSpPr>
        <p:spPr>
          <a:xfrm>
            <a:off x="3218688" y="2240280"/>
            <a:ext cx="2788920" cy="2880360"/>
          </a:xfrm>
          <a:prstGeom prst="roundRect">
            <a:avLst>
              <a:gd name="adj" fmla="val 3934"/>
            </a:avLst>
          </a:prstGeom>
          <a:solidFill>
            <a:srgbClr val="FFFFFF"/>
          </a:solidFill>
          <a:ln/>
          <a:effectLst>
            <a:outerShdw sx="100000" sy="100000" kx="0" ky="0" algn="bl" rotWithShape="0" blurRad="63500" dist="25400" dir="2700000">
              <a:srgbClr val="000000">
                <a:alpha val="10000"/>
              </a:srgbClr>
            </a:outerShdw>
          </a:effectLst>
        </p:spPr>
      </p:sp>
      <p:sp>
        <p:nvSpPr>
          <p:cNvPr id="19" name="Shape 17"/>
          <p:cNvSpPr/>
          <p:nvPr/>
        </p:nvSpPr>
        <p:spPr>
          <a:xfrm>
            <a:off x="3264408" y="2286000"/>
            <a:ext cx="2697480" cy="502920"/>
          </a:xfrm>
          <a:prstGeom prst="roundRect">
            <a:avLst>
              <a:gd name="adj" fmla="val 14545"/>
            </a:avLst>
          </a:prstGeom>
          <a:solidFill>
            <a:srgbClr val="1565C0"/>
          </a:solidFill>
          <a:ln/>
        </p:spPr>
      </p:sp>
      <p:sp>
        <p:nvSpPr>
          <p:cNvPr id="20" name="Text 18"/>
          <p:cNvSpPr/>
          <p:nvPr/>
        </p:nvSpPr>
        <p:spPr>
          <a:xfrm>
            <a:off x="3264408" y="2331720"/>
            <a:ext cx="269748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Avoidance</a:t>
            </a:r>
            <a:endParaRPr lang="en-US" sz="1400" dirty="0"/>
          </a:p>
        </p:txBody>
      </p:sp>
      <p:sp>
        <p:nvSpPr>
          <p:cNvPr id="21" name="Text 19"/>
          <p:cNvSpPr/>
          <p:nvPr/>
        </p:nvSpPr>
        <p:spPr>
          <a:xfrm>
            <a:off x="3328416" y="2862072"/>
            <a:ext cx="2578608" cy="475488"/>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Dynamically grant resources ONLY if it leads to a safe state</a:t>
            </a:r>
            <a:endParaRPr lang="en-US" sz="1150" dirty="0"/>
          </a:p>
        </p:txBody>
      </p:sp>
      <p:sp>
        <p:nvSpPr>
          <p:cNvPr id="22" name="Text 20"/>
          <p:cNvSpPr/>
          <p:nvPr/>
        </p:nvSpPr>
        <p:spPr>
          <a:xfrm>
            <a:off x="3328416" y="3383280"/>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Banker's Algorithm</a:t>
            </a:r>
            <a:endParaRPr lang="en-US" sz="1100" dirty="0"/>
          </a:p>
        </p:txBody>
      </p:sp>
      <p:sp>
        <p:nvSpPr>
          <p:cNvPr id="23" name="Text 21"/>
          <p:cNvSpPr/>
          <p:nvPr/>
        </p:nvSpPr>
        <p:spPr>
          <a:xfrm>
            <a:off x="3328416" y="3767328"/>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Requires max resource info upfront</a:t>
            </a:r>
            <a:endParaRPr lang="en-US" sz="1100" dirty="0"/>
          </a:p>
        </p:txBody>
      </p:sp>
      <p:sp>
        <p:nvSpPr>
          <p:cNvPr id="24" name="Text 22"/>
          <p:cNvSpPr/>
          <p:nvPr/>
        </p:nvSpPr>
        <p:spPr>
          <a:xfrm>
            <a:off x="3328416" y="4151376"/>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Checks safety before each allocation</a:t>
            </a:r>
            <a:endParaRPr lang="en-US" sz="1100" dirty="0"/>
          </a:p>
        </p:txBody>
      </p:sp>
      <p:sp>
        <p:nvSpPr>
          <p:cNvPr id="25" name="Text 23"/>
          <p:cNvSpPr/>
          <p:nvPr/>
        </p:nvSpPr>
        <p:spPr>
          <a:xfrm>
            <a:off x="3328416" y="4535424"/>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Never enters unsafe state</a:t>
            </a:r>
            <a:endParaRPr lang="en-US" sz="1100" dirty="0"/>
          </a:p>
        </p:txBody>
      </p:sp>
      <p:sp>
        <p:nvSpPr>
          <p:cNvPr id="26" name="Shape 24"/>
          <p:cNvSpPr/>
          <p:nvPr/>
        </p:nvSpPr>
        <p:spPr>
          <a:xfrm>
            <a:off x="3328416" y="4910328"/>
            <a:ext cx="2578608" cy="18288"/>
          </a:xfrm>
          <a:prstGeom prst="rect">
            <a:avLst/>
          </a:prstGeom>
          <a:solidFill>
            <a:srgbClr val="F5E8E8"/>
          </a:solidFill>
          <a:ln w="12700">
            <a:solidFill>
              <a:srgbClr val="F5E8E8"/>
            </a:solidFill>
            <a:prstDash val="solid"/>
          </a:ln>
        </p:spPr>
      </p:sp>
      <p:sp>
        <p:nvSpPr>
          <p:cNvPr id="27" name="Text 25"/>
          <p:cNvSpPr/>
          <p:nvPr/>
        </p:nvSpPr>
        <p:spPr>
          <a:xfrm>
            <a:off x="3328416" y="4937760"/>
            <a:ext cx="2578608" cy="347472"/>
          </a:xfrm>
          <a:prstGeom prst="rect">
            <a:avLst/>
          </a:prstGeom>
          <a:noFill/>
          <a:ln/>
        </p:spPr>
        <p:txBody>
          <a:bodyPr wrap="square" lIns="0" tIns="0" rIns="0" bIns="0" rtlCol="0" anchor="ctr"/>
          <a:lstStyle/>
          <a:p>
            <a:pPr indent="0" marL="0">
              <a:buNone/>
            </a:pPr>
            <a:r>
              <a:rPr lang="en-US" sz="1050" dirty="0">
                <a:solidFill>
                  <a:srgbClr val="1565C0"/>
                </a:solidFill>
                <a:latin typeface="Calibri" pitchFamily="34" charset="0"/>
                <a:ea typeface="Calibri" pitchFamily="34" charset="-122"/>
                <a:cs typeface="Calibri" pitchFamily="34" charset="-120"/>
              </a:rPr>
              <a:t>Cost: Medium — needs advance info</a:t>
            </a:r>
            <a:endParaRPr lang="en-US" sz="1050" dirty="0"/>
          </a:p>
        </p:txBody>
      </p:sp>
      <p:sp>
        <p:nvSpPr>
          <p:cNvPr id="28" name="Shape 26"/>
          <p:cNvSpPr/>
          <p:nvPr/>
        </p:nvSpPr>
        <p:spPr>
          <a:xfrm>
            <a:off x="6163056" y="2240280"/>
            <a:ext cx="2788920" cy="2880360"/>
          </a:xfrm>
          <a:prstGeom prst="roundRect">
            <a:avLst>
              <a:gd name="adj" fmla="val 3934"/>
            </a:avLst>
          </a:prstGeom>
          <a:solidFill>
            <a:srgbClr val="FFFFFF"/>
          </a:solidFill>
          <a:ln/>
          <a:effectLst>
            <a:outerShdw sx="100000" sy="100000" kx="0" ky="0" algn="bl" rotWithShape="0" blurRad="63500" dist="25400" dir="2700000">
              <a:srgbClr val="000000">
                <a:alpha val="10000"/>
              </a:srgbClr>
            </a:outerShdw>
          </a:effectLst>
        </p:spPr>
      </p:sp>
      <p:sp>
        <p:nvSpPr>
          <p:cNvPr id="29" name="Shape 27"/>
          <p:cNvSpPr/>
          <p:nvPr/>
        </p:nvSpPr>
        <p:spPr>
          <a:xfrm>
            <a:off x="6208776" y="2286000"/>
            <a:ext cx="2697480" cy="502920"/>
          </a:xfrm>
          <a:prstGeom prst="roundRect">
            <a:avLst>
              <a:gd name="adj" fmla="val 14545"/>
            </a:avLst>
          </a:prstGeom>
          <a:solidFill>
            <a:srgbClr val="6A1B9A"/>
          </a:solidFill>
          <a:ln/>
        </p:spPr>
      </p:sp>
      <p:sp>
        <p:nvSpPr>
          <p:cNvPr id="30" name="Text 28"/>
          <p:cNvSpPr/>
          <p:nvPr/>
        </p:nvSpPr>
        <p:spPr>
          <a:xfrm>
            <a:off x="6208776" y="2331720"/>
            <a:ext cx="269748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Detection + Recovery</a:t>
            </a:r>
            <a:endParaRPr lang="en-US" sz="1400" dirty="0"/>
          </a:p>
        </p:txBody>
      </p:sp>
      <p:sp>
        <p:nvSpPr>
          <p:cNvPr id="31" name="Text 29"/>
          <p:cNvSpPr/>
          <p:nvPr/>
        </p:nvSpPr>
        <p:spPr>
          <a:xfrm>
            <a:off x="6272784" y="2862072"/>
            <a:ext cx="2578608" cy="475488"/>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Allow deadlocks to occur; periodically DETECT and RECOVER</a:t>
            </a:r>
            <a:endParaRPr lang="en-US" sz="1150" dirty="0"/>
          </a:p>
        </p:txBody>
      </p:sp>
      <p:sp>
        <p:nvSpPr>
          <p:cNvPr id="32" name="Text 30"/>
          <p:cNvSpPr/>
          <p:nvPr/>
        </p:nvSpPr>
        <p:spPr>
          <a:xfrm>
            <a:off x="6272784" y="3383280"/>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Run detection algorithm periodically</a:t>
            </a:r>
            <a:endParaRPr lang="en-US" sz="1100" dirty="0"/>
          </a:p>
        </p:txBody>
      </p:sp>
      <p:sp>
        <p:nvSpPr>
          <p:cNvPr id="33" name="Text 31"/>
          <p:cNvSpPr/>
          <p:nvPr/>
        </p:nvSpPr>
        <p:spPr>
          <a:xfrm>
            <a:off x="6272784" y="3767328"/>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Kill one or more deadlocked processes</a:t>
            </a:r>
            <a:endParaRPr lang="en-US" sz="1100" dirty="0"/>
          </a:p>
        </p:txBody>
      </p:sp>
      <p:sp>
        <p:nvSpPr>
          <p:cNvPr id="34" name="Text 32"/>
          <p:cNvSpPr/>
          <p:nvPr/>
        </p:nvSpPr>
        <p:spPr>
          <a:xfrm>
            <a:off x="6272784" y="4151376"/>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Preempt resources and rollback</a:t>
            </a:r>
            <a:endParaRPr lang="en-US" sz="1100" dirty="0"/>
          </a:p>
        </p:txBody>
      </p:sp>
      <p:sp>
        <p:nvSpPr>
          <p:cNvPr id="35" name="Text 33"/>
          <p:cNvSpPr/>
          <p:nvPr/>
        </p:nvSpPr>
        <p:spPr>
          <a:xfrm>
            <a:off x="6272784" y="4535424"/>
            <a:ext cx="2578608" cy="34747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 Restart affected processes</a:t>
            </a:r>
            <a:endParaRPr lang="en-US" sz="1100" dirty="0"/>
          </a:p>
        </p:txBody>
      </p:sp>
      <p:sp>
        <p:nvSpPr>
          <p:cNvPr id="36" name="Shape 34"/>
          <p:cNvSpPr/>
          <p:nvPr/>
        </p:nvSpPr>
        <p:spPr>
          <a:xfrm>
            <a:off x="6272784" y="4910328"/>
            <a:ext cx="2578608" cy="18288"/>
          </a:xfrm>
          <a:prstGeom prst="rect">
            <a:avLst/>
          </a:prstGeom>
          <a:solidFill>
            <a:srgbClr val="F5E8E8"/>
          </a:solidFill>
          <a:ln w="12700">
            <a:solidFill>
              <a:srgbClr val="F5E8E8"/>
            </a:solidFill>
            <a:prstDash val="solid"/>
          </a:ln>
        </p:spPr>
      </p:sp>
      <p:sp>
        <p:nvSpPr>
          <p:cNvPr id="37" name="Text 35"/>
          <p:cNvSpPr/>
          <p:nvPr/>
        </p:nvSpPr>
        <p:spPr>
          <a:xfrm>
            <a:off x="6272784" y="4937760"/>
            <a:ext cx="2578608" cy="347472"/>
          </a:xfrm>
          <a:prstGeom prst="rect">
            <a:avLst/>
          </a:prstGeom>
          <a:noFill/>
          <a:ln/>
        </p:spPr>
        <p:txBody>
          <a:bodyPr wrap="square" lIns="0" tIns="0" rIns="0" bIns="0" rtlCol="0" anchor="ctr"/>
          <a:lstStyle/>
          <a:p>
            <a:pPr indent="0" marL="0">
              <a:buNone/>
            </a:pPr>
            <a:r>
              <a:rPr lang="en-US" sz="1050" dirty="0">
                <a:solidFill>
                  <a:srgbClr val="6A1B9A"/>
                </a:solidFill>
                <a:latin typeface="Calibri" pitchFamily="34" charset="0"/>
                <a:ea typeface="Calibri" pitchFamily="34" charset="-122"/>
                <a:cs typeface="Calibri" pitchFamily="34" charset="-120"/>
              </a:rPr>
              <a:t>Cost: Periodic overhead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695C"/>
          </a:solidFill>
          <a:ln w="12700">
            <a:solidFill>
              <a:srgbClr val="00695C"/>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400" b="1" dirty="0">
                <a:solidFill>
                  <a:srgbClr val="1A0A0A"/>
                </a:solidFill>
                <a:latin typeface="Cambria" pitchFamily="34" charset="0"/>
                <a:ea typeface="Cambria" pitchFamily="34" charset="-122"/>
                <a:cs typeface="Cambria" pitchFamily="34" charset="-120"/>
              </a:rPr>
              <a:t>Deadlock Prevention</a:t>
            </a:r>
            <a:endParaRPr lang="en-US" sz="3400" dirty="0"/>
          </a:p>
        </p:txBody>
      </p:sp>
      <p:sp>
        <p:nvSpPr>
          <p:cNvPr id="4" name="Text 2"/>
          <p:cNvSpPr/>
          <p:nvPr/>
        </p:nvSpPr>
        <p:spPr>
          <a:xfrm>
            <a:off x="457200" y="694944"/>
            <a:ext cx="8229600" cy="274320"/>
          </a:xfrm>
          <a:prstGeom prst="rect">
            <a:avLst/>
          </a:prstGeom>
          <a:noFill/>
          <a:ln/>
        </p:spPr>
        <p:txBody>
          <a:bodyPr wrap="square" lIns="0" tIns="0" rIns="0" bIns="0" rtlCol="0" anchor="ctr"/>
          <a:lstStyle/>
          <a:p>
            <a:pPr algn="ctr" indent="0" marL="0">
              <a:buNone/>
            </a:pPr>
            <a:r>
              <a:rPr lang="en-US" sz="1400" b="1" dirty="0">
                <a:solidFill>
                  <a:srgbClr val="00695C"/>
                </a:solidFill>
                <a:latin typeface="Calibri" pitchFamily="34" charset="0"/>
                <a:ea typeface="Calibri" pitchFamily="34" charset="-122"/>
                <a:cs typeface="Calibri" pitchFamily="34" charset="-120"/>
              </a:rPr>
              <a:t>Attack at least ONE of the four Coffman conditions</a:t>
            </a:r>
            <a:endParaRPr lang="en-US" sz="1400" dirty="0"/>
          </a:p>
        </p:txBody>
      </p:sp>
      <p:sp>
        <p:nvSpPr>
          <p:cNvPr id="5" name="Shape 3"/>
          <p:cNvSpPr/>
          <p:nvPr/>
        </p:nvSpPr>
        <p:spPr>
          <a:xfrm>
            <a:off x="256032" y="987552"/>
            <a:ext cx="4224528" cy="2029968"/>
          </a:xfrm>
          <a:prstGeom prst="roundRect">
            <a:avLst>
              <a:gd name="adj" fmla="val 4505"/>
            </a:avLst>
          </a:prstGeom>
          <a:solidFill>
            <a:srgbClr val="FFF8F8"/>
          </a:solidFill>
          <a:ln/>
          <a:effectLst>
            <a:outerShdw sx="100000" sy="100000" kx="0" ky="0" algn="bl" rotWithShape="0" blurRad="63500" dist="25400" dir="2700000">
              <a:srgbClr val="000000">
                <a:alpha val="10000"/>
              </a:srgbClr>
            </a:outerShdw>
          </a:effectLst>
        </p:spPr>
      </p:sp>
      <p:sp>
        <p:nvSpPr>
          <p:cNvPr id="6" name="Shape 4"/>
          <p:cNvSpPr/>
          <p:nvPr/>
        </p:nvSpPr>
        <p:spPr>
          <a:xfrm>
            <a:off x="301752" y="1033272"/>
            <a:ext cx="4133088" cy="438912"/>
          </a:xfrm>
          <a:prstGeom prst="roundRect">
            <a:avLst>
              <a:gd name="adj" fmla="val 16667"/>
            </a:avLst>
          </a:prstGeom>
          <a:solidFill>
            <a:srgbClr val="B71C1C"/>
          </a:solidFill>
          <a:ln/>
        </p:spPr>
      </p:sp>
      <p:sp>
        <p:nvSpPr>
          <p:cNvPr id="7" name="Text 5"/>
          <p:cNvSpPr/>
          <p:nvPr/>
        </p:nvSpPr>
        <p:spPr>
          <a:xfrm>
            <a:off x="347472" y="1078992"/>
            <a:ext cx="4005072"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 Attack Mutual Exclusion</a:t>
            </a:r>
            <a:endParaRPr lang="en-US" sz="1400" dirty="0"/>
          </a:p>
        </p:txBody>
      </p:sp>
      <p:sp>
        <p:nvSpPr>
          <p:cNvPr id="8" name="Text 6"/>
          <p:cNvSpPr/>
          <p:nvPr/>
        </p:nvSpPr>
        <p:spPr>
          <a:xfrm>
            <a:off x="365760" y="1536192"/>
            <a:ext cx="4005072" cy="53035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Method: Use SPOOLING — a daemon manages the resource. Processes write to a queue instead of the device directly.</a:t>
            </a:r>
            <a:endParaRPr lang="en-US" sz="1100" dirty="0"/>
          </a:p>
        </p:txBody>
      </p:sp>
      <p:sp>
        <p:nvSpPr>
          <p:cNvPr id="9" name="Text 7"/>
          <p:cNvSpPr/>
          <p:nvPr/>
        </p:nvSpPr>
        <p:spPr>
          <a:xfrm>
            <a:off x="365760" y="2103120"/>
            <a:ext cx="4005072" cy="475488"/>
          </a:xfrm>
          <a:prstGeom prst="rect">
            <a:avLst/>
          </a:prstGeom>
          <a:noFill/>
          <a:ln/>
        </p:spPr>
        <p:txBody>
          <a:bodyPr wrap="square" lIns="0" tIns="0" rIns="0" bIns="0" rtlCol="0" anchor="ctr"/>
          <a:lstStyle/>
          <a:p>
            <a:pPr indent="0" marL="0">
              <a:buNone/>
            </a:pPr>
            <a:r>
              <a:rPr lang="en-US" sz="1050" i="1" dirty="0">
                <a:solidFill>
                  <a:srgbClr val="B71C1C"/>
                </a:solidFill>
                <a:latin typeface="Calibri" pitchFamily="34" charset="0"/>
                <a:ea typeface="Calibri" pitchFamily="34" charset="-122"/>
                <a:cs typeface="Calibri" pitchFamily="34" charset="-120"/>
              </a:rPr>
              <a:t>📍 Print Spooler: Chrome sends job to spool queue. Spooler daemon manages the printer. Chrome never 'holds' the printer.</a:t>
            </a:r>
            <a:endParaRPr lang="en-US" sz="1050" dirty="0"/>
          </a:p>
        </p:txBody>
      </p:sp>
      <p:sp>
        <p:nvSpPr>
          <p:cNvPr id="10" name="Text 8"/>
          <p:cNvSpPr/>
          <p:nvPr/>
        </p:nvSpPr>
        <p:spPr>
          <a:xfrm>
            <a:off x="365760" y="2615184"/>
            <a:ext cx="4005072" cy="347472"/>
          </a:xfrm>
          <a:prstGeom prst="rect">
            <a:avLst/>
          </a:prstGeom>
          <a:noFill/>
          <a:ln/>
        </p:spPr>
        <p:txBody>
          <a:bodyPr wrap="square" lIns="0" tIns="0" rIns="0" bIns="0" rtlCol="0" anchor="ctr"/>
          <a:lstStyle/>
          <a:p>
            <a:pPr indent="0" marL="0">
              <a:buNone/>
            </a:pPr>
            <a:r>
              <a:rPr lang="en-US" sz="1000" dirty="0">
                <a:solidFill>
                  <a:srgbClr val="5D3A3A"/>
                </a:solidFill>
                <a:latin typeface="Calibri" pitchFamily="34" charset="0"/>
                <a:ea typeface="Calibri" pitchFamily="34" charset="-122"/>
                <a:cs typeface="Calibri" pitchFamily="34" charset="-120"/>
              </a:rPr>
              <a:t>⚠️ Not all resources can be spooled (RAM, CPU cores can't be spooled easily).</a:t>
            </a:r>
            <a:endParaRPr lang="en-US" sz="1000" dirty="0"/>
          </a:p>
        </p:txBody>
      </p:sp>
      <p:sp>
        <p:nvSpPr>
          <p:cNvPr id="11" name="Shape 9"/>
          <p:cNvSpPr/>
          <p:nvPr/>
        </p:nvSpPr>
        <p:spPr>
          <a:xfrm>
            <a:off x="4736592" y="987552"/>
            <a:ext cx="4224528" cy="2029968"/>
          </a:xfrm>
          <a:prstGeom prst="roundRect">
            <a:avLst>
              <a:gd name="adj" fmla="val 4505"/>
            </a:avLst>
          </a:prstGeom>
          <a:solidFill>
            <a:srgbClr val="FFF8F8"/>
          </a:solidFill>
          <a:ln/>
          <a:effectLst>
            <a:outerShdw sx="100000" sy="100000" kx="0" ky="0" algn="bl" rotWithShape="0" blurRad="63500" dist="25400" dir="2700000">
              <a:srgbClr val="000000">
                <a:alpha val="10000"/>
              </a:srgbClr>
            </a:outerShdw>
          </a:effectLst>
        </p:spPr>
      </p:sp>
      <p:sp>
        <p:nvSpPr>
          <p:cNvPr id="12" name="Shape 10"/>
          <p:cNvSpPr/>
          <p:nvPr/>
        </p:nvSpPr>
        <p:spPr>
          <a:xfrm>
            <a:off x="4782312" y="1033272"/>
            <a:ext cx="4133088" cy="438912"/>
          </a:xfrm>
          <a:prstGeom prst="roundRect">
            <a:avLst>
              <a:gd name="adj" fmla="val 16667"/>
            </a:avLst>
          </a:prstGeom>
          <a:solidFill>
            <a:srgbClr val="E65100"/>
          </a:solidFill>
          <a:ln/>
        </p:spPr>
      </p:sp>
      <p:sp>
        <p:nvSpPr>
          <p:cNvPr id="13" name="Text 11"/>
          <p:cNvSpPr/>
          <p:nvPr/>
        </p:nvSpPr>
        <p:spPr>
          <a:xfrm>
            <a:off x="4828032" y="1078992"/>
            <a:ext cx="4005072"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 Attack Hold and Wait</a:t>
            </a:r>
            <a:endParaRPr lang="en-US" sz="1400" dirty="0"/>
          </a:p>
        </p:txBody>
      </p:sp>
      <p:sp>
        <p:nvSpPr>
          <p:cNvPr id="14" name="Text 12"/>
          <p:cNvSpPr/>
          <p:nvPr/>
        </p:nvSpPr>
        <p:spPr>
          <a:xfrm>
            <a:off x="4846320" y="1536192"/>
            <a:ext cx="4005072" cy="53035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Method: Option A: Request ALL resources before starting.</a:t>
            </a:r>
            <a:endParaRPr lang="en-US" sz="1100" dirty="0"/>
          </a:p>
          <a:p>
            <a:pPr indent="0" marL="0">
              <a:buNone/>
            </a:pPr>
            <a:r>
              <a:rPr lang="en-US" sz="1100" dirty="0">
                <a:solidFill>
                  <a:srgbClr val="1C0A0A"/>
                </a:solidFill>
                <a:latin typeface="Calibri" pitchFamily="34" charset="0"/>
                <a:ea typeface="Calibri" pitchFamily="34" charset="-122"/>
                <a:cs typeface="Calibri" pitchFamily="34" charset="-120"/>
              </a:rPr>
              <a:t>Option B: Release ALL held resources before requesting new ones.</a:t>
            </a:r>
            <a:endParaRPr lang="en-US" sz="1100" dirty="0"/>
          </a:p>
        </p:txBody>
      </p:sp>
      <p:sp>
        <p:nvSpPr>
          <p:cNvPr id="15" name="Text 13"/>
          <p:cNvSpPr/>
          <p:nvPr/>
        </p:nvSpPr>
        <p:spPr>
          <a:xfrm>
            <a:off x="4846320" y="2103120"/>
            <a:ext cx="4005072" cy="475488"/>
          </a:xfrm>
          <a:prstGeom prst="rect">
            <a:avLst/>
          </a:prstGeom>
          <a:noFill/>
          <a:ln/>
        </p:spPr>
        <p:txBody>
          <a:bodyPr wrap="square" lIns="0" tIns="0" rIns="0" bIns="0" rtlCol="0" anchor="ctr"/>
          <a:lstStyle/>
          <a:p>
            <a:pPr indent="0" marL="0">
              <a:buNone/>
            </a:pPr>
            <a:r>
              <a:rPr lang="en-US" sz="1050" i="1" dirty="0">
                <a:solidFill>
                  <a:srgbClr val="E65100"/>
                </a:solidFill>
                <a:latin typeface="Calibri" pitchFamily="34" charset="0"/>
                <a:ea typeface="Calibri" pitchFamily="34" charset="-122"/>
                <a:cs typeface="Calibri" pitchFamily="34" charset="-120"/>
              </a:rPr>
              <a:t>📍 A process that needs Printer + Scanner must request BOTH at program start. If either unavailable, it waits without holding anything.</a:t>
            </a:r>
            <a:endParaRPr lang="en-US" sz="1050" dirty="0"/>
          </a:p>
        </p:txBody>
      </p:sp>
      <p:sp>
        <p:nvSpPr>
          <p:cNvPr id="16" name="Text 14"/>
          <p:cNvSpPr/>
          <p:nvPr/>
        </p:nvSpPr>
        <p:spPr>
          <a:xfrm>
            <a:off x="4846320" y="2615184"/>
            <a:ext cx="4005072" cy="347472"/>
          </a:xfrm>
          <a:prstGeom prst="rect">
            <a:avLst/>
          </a:prstGeom>
          <a:noFill/>
          <a:ln/>
        </p:spPr>
        <p:txBody>
          <a:bodyPr wrap="square" lIns="0" tIns="0" rIns="0" bIns="0" rtlCol="0" anchor="ctr"/>
          <a:lstStyle/>
          <a:p>
            <a:pPr indent="0" marL="0">
              <a:buNone/>
            </a:pPr>
            <a:r>
              <a:rPr lang="en-US" sz="1000" dirty="0">
                <a:solidFill>
                  <a:srgbClr val="5D3A3A"/>
                </a:solidFill>
                <a:latin typeface="Calibri" pitchFamily="34" charset="0"/>
                <a:ea typeface="Calibri" pitchFamily="34" charset="-122"/>
                <a:cs typeface="Calibri" pitchFamily="34" charset="-120"/>
              </a:rPr>
              <a:t>⚠️ Low utilization — holds resources it may not need yet. Possible starvation for processes needing many resources.</a:t>
            </a:r>
            <a:endParaRPr lang="en-US" sz="1000" dirty="0"/>
          </a:p>
        </p:txBody>
      </p:sp>
      <p:sp>
        <p:nvSpPr>
          <p:cNvPr id="17" name="Shape 15"/>
          <p:cNvSpPr/>
          <p:nvPr/>
        </p:nvSpPr>
        <p:spPr>
          <a:xfrm>
            <a:off x="256032" y="3163824"/>
            <a:ext cx="4224528" cy="2029968"/>
          </a:xfrm>
          <a:prstGeom prst="roundRect">
            <a:avLst>
              <a:gd name="adj" fmla="val 4505"/>
            </a:avLst>
          </a:prstGeom>
          <a:solidFill>
            <a:srgbClr val="FFF8F8"/>
          </a:solidFill>
          <a:ln/>
          <a:effectLst>
            <a:outerShdw sx="100000" sy="100000" kx="0" ky="0" algn="bl" rotWithShape="0" blurRad="63500" dist="25400" dir="2700000">
              <a:srgbClr val="000000">
                <a:alpha val="10000"/>
              </a:srgbClr>
            </a:outerShdw>
          </a:effectLst>
        </p:spPr>
      </p:sp>
      <p:sp>
        <p:nvSpPr>
          <p:cNvPr id="18" name="Shape 16"/>
          <p:cNvSpPr/>
          <p:nvPr/>
        </p:nvSpPr>
        <p:spPr>
          <a:xfrm>
            <a:off x="301752" y="3209544"/>
            <a:ext cx="4133088" cy="438912"/>
          </a:xfrm>
          <a:prstGeom prst="roundRect">
            <a:avLst>
              <a:gd name="adj" fmla="val 16667"/>
            </a:avLst>
          </a:prstGeom>
          <a:solidFill>
            <a:srgbClr val="6A1B9A"/>
          </a:solidFill>
          <a:ln/>
        </p:spPr>
      </p:sp>
      <p:sp>
        <p:nvSpPr>
          <p:cNvPr id="19" name="Text 17"/>
          <p:cNvSpPr/>
          <p:nvPr/>
        </p:nvSpPr>
        <p:spPr>
          <a:xfrm>
            <a:off x="347472" y="3255264"/>
            <a:ext cx="4005072"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3. Attack No Preemption</a:t>
            </a:r>
            <a:endParaRPr lang="en-US" sz="1400" dirty="0"/>
          </a:p>
        </p:txBody>
      </p:sp>
      <p:sp>
        <p:nvSpPr>
          <p:cNvPr id="20" name="Text 18"/>
          <p:cNvSpPr/>
          <p:nvPr/>
        </p:nvSpPr>
        <p:spPr>
          <a:xfrm>
            <a:off x="365760" y="3712464"/>
            <a:ext cx="4005072" cy="53035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Method: Allow OS to preempt resources from a process that must wait. Resources are saved; process restarts when all resources available.</a:t>
            </a:r>
            <a:endParaRPr lang="en-US" sz="1100" dirty="0"/>
          </a:p>
        </p:txBody>
      </p:sp>
      <p:sp>
        <p:nvSpPr>
          <p:cNvPr id="21" name="Text 19"/>
          <p:cNvSpPr/>
          <p:nvPr/>
        </p:nvSpPr>
        <p:spPr>
          <a:xfrm>
            <a:off x="365760" y="4279392"/>
            <a:ext cx="4005072" cy="475488"/>
          </a:xfrm>
          <a:prstGeom prst="rect">
            <a:avLst/>
          </a:prstGeom>
          <a:noFill/>
          <a:ln/>
        </p:spPr>
        <p:txBody>
          <a:bodyPr wrap="square" lIns="0" tIns="0" rIns="0" bIns="0" rtlCol="0" anchor="ctr"/>
          <a:lstStyle/>
          <a:p>
            <a:pPr indent="0" marL="0">
              <a:buNone/>
            </a:pPr>
            <a:r>
              <a:rPr lang="en-US" sz="1050" i="1" dirty="0">
                <a:solidFill>
                  <a:srgbClr val="6A1B9A"/>
                </a:solidFill>
                <a:latin typeface="Calibri" pitchFamily="34" charset="0"/>
                <a:ea typeface="Calibri" pitchFamily="34" charset="-122"/>
                <a:cs typeface="Calibri" pitchFamily="34" charset="-120"/>
              </a:rPr>
              <a:t>📍 If Process A holds memory pages and must wait for a disk block, OS can swap A's pages to disk and give memory to Process B.</a:t>
            </a:r>
            <a:endParaRPr lang="en-US" sz="1050" dirty="0"/>
          </a:p>
        </p:txBody>
      </p:sp>
      <p:sp>
        <p:nvSpPr>
          <p:cNvPr id="22" name="Text 20"/>
          <p:cNvSpPr/>
          <p:nvPr/>
        </p:nvSpPr>
        <p:spPr>
          <a:xfrm>
            <a:off x="365760" y="4791456"/>
            <a:ext cx="4005072" cy="347472"/>
          </a:xfrm>
          <a:prstGeom prst="rect">
            <a:avLst/>
          </a:prstGeom>
          <a:noFill/>
          <a:ln/>
        </p:spPr>
        <p:txBody>
          <a:bodyPr wrap="square" lIns="0" tIns="0" rIns="0" bIns="0" rtlCol="0" anchor="ctr"/>
          <a:lstStyle/>
          <a:p>
            <a:pPr indent="0" marL="0">
              <a:buNone/>
            </a:pPr>
            <a:r>
              <a:rPr lang="en-US" sz="1000" dirty="0">
                <a:solidFill>
                  <a:srgbClr val="5D3A3A"/>
                </a:solidFill>
                <a:latin typeface="Calibri" pitchFamily="34" charset="0"/>
                <a:ea typeface="Calibri" pitchFamily="34" charset="-122"/>
                <a:cs typeface="Calibri" pitchFamily="34" charset="-120"/>
              </a:rPr>
              <a:t>⚠️ Only works for resources whose state can be saved (memory, registers). Not feasible for printers, CD burners.</a:t>
            </a:r>
            <a:endParaRPr lang="en-US" sz="1000" dirty="0"/>
          </a:p>
        </p:txBody>
      </p:sp>
      <p:sp>
        <p:nvSpPr>
          <p:cNvPr id="23" name="Shape 21"/>
          <p:cNvSpPr/>
          <p:nvPr/>
        </p:nvSpPr>
        <p:spPr>
          <a:xfrm>
            <a:off x="4736592" y="3163824"/>
            <a:ext cx="4224528" cy="2029968"/>
          </a:xfrm>
          <a:prstGeom prst="roundRect">
            <a:avLst>
              <a:gd name="adj" fmla="val 4505"/>
            </a:avLst>
          </a:prstGeom>
          <a:solidFill>
            <a:srgbClr val="FFF8F8"/>
          </a:solidFill>
          <a:ln/>
          <a:effectLst>
            <a:outerShdw sx="100000" sy="100000" kx="0" ky="0" algn="bl" rotWithShape="0" blurRad="63500" dist="25400" dir="2700000">
              <a:srgbClr val="000000">
                <a:alpha val="10000"/>
              </a:srgbClr>
            </a:outerShdw>
          </a:effectLst>
        </p:spPr>
      </p:sp>
      <p:sp>
        <p:nvSpPr>
          <p:cNvPr id="24" name="Shape 22"/>
          <p:cNvSpPr/>
          <p:nvPr/>
        </p:nvSpPr>
        <p:spPr>
          <a:xfrm>
            <a:off x="4782312" y="3209544"/>
            <a:ext cx="4133088" cy="438912"/>
          </a:xfrm>
          <a:prstGeom prst="roundRect">
            <a:avLst>
              <a:gd name="adj" fmla="val 16667"/>
            </a:avLst>
          </a:prstGeom>
          <a:solidFill>
            <a:srgbClr val="00695C"/>
          </a:solidFill>
          <a:ln/>
        </p:spPr>
      </p:sp>
      <p:sp>
        <p:nvSpPr>
          <p:cNvPr id="25" name="Text 23"/>
          <p:cNvSpPr/>
          <p:nvPr/>
        </p:nvSpPr>
        <p:spPr>
          <a:xfrm>
            <a:off x="4828032" y="3255264"/>
            <a:ext cx="4005072"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4. Attack Circular Wait</a:t>
            </a:r>
            <a:endParaRPr lang="en-US" sz="1400" dirty="0"/>
          </a:p>
        </p:txBody>
      </p:sp>
      <p:sp>
        <p:nvSpPr>
          <p:cNvPr id="26" name="Text 24"/>
          <p:cNvSpPr/>
          <p:nvPr/>
        </p:nvSpPr>
        <p:spPr>
          <a:xfrm>
            <a:off x="4846320" y="3712464"/>
            <a:ext cx="4005072" cy="53035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Method: Impose TOTAL ORDERING on all resource types. Processes can only request resources in INCREASING order of type number.</a:t>
            </a:r>
            <a:endParaRPr lang="en-US" sz="1100" dirty="0"/>
          </a:p>
        </p:txBody>
      </p:sp>
      <p:sp>
        <p:nvSpPr>
          <p:cNvPr id="27" name="Text 25"/>
          <p:cNvSpPr/>
          <p:nvPr/>
        </p:nvSpPr>
        <p:spPr>
          <a:xfrm>
            <a:off x="4846320" y="4279392"/>
            <a:ext cx="4005072" cy="475488"/>
          </a:xfrm>
          <a:prstGeom prst="rect">
            <a:avLst/>
          </a:prstGeom>
          <a:noFill/>
          <a:ln/>
        </p:spPr>
        <p:txBody>
          <a:bodyPr wrap="square" lIns="0" tIns="0" rIns="0" bIns="0" rtlCol="0" anchor="ctr"/>
          <a:lstStyle/>
          <a:p>
            <a:pPr indent="0" marL="0">
              <a:buNone/>
            </a:pPr>
            <a:r>
              <a:rPr lang="en-US" sz="1050" i="1" dirty="0">
                <a:solidFill>
                  <a:srgbClr val="00695C"/>
                </a:solidFill>
                <a:latin typeface="Calibri" pitchFamily="34" charset="0"/>
                <a:ea typeface="Calibri" pitchFamily="34" charset="-122"/>
                <a:cs typeface="Calibri" pitchFamily="34" charset="-120"/>
              </a:rPr>
              <a:t>📍 Assign: Printer=1, Scanner=2, Disk=3. A process must request Printer BEFORE Scanner BEFORE Disk. Cannot hold Scanner(2) and request Printer(1).</a:t>
            </a:r>
            <a:endParaRPr lang="en-US" sz="1050" dirty="0"/>
          </a:p>
        </p:txBody>
      </p:sp>
      <p:sp>
        <p:nvSpPr>
          <p:cNvPr id="28" name="Text 26"/>
          <p:cNvSpPr/>
          <p:nvPr/>
        </p:nvSpPr>
        <p:spPr>
          <a:xfrm>
            <a:off x="4846320" y="4791456"/>
            <a:ext cx="4005072" cy="347472"/>
          </a:xfrm>
          <a:prstGeom prst="rect">
            <a:avLst/>
          </a:prstGeom>
          <a:noFill/>
          <a:ln/>
        </p:spPr>
        <p:txBody>
          <a:bodyPr wrap="square" lIns="0" tIns="0" rIns="0" bIns="0" rtlCol="0" anchor="ctr"/>
          <a:lstStyle/>
          <a:p>
            <a:pPr indent="0" marL="0">
              <a:buNone/>
            </a:pPr>
            <a:r>
              <a:rPr lang="en-US" sz="1000" dirty="0">
                <a:solidFill>
                  <a:srgbClr val="5D3A3A"/>
                </a:solidFill>
                <a:latin typeface="Calibri" pitchFamily="34" charset="0"/>
                <a:ea typeface="Calibri" pitchFamily="34" charset="-122"/>
                <a:cs typeface="Calibri" pitchFamily="34" charset="-120"/>
              </a:rPr>
              <a:t>⚠️ Resources may not be used in a natural order. Difficult to find an ordering that fits all programs.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000" b="1" dirty="0">
                <a:solidFill>
                  <a:srgbClr val="1A0A0A"/>
                </a:solidFill>
                <a:latin typeface="Cambria" pitchFamily="34" charset="0"/>
                <a:ea typeface="Cambria" pitchFamily="34" charset="-122"/>
                <a:cs typeface="Cambria" pitchFamily="34" charset="-120"/>
              </a:rPr>
              <a:t>Deadlock Avoidance — Banker's Algorithm</a:t>
            </a:r>
            <a:endParaRPr lang="en-US" sz="3000" dirty="0"/>
          </a:p>
        </p:txBody>
      </p:sp>
      <p:sp>
        <p:nvSpPr>
          <p:cNvPr id="4" name="Shape 2"/>
          <p:cNvSpPr/>
          <p:nvPr/>
        </p:nvSpPr>
        <p:spPr>
          <a:xfrm>
            <a:off x="274320" y="822960"/>
            <a:ext cx="8595360" cy="658368"/>
          </a:xfrm>
          <a:prstGeom prst="roundRect">
            <a:avLst>
              <a:gd name="adj" fmla="val 13889"/>
            </a:avLst>
          </a:prstGeom>
          <a:solidFill>
            <a:srgbClr val="E3F2FD"/>
          </a:solidFill>
          <a:ln w="19050">
            <a:solidFill>
              <a:srgbClr val="1565C0"/>
            </a:solidFill>
            <a:prstDash val="solid"/>
          </a:ln>
        </p:spPr>
      </p:sp>
      <p:sp>
        <p:nvSpPr>
          <p:cNvPr id="5" name="Text 3"/>
          <p:cNvSpPr/>
          <p:nvPr/>
        </p:nvSpPr>
        <p:spPr>
          <a:xfrm>
            <a:off x="457200" y="877824"/>
            <a:ext cx="8229600" cy="530352"/>
          </a:xfrm>
          <a:prstGeom prst="rect">
            <a:avLst/>
          </a:prstGeom>
          <a:noFill/>
          <a:ln/>
        </p:spPr>
        <p:txBody>
          <a:bodyPr wrap="square" rtlCol="0" anchor="ctr"/>
          <a:lstStyle/>
          <a:p>
            <a:pPr algn="ctr" indent="0" marL="0">
              <a:buNone/>
            </a:pPr>
            <a:r>
              <a:rPr lang="en-US" sz="1400" dirty="0">
                <a:solidFill>
                  <a:srgbClr val="1C0A0A"/>
                </a:solidFill>
                <a:latin typeface="Calibri" pitchFamily="34" charset="0"/>
                <a:ea typeface="Calibri" pitchFamily="34" charset="-122"/>
                <a:cs typeface="Calibri" pitchFamily="34" charset="-120"/>
              </a:rPr>
              <a:t>🏦  Like a banker: grant loans only if doing so keeps the bank able to satisfy ALL customers' maximum demands. Never enter an unsafe state!</a:t>
            </a:r>
            <a:endParaRPr lang="en-US" sz="1400" dirty="0"/>
          </a:p>
        </p:txBody>
      </p:sp>
      <p:sp>
        <p:nvSpPr>
          <p:cNvPr id="6" name="Shape 4"/>
          <p:cNvSpPr/>
          <p:nvPr/>
        </p:nvSpPr>
        <p:spPr>
          <a:xfrm>
            <a:off x="274320" y="1572768"/>
            <a:ext cx="2926080" cy="3584448"/>
          </a:xfrm>
          <a:prstGeom prst="roundRect">
            <a:avLst>
              <a:gd name="adj" fmla="val 3750"/>
            </a:avLst>
          </a:prstGeom>
          <a:solidFill>
            <a:srgbClr val="1A0A0A"/>
          </a:solidFill>
          <a:ln/>
          <a:effectLst>
            <a:outerShdw sx="100000" sy="100000" kx="0" ky="0" algn="bl" rotWithShape="0" blurRad="101600" dist="38100" dir="2700000">
              <a:srgbClr val="000000">
                <a:alpha val="15000"/>
              </a:srgbClr>
            </a:outerShdw>
          </a:effectLst>
        </p:spPr>
      </p:sp>
      <p:sp>
        <p:nvSpPr>
          <p:cNvPr id="7" name="Text 5"/>
          <p:cNvSpPr/>
          <p:nvPr/>
        </p:nvSpPr>
        <p:spPr>
          <a:xfrm>
            <a:off x="411480" y="1664208"/>
            <a:ext cx="2651760" cy="384048"/>
          </a:xfrm>
          <a:prstGeom prst="rect">
            <a:avLst/>
          </a:prstGeom>
          <a:noFill/>
          <a:ln/>
        </p:spPr>
        <p:txBody>
          <a:bodyPr wrap="square" lIns="0" tIns="0" rIns="0" bIns="0" rtlCol="0" anchor="ctr"/>
          <a:lstStyle/>
          <a:p>
            <a:pPr indent="0" marL="0">
              <a:buNone/>
            </a:pPr>
            <a:r>
              <a:rPr lang="en-US" sz="1500" b="1" dirty="0">
                <a:solidFill>
                  <a:srgbClr val="F9A825"/>
                </a:solidFill>
                <a:latin typeface="Calibri" pitchFamily="34" charset="0"/>
                <a:ea typeface="Calibri" pitchFamily="34" charset="-122"/>
                <a:cs typeface="Calibri" pitchFamily="34" charset="-120"/>
              </a:rPr>
              <a:t>Data Structures</a:t>
            </a:r>
            <a:endParaRPr lang="en-US" sz="1500" dirty="0"/>
          </a:p>
        </p:txBody>
      </p:sp>
      <p:sp>
        <p:nvSpPr>
          <p:cNvPr id="8" name="Shape 6"/>
          <p:cNvSpPr/>
          <p:nvPr/>
        </p:nvSpPr>
        <p:spPr>
          <a:xfrm>
            <a:off x="384048" y="2121408"/>
            <a:ext cx="2724912" cy="658368"/>
          </a:xfrm>
          <a:prstGeom prst="roundRect">
            <a:avLst>
              <a:gd name="adj" fmla="val 9722"/>
            </a:avLst>
          </a:prstGeom>
          <a:solidFill>
            <a:srgbClr val="2C1010"/>
          </a:solidFill>
          <a:ln/>
        </p:spPr>
      </p:sp>
      <p:sp>
        <p:nvSpPr>
          <p:cNvPr id="9" name="Text 7"/>
          <p:cNvSpPr/>
          <p:nvPr/>
        </p:nvSpPr>
        <p:spPr>
          <a:xfrm>
            <a:off x="457200" y="2176272"/>
            <a:ext cx="2606040" cy="292608"/>
          </a:xfrm>
          <a:prstGeom prst="rect">
            <a:avLst/>
          </a:prstGeom>
          <a:noFill/>
          <a:ln/>
        </p:spPr>
        <p:txBody>
          <a:bodyPr wrap="square" lIns="0" tIns="0" rIns="0" bIns="0" rtlCol="0" anchor="ctr"/>
          <a:lstStyle/>
          <a:p>
            <a:pPr indent="0" marL="0">
              <a:buNone/>
            </a:pPr>
            <a:r>
              <a:rPr lang="en-US" sz="1250" b="1" dirty="0">
                <a:solidFill>
                  <a:srgbClr val="F9A825"/>
                </a:solidFill>
                <a:latin typeface="Courier New" pitchFamily="34" charset="0"/>
                <a:ea typeface="Courier New" pitchFamily="34" charset="-122"/>
                <a:cs typeface="Courier New" pitchFamily="34" charset="-120"/>
              </a:rPr>
              <a:t>Available[m]</a:t>
            </a:r>
            <a:endParaRPr lang="en-US" sz="1250" dirty="0"/>
          </a:p>
        </p:txBody>
      </p:sp>
      <p:sp>
        <p:nvSpPr>
          <p:cNvPr id="10" name="Text 8"/>
          <p:cNvSpPr/>
          <p:nvPr/>
        </p:nvSpPr>
        <p:spPr>
          <a:xfrm>
            <a:off x="457200" y="2468880"/>
            <a:ext cx="2606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Free instances of each resource type</a:t>
            </a:r>
            <a:endParaRPr lang="en-US" sz="1100" dirty="0"/>
          </a:p>
        </p:txBody>
      </p:sp>
      <p:sp>
        <p:nvSpPr>
          <p:cNvPr id="11" name="Shape 9"/>
          <p:cNvSpPr/>
          <p:nvPr/>
        </p:nvSpPr>
        <p:spPr>
          <a:xfrm>
            <a:off x="384048" y="2871216"/>
            <a:ext cx="2724912" cy="658368"/>
          </a:xfrm>
          <a:prstGeom prst="roundRect">
            <a:avLst>
              <a:gd name="adj" fmla="val 9722"/>
            </a:avLst>
          </a:prstGeom>
          <a:solidFill>
            <a:srgbClr val="2C1010"/>
          </a:solidFill>
          <a:ln/>
        </p:spPr>
      </p:sp>
      <p:sp>
        <p:nvSpPr>
          <p:cNvPr id="12" name="Text 10"/>
          <p:cNvSpPr/>
          <p:nvPr/>
        </p:nvSpPr>
        <p:spPr>
          <a:xfrm>
            <a:off x="457200" y="2926080"/>
            <a:ext cx="2606040" cy="292608"/>
          </a:xfrm>
          <a:prstGeom prst="rect">
            <a:avLst/>
          </a:prstGeom>
          <a:noFill/>
          <a:ln/>
        </p:spPr>
        <p:txBody>
          <a:bodyPr wrap="square" lIns="0" tIns="0" rIns="0" bIns="0" rtlCol="0" anchor="ctr"/>
          <a:lstStyle/>
          <a:p>
            <a:pPr indent="0" marL="0">
              <a:buNone/>
            </a:pPr>
            <a:r>
              <a:rPr lang="en-US" sz="1250" b="1" dirty="0">
                <a:solidFill>
                  <a:srgbClr val="F9A825"/>
                </a:solidFill>
                <a:latin typeface="Courier New" pitchFamily="34" charset="0"/>
                <a:ea typeface="Courier New" pitchFamily="34" charset="-122"/>
                <a:cs typeface="Courier New" pitchFamily="34" charset="-120"/>
              </a:rPr>
              <a:t>Max[n][m]</a:t>
            </a:r>
            <a:endParaRPr lang="en-US" sz="1250" dirty="0"/>
          </a:p>
        </p:txBody>
      </p:sp>
      <p:sp>
        <p:nvSpPr>
          <p:cNvPr id="13" name="Text 11"/>
          <p:cNvSpPr/>
          <p:nvPr/>
        </p:nvSpPr>
        <p:spPr>
          <a:xfrm>
            <a:off x="457200" y="3218688"/>
            <a:ext cx="2606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Max demand of each process</a:t>
            </a:r>
            <a:endParaRPr lang="en-US" sz="1100" dirty="0"/>
          </a:p>
        </p:txBody>
      </p:sp>
      <p:sp>
        <p:nvSpPr>
          <p:cNvPr id="14" name="Shape 12"/>
          <p:cNvSpPr/>
          <p:nvPr/>
        </p:nvSpPr>
        <p:spPr>
          <a:xfrm>
            <a:off x="384048" y="3621024"/>
            <a:ext cx="2724912" cy="658368"/>
          </a:xfrm>
          <a:prstGeom prst="roundRect">
            <a:avLst>
              <a:gd name="adj" fmla="val 9722"/>
            </a:avLst>
          </a:prstGeom>
          <a:solidFill>
            <a:srgbClr val="2C1010"/>
          </a:solidFill>
          <a:ln/>
        </p:spPr>
      </p:sp>
      <p:sp>
        <p:nvSpPr>
          <p:cNvPr id="15" name="Text 13"/>
          <p:cNvSpPr/>
          <p:nvPr/>
        </p:nvSpPr>
        <p:spPr>
          <a:xfrm>
            <a:off x="457200" y="3675888"/>
            <a:ext cx="2606040" cy="292608"/>
          </a:xfrm>
          <a:prstGeom prst="rect">
            <a:avLst/>
          </a:prstGeom>
          <a:noFill/>
          <a:ln/>
        </p:spPr>
        <p:txBody>
          <a:bodyPr wrap="square" lIns="0" tIns="0" rIns="0" bIns="0" rtlCol="0" anchor="ctr"/>
          <a:lstStyle/>
          <a:p>
            <a:pPr indent="0" marL="0">
              <a:buNone/>
            </a:pPr>
            <a:r>
              <a:rPr lang="en-US" sz="1250" b="1" dirty="0">
                <a:solidFill>
                  <a:srgbClr val="F9A825"/>
                </a:solidFill>
                <a:latin typeface="Courier New" pitchFamily="34" charset="0"/>
                <a:ea typeface="Courier New" pitchFamily="34" charset="-122"/>
                <a:cs typeface="Courier New" pitchFamily="34" charset="-120"/>
              </a:rPr>
              <a:t>Allocation[n][m]</a:t>
            </a:r>
            <a:endParaRPr lang="en-US" sz="1250" dirty="0"/>
          </a:p>
        </p:txBody>
      </p:sp>
      <p:sp>
        <p:nvSpPr>
          <p:cNvPr id="16" name="Text 14"/>
          <p:cNvSpPr/>
          <p:nvPr/>
        </p:nvSpPr>
        <p:spPr>
          <a:xfrm>
            <a:off x="457200" y="3968496"/>
            <a:ext cx="2606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Currently allocated to each process</a:t>
            </a:r>
            <a:endParaRPr lang="en-US" sz="1100" dirty="0"/>
          </a:p>
        </p:txBody>
      </p:sp>
      <p:sp>
        <p:nvSpPr>
          <p:cNvPr id="17" name="Shape 15"/>
          <p:cNvSpPr/>
          <p:nvPr/>
        </p:nvSpPr>
        <p:spPr>
          <a:xfrm>
            <a:off x="384048" y="4370832"/>
            <a:ext cx="2724912" cy="658368"/>
          </a:xfrm>
          <a:prstGeom prst="roundRect">
            <a:avLst>
              <a:gd name="adj" fmla="val 9722"/>
            </a:avLst>
          </a:prstGeom>
          <a:solidFill>
            <a:srgbClr val="2C1010"/>
          </a:solidFill>
          <a:ln/>
        </p:spPr>
      </p:sp>
      <p:sp>
        <p:nvSpPr>
          <p:cNvPr id="18" name="Text 16"/>
          <p:cNvSpPr/>
          <p:nvPr/>
        </p:nvSpPr>
        <p:spPr>
          <a:xfrm>
            <a:off x="457200" y="4425696"/>
            <a:ext cx="2606040" cy="292608"/>
          </a:xfrm>
          <a:prstGeom prst="rect">
            <a:avLst/>
          </a:prstGeom>
          <a:noFill/>
          <a:ln/>
        </p:spPr>
        <p:txBody>
          <a:bodyPr wrap="square" lIns="0" tIns="0" rIns="0" bIns="0" rtlCol="0" anchor="ctr"/>
          <a:lstStyle/>
          <a:p>
            <a:pPr indent="0" marL="0">
              <a:buNone/>
            </a:pPr>
            <a:r>
              <a:rPr lang="en-US" sz="1250" b="1" dirty="0">
                <a:solidFill>
                  <a:srgbClr val="F9A825"/>
                </a:solidFill>
                <a:latin typeface="Courier New" pitchFamily="34" charset="0"/>
                <a:ea typeface="Courier New" pitchFamily="34" charset="-122"/>
                <a:cs typeface="Courier New" pitchFamily="34" charset="-120"/>
              </a:rPr>
              <a:t>Need[n][m]</a:t>
            </a:r>
            <a:endParaRPr lang="en-US" sz="1250" dirty="0"/>
          </a:p>
        </p:txBody>
      </p:sp>
      <p:sp>
        <p:nvSpPr>
          <p:cNvPr id="19" name="Text 17"/>
          <p:cNvSpPr/>
          <p:nvPr/>
        </p:nvSpPr>
        <p:spPr>
          <a:xfrm>
            <a:off x="457200" y="4718304"/>
            <a:ext cx="2606040" cy="25603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Remaining need = Max − Allocation</a:t>
            </a:r>
            <a:endParaRPr lang="en-US" sz="1100" dirty="0"/>
          </a:p>
        </p:txBody>
      </p:sp>
      <p:sp>
        <p:nvSpPr>
          <p:cNvPr id="20" name="Text 18"/>
          <p:cNvSpPr/>
          <p:nvPr/>
        </p:nvSpPr>
        <p:spPr>
          <a:xfrm>
            <a:off x="384048" y="5074920"/>
            <a:ext cx="2724912" cy="329184"/>
          </a:xfrm>
          <a:prstGeom prst="rect">
            <a:avLst/>
          </a:prstGeom>
          <a:noFill/>
          <a:ln/>
        </p:spPr>
        <p:txBody>
          <a:bodyPr wrap="square" lIns="0" tIns="0" rIns="0" bIns="0" rtlCol="0" anchor="ctr"/>
          <a:lstStyle/>
          <a:p>
            <a:pPr algn="ctr" indent="0" marL="0">
              <a:buNone/>
            </a:pPr>
            <a:r>
              <a:rPr lang="en-US" sz="1300" b="1" dirty="0">
                <a:solidFill>
                  <a:srgbClr val="F9A825"/>
                </a:solidFill>
                <a:latin typeface="Calibri" pitchFamily="34" charset="0"/>
                <a:ea typeface="Calibri" pitchFamily="34" charset="-122"/>
                <a:cs typeface="Calibri" pitchFamily="34" charset="-120"/>
              </a:rPr>
              <a:t>Key: Need = Max − Allocation</a:t>
            </a:r>
            <a:endParaRPr lang="en-US" sz="1300" dirty="0"/>
          </a:p>
        </p:txBody>
      </p:sp>
      <p:sp>
        <p:nvSpPr>
          <p:cNvPr id="21" name="Shape 19"/>
          <p:cNvSpPr/>
          <p:nvPr/>
        </p:nvSpPr>
        <p:spPr>
          <a:xfrm>
            <a:off x="3401568" y="1572768"/>
            <a:ext cx="5468112" cy="3584448"/>
          </a:xfrm>
          <a:prstGeom prst="roundRect">
            <a:avLst>
              <a:gd name="adj" fmla="val 3061"/>
            </a:avLst>
          </a:prstGeom>
          <a:solidFill>
            <a:srgbClr val="FFFFFF"/>
          </a:solidFill>
          <a:ln/>
          <a:effectLst>
            <a:outerShdw sx="100000" sy="100000" kx="0" ky="0" algn="bl" rotWithShape="0" blurRad="101600" dist="38100" dir="2700000">
              <a:srgbClr val="000000">
                <a:alpha val="15000"/>
              </a:srgbClr>
            </a:outerShdw>
          </a:effectLst>
        </p:spPr>
      </p:sp>
      <p:sp>
        <p:nvSpPr>
          <p:cNvPr id="22" name="Text 20"/>
          <p:cNvSpPr/>
          <p:nvPr/>
        </p:nvSpPr>
        <p:spPr>
          <a:xfrm>
            <a:off x="3547872" y="1664208"/>
            <a:ext cx="5166360" cy="384048"/>
          </a:xfrm>
          <a:prstGeom prst="rect">
            <a:avLst/>
          </a:prstGeom>
          <a:noFill/>
          <a:ln/>
        </p:spPr>
        <p:txBody>
          <a:bodyPr wrap="square" lIns="0" tIns="0" rIns="0" bIns="0" rtlCol="0" anchor="ctr"/>
          <a:lstStyle/>
          <a:p>
            <a:pPr indent="0" marL="0">
              <a:buNone/>
            </a:pPr>
            <a:r>
              <a:rPr lang="en-US" sz="1450" b="1" dirty="0">
                <a:solidFill>
                  <a:srgbClr val="1565C0"/>
                </a:solidFill>
                <a:latin typeface="Calibri" pitchFamily="34" charset="0"/>
                <a:ea typeface="Calibri" pitchFamily="34" charset="-122"/>
                <a:cs typeface="Calibri" pitchFamily="34" charset="-120"/>
              </a:rPr>
              <a:t>Safety Algorithm (check if state is SAFE)</a:t>
            </a:r>
            <a:endParaRPr lang="en-US" sz="1450" dirty="0"/>
          </a:p>
        </p:txBody>
      </p:sp>
      <p:sp>
        <p:nvSpPr>
          <p:cNvPr id="23" name="Shape 21"/>
          <p:cNvSpPr/>
          <p:nvPr/>
        </p:nvSpPr>
        <p:spPr>
          <a:xfrm>
            <a:off x="3547872" y="2121408"/>
            <a:ext cx="384048" cy="384048"/>
          </a:xfrm>
          <a:prstGeom prst="ellipse">
            <a:avLst/>
          </a:prstGeom>
          <a:solidFill>
            <a:srgbClr val="1565C0"/>
          </a:solidFill>
          <a:ln w="12700">
            <a:solidFill>
              <a:srgbClr val="1565C0"/>
            </a:solidFill>
            <a:prstDash val="solid"/>
          </a:ln>
        </p:spPr>
      </p:sp>
      <p:sp>
        <p:nvSpPr>
          <p:cNvPr id="24" name="Text 22"/>
          <p:cNvSpPr/>
          <p:nvPr/>
        </p:nvSpPr>
        <p:spPr>
          <a:xfrm>
            <a:off x="3547872" y="213969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5" name="Text 23"/>
          <p:cNvSpPr/>
          <p:nvPr/>
        </p:nvSpPr>
        <p:spPr>
          <a:xfrm>
            <a:off x="4005072" y="2103120"/>
            <a:ext cx="1188720" cy="292608"/>
          </a:xfrm>
          <a:prstGeom prst="rect">
            <a:avLst/>
          </a:prstGeom>
          <a:noFill/>
          <a:ln/>
        </p:spPr>
        <p:txBody>
          <a:bodyPr wrap="square" lIns="0" tIns="0" rIns="0" bIns="0" rtlCol="0" anchor="ctr"/>
          <a:lstStyle/>
          <a:p>
            <a:pPr indent="0" marL="0">
              <a:buNone/>
            </a:pPr>
            <a:r>
              <a:rPr lang="en-US" sz="1250" b="1" dirty="0">
                <a:solidFill>
                  <a:srgbClr val="1565C0"/>
                </a:solidFill>
                <a:latin typeface="Calibri" pitchFamily="34" charset="0"/>
                <a:ea typeface="Calibri" pitchFamily="34" charset="-122"/>
                <a:cs typeface="Calibri" pitchFamily="34" charset="-120"/>
              </a:rPr>
              <a:t>Initialize:</a:t>
            </a:r>
            <a:endParaRPr lang="en-US" sz="1250" dirty="0"/>
          </a:p>
        </p:txBody>
      </p:sp>
      <p:sp>
        <p:nvSpPr>
          <p:cNvPr id="26" name="Text 24"/>
          <p:cNvSpPr/>
          <p:nvPr/>
        </p:nvSpPr>
        <p:spPr>
          <a:xfrm>
            <a:off x="5212080" y="2084832"/>
            <a:ext cx="3520440" cy="62179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Work = Available</a:t>
            </a:r>
            <a:endParaRPr lang="en-US" sz="1100" dirty="0"/>
          </a:p>
          <a:p>
            <a:pPr indent="0" marL="0">
              <a:buNone/>
            </a:pPr>
            <a:r>
              <a:rPr lang="en-US" sz="1100" dirty="0">
                <a:solidFill>
                  <a:srgbClr val="1C0A0A"/>
                </a:solidFill>
                <a:latin typeface="Calibri" pitchFamily="34" charset="0"/>
                <a:ea typeface="Calibri" pitchFamily="34" charset="-122"/>
                <a:cs typeface="Calibri" pitchFamily="34" charset="-120"/>
              </a:rPr>
              <a:t>Finish[i] = false for all processes i</a:t>
            </a:r>
            <a:endParaRPr lang="en-US" sz="1100" dirty="0"/>
          </a:p>
        </p:txBody>
      </p:sp>
      <p:sp>
        <p:nvSpPr>
          <p:cNvPr id="27" name="Shape 25"/>
          <p:cNvSpPr/>
          <p:nvPr/>
        </p:nvSpPr>
        <p:spPr>
          <a:xfrm>
            <a:off x="3547872" y="2898648"/>
            <a:ext cx="384048" cy="384048"/>
          </a:xfrm>
          <a:prstGeom prst="ellipse">
            <a:avLst/>
          </a:prstGeom>
          <a:solidFill>
            <a:srgbClr val="1565C0"/>
          </a:solidFill>
          <a:ln w="12700">
            <a:solidFill>
              <a:srgbClr val="1565C0"/>
            </a:solidFill>
            <a:prstDash val="solid"/>
          </a:ln>
        </p:spPr>
      </p:sp>
      <p:sp>
        <p:nvSpPr>
          <p:cNvPr id="28" name="Text 26"/>
          <p:cNvSpPr/>
          <p:nvPr/>
        </p:nvSpPr>
        <p:spPr>
          <a:xfrm>
            <a:off x="3547872" y="291693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9" name="Text 27"/>
          <p:cNvSpPr/>
          <p:nvPr/>
        </p:nvSpPr>
        <p:spPr>
          <a:xfrm>
            <a:off x="4005072" y="2880360"/>
            <a:ext cx="1188720" cy="292608"/>
          </a:xfrm>
          <a:prstGeom prst="rect">
            <a:avLst/>
          </a:prstGeom>
          <a:noFill/>
          <a:ln/>
        </p:spPr>
        <p:txBody>
          <a:bodyPr wrap="square" lIns="0" tIns="0" rIns="0" bIns="0" rtlCol="0" anchor="ctr"/>
          <a:lstStyle/>
          <a:p>
            <a:pPr indent="0" marL="0">
              <a:buNone/>
            </a:pPr>
            <a:r>
              <a:rPr lang="en-US" sz="1250" b="1" dirty="0">
                <a:solidFill>
                  <a:srgbClr val="1565C0"/>
                </a:solidFill>
                <a:latin typeface="Calibri" pitchFamily="34" charset="0"/>
                <a:ea typeface="Calibri" pitchFamily="34" charset="-122"/>
                <a:cs typeface="Calibri" pitchFamily="34" charset="-120"/>
              </a:rPr>
              <a:t>Find eligible:</a:t>
            </a:r>
            <a:endParaRPr lang="en-US" sz="1250" dirty="0"/>
          </a:p>
        </p:txBody>
      </p:sp>
      <p:sp>
        <p:nvSpPr>
          <p:cNvPr id="30" name="Text 28"/>
          <p:cNvSpPr/>
          <p:nvPr/>
        </p:nvSpPr>
        <p:spPr>
          <a:xfrm>
            <a:off x="5212080" y="2862072"/>
            <a:ext cx="3520440" cy="62179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Find i where: Finish[i]=false AND Need[i] ≤ Work</a:t>
            </a:r>
            <a:endParaRPr lang="en-US" sz="1100" dirty="0"/>
          </a:p>
          <a:p>
            <a:pPr indent="0" marL="0">
              <a:buNone/>
            </a:pPr>
            <a:r>
              <a:rPr lang="en-US" sz="1100" dirty="0">
                <a:solidFill>
                  <a:srgbClr val="1C0A0A"/>
                </a:solidFill>
                <a:latin typeface="Calibri" pitchFamily="34" charset="0"/>
                <a:ea typeface="Calibri" pitchFamily="34" charset="-122"/>
                <a:cs typeface="Calibri" pitchFamily="34" charset="-120"/>
              </a:rPr>
              <a:t>If none found → go to step 4</a:t>
            </a:r>
            <a:endParaRPr lang="en-US" sz="1100" dirty="0"/>
          </a:p>
        </p:txBody>
      </p:sp>
      <p:sp>
        <p:nvSpPr>
          <p:cNvPr id="31" name="Shape 29"/>
          <p:cNvSpPr/>
          <p:nvPr/>
        </p:nvSpPr>
        <p:spPr>
          <a:xfrm>
            <a:off x="3547872" y="3675888"/>
            <a:ext cx="384048" cy="384048"/>
          </a:xfrm>
          <a:prstGeom prst="ellipse">
            <a:avLst/>
          </a:prstGeom>
          <a:solidFill>
            <a:srgbClr val="1565C0"/>
          </a:solidFill>
          <a:ln w="12700">
            <a:solidFill>
              <a:srgbClr val="1565C0"/>
            </a:solidFill>
            <a:prstDash val="solid"/>
          </a:ln>
        </p:spPr>
      </p:sp>
      <p:sp>
        <p:nvSpPr>
          <p:cNvPr id="32" name="Text 30"/>
          <p:cNvSpPr/>
          <p:nvPr/>
        </p:nvSpPr>
        <p:spPr>
          <a:xfrm>
            <a:off x="3547872" y="369417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Text 31"/>
          <p:cNvSpPr/>
          <p:nvPr/>
        </p:nvSpPr>
        <p:spPr>
          <a:xfrm>
            <a:off x="4005072" y="3657600"/>
            <a:ext cx="1188720" cy="292608"/>
          </a:xfrm>
          <a:prstGeom prst="rect">
            <a:avLst/>
          </a:prstGeom>
          <a:noFill/>
          <a:ln/>
        </p:spPr>
        <p:txBody>
          <a:bodyPr wrap="square" lIns="0" tIns="0" rIns="0" bIns="0" rtlCol="0" anchor="ctr"/>
          <a:lstStyle/>
          <a:p>
            <a:pPr indent="0" marL="0">
              <a:buNone/>
            </a:pPr>
            <a:r>
              <a:rPr lang="en-US" sz="1250" b="1" dirty="0">
                <a:solidFill>
                  <a:srgbClr val="1565C0"/>
                </a:solidFill>
                <a:latin typeface="Calibri" pitchFamily="34" charset="0"/>
                <a:ea typeface="Calibri" pitchFamily="34" charset="-122"/>
                <a:cs typeface="Calibri" pitchFamily="34" charset="-120"/>
              </a:rPr>
              <a:t>Simulate completion:</a:t>
            </a:r>
            <a:endParaRPr lang="en-US" sz="1250" dirty="0"/>
          </a:p>
        </p:txBody>
      </p:sp>
      <p:sp>
        <p:nvSpPr>
          <p:cNvPr id="34" name="Text 32"/>
          <p:cNvSpPr/>
          <p:nvPr/>
        </p:nvSpPr>
        <p:spPr>
          <a:xfrm>
            <a:off x="5212080" y="3639312"/>
            <a:ext cx="3520440" cy="62179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Work = Work + Allocation[i]</a:t>
            </a:r>
            <a:endParaRPr lang="en-US" sz="1100" dirty="0"/>
          </a:p>
          <a:p>
            <a:pPr indent="0" marL="0">
              <a:buNone/>
            </a:pPr>
            <a:r>
              <a:rPr lang="en-US" sz="1100" dirty="0">
                <a:solidFill>
                  <a:srgbClr val="1C0A0A"/>
                </a:solidFill>
                <a:latin typeface="Calibri" pitchFamily="34" charset="0"/>
                <a:ea typeface="Calibri" pitchFamily="34" charset="-122"/>
                <a:cs typeface="Calibri" pitchFamily="34" charset="-120"/>
              </a:rPr>
              <a:t>Finish[i] = true → go back to step 2</a:t>
            </a:r>
            <a:endParaRPr lang="en-US" sz="1100" dirty="0"/>
          </a:p>
        </p:txBody>
      </p:sp>
      <p:sp>
        <p:nvSpPr>
          <p:cNvPr id="35" name="Shape 33"/>
          <p:cNvSpPr/>
          <p:nvPr/>
        </p:nvSpPr>
        <p:spPr>
          <a:xfrm>
            <a:off x="3547872" y="4453128"/>
            <a:ext cx="384048" cy="384048"/>
          </a:xfrm>
          <a:prstGeom prst="ellipse">
            <a:avLst/>
          </a:prstGeom>
          <a:solidFill>
            <a:srgbClr val="1565C0"/>
          </a:solidFill>
          <a:ln w="12700">
            <a:solidFill>
              <a:srgbClr val="1565C0"/>
            </a:solidFill>
            <a:prstDash val="solid"/>
          </a:ln>
        </p:spPr>
      </p:sp>
      <p:sp>
        <p:nvSpPr>
          <p:cNvPr id="36" name="Text 34"/>
          <p:cNvSpPr/>
          <p:nvPr/>
        </p:nvSpPr>
        <p:spPr>
          <a:xfrm>
            <a:off x="3547872" y="4471416"/>
            <a:ext cx="384048"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7" name="Text 35"/>
          <p:cNvSpPr/>
          <p:nvPr/>
        </p:nvSpPr>
        <p:spPr>
          <a:xfrm>
            <a:off x="4005072" y="4434840"/>
            <a:ext cx="1188720" cy="292608"/>
          </a:xfrm>
          <a:prstGeom prst="rect">
            <a:avLst/>
          </a:prstGeom>
          <a:noFill/>
          <a:ln/>
        </p:spPr>
        <p:txBody>
          <a:bodyPr wrap="square" lIns="0" tIns="0" rIns="0" bIns="0" rtlCol="0" anchor="ctr"/>
          <a:lstStyle/>
          <a:p>
            <a:pPr indent="0" marL="0">
              <a:buNone/>
            </a:pPr>
            <a:r>
              <a:rPr lang="en-US" sz="1250" b="1" dirty="0">
                <a:solidFill>
                  <a:srgbClr val="1565C0"/>
                </a:solidFill>
                <a:latin typeface="Calibri" pitchFamily="34" charset="0"/>
                <a:ea typeface="Calibri" pitchFamily="34" charset="-122"/>
                <a:cs typeface="Calibri" pitchFamily="34" charset="-120"/>
              </a:rPr>
              <a:t>Check result:</a:t>
            </a:r>
            <a:endParaRPr lang="en-US" sz="1250" dirty="0"/>
          </a:p>
        </p:txBody>
      </p:sp>
      <p:sp>
        <p:nvSpPr>
          <p:cNvPr id="38" name="Text 36"/>
          <p:cNvSpPr/>
          <p:nvPr/>
        </p:nvSpPr>
        <p:spPr>
          <a:xfrm>
            <a:off x="5212080" y="4416552"/>
            <a:ext cx="3520440" cy="621792"/>
          </a:xfrm>
          <a:prstGeom prst="rect">
            <a:avLst/>
          </a:prstGeom>
          <a:noFill/>
          <a:ln/>
        </p:spPr>
        <p:txBody>
          <a:bodyPr wrap="square" lIns="0" tIns="0" rIns="0" bIns="0" rtlCol="0" anchor="ctr"/>
          <a:lstStyle/>
          <a:p>
            <a:pPr indent="0" marL="0">
              <a:buNone/>
            </a:pPr>
            <a:r>
              <a:rPr lang="en-US" sz="1100" dirty="0">
                <a:solidFill>
                  <a:srgbClr val="1C0A0A"/>
                </a:solidFill>
                <a:latin typeface="Calibri" pitchFamily="34" charset="0"/>
                <a:ea typeface="Calibri" pitchFamily="34" charset="-122"/>
                <a:cs typeface="Calibri" pitchFamily="34" charset="-120"/>
              </a:rPr>
              <a:t>If Finish[i]=true for ALL i → SAFE STATE ✅</a:t>
            </a:r>
            <a:endParaRPr lang="en-US" sz="1100" dirty="0"/>
          </a:p>
          <a:p>
            <a:pPr indent="0" marL="0">
              <a:buNone/>
            </a:pPr>
            <a:r>
              <a:rPr lang="en-US" sz="1100" dirty="0">
                <a:solidFill>
                  <a:srgbClr val="1C0A0A"/>
                </a:solidFill>
                <a:latin typeface="Calibri" pitchFamily="34" charset="0"/>
                <a:ea typeface="Calibri" pitchFamily="34" charset="-122"/>
                <a:cs typeface="Calibri" pitchFamily="34" charset="-120"/>
              </a:rPr>
              <a:t>Else → UNSAFE STATE ⚠️ (possible deadlock)</a:t>
            </a:r>
            <a:endParaRPr lang="en-US" sz="1100" dirty="0"/>
          </a:p>
        </p:txBody>
      </p:sp>
      <p:sp>
        <p:nvSpPr>
          <p:cNvPr id="39" name="Shape 37"/>
          <p:cNvSpPr/>
          <p:nvPr/>
        </p:nvSpPr>
        <p:spPr>
          <a:xfrm>
            <a:off x="3547872" y="5047488"/>
            <a:ext cx="5166360" cy="384048"/>
          </a:xfrm>
          <a:prstGeom prst="roundRect">
            <a:avLst>
              <a:gd name="adj" fmla="val 16667"/>
            </a:avLst>
          </a:prstGeom>
          <a:solidFill>
            <a:srgbClr val="1565C0"/>
          </a:solidFill>
          <a:ln/>
        </p:spPr>
      </p:sp>
      <p:sp>
        <p:nvSpPr>
          <p:cNvPr id="40" name="Text 38"/>
          <p:cNvSpPr/>
          <p:nvPr/>
        </p:nvSpPr>
        <p:spPr>
          <a:xfrm>
            <a:off x="3657600" y="5093208"/>
            <a:ext cx="4983480" cy="292608"/>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Resource Request: pretend to allocate → run Safety → if SAFE grant, else rollback and make process wait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000" b="1" dirty="0">
                <a:solidFill>
                  <a:srgbClr val="1A0A0A"/>
                </a:solidFill>
                <a:latin typeface="Cambria" pitchFamily="34" charset="0"/>
                <a:ea typeface="Cambria" pitchFamily="34" charset="-122"/>
                <a:cs typeface="Cambria" pitchFamily="34" charset="-120"/>
              </a:rPr>
              <a:t>Banker's Algorithm — Worked Example</a:t>
            </a:r>
            <a:endParaRPr lang="en-US" sz="3000" dirty="0"/>
          </a:p>
        </p:txBody>
      </p:sp>
      <p:sp>
        <p:nvSpPr>
          <p:cNvPr id="4" name="Shape 2"/>
          <p:cNvSpPr/>
          <p:nvPr/>
        </p:nvSpPr>
        <p:spPr>
          <a:xfrm>
            <a:off x="256032" y="804672"/>
            <a:ext cx="8631936" cy="475488"/>
          </a:xfrm>
          <a:prstGeom prst="roundRect">
            <a:avLst>
              <a:gd name="adj" fmla="val 15385"/>
            </a:avLst>
          </a:prstGeom>
          <a:solidFill>
            <a:srgbClr val="1565C0"/>
          </a:solidFill>
          <a:ln/>
        </p:spPr>
      </p:sp>
      <p:sp>
        <p:nvSpPr>
          <p:cNvPr id="5" name="Text 3"/>
          <p:cNvSpPr/>
          <p:nvPr/>
        </p:nvSpPr>
        <p:spPr>
          <a:xfrm>
            <a:off x="384048" y="859536"/>
            <a:ext cx="8412480"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Given: 5 processes (P0–P4), 3 resource types (A, B, C)  |  Available = [3, 3, 2]</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914400"/>
        </p:xfrm>
        <a:graphic>
          <a:graphicData uri="http://schemas.openxmlformats.org/drawingml/2006/table">
            <a:tbl>
              <a:tblPr/>
              <a:tblGrid>
                <a:gridCol w="1097280"/>
                <a:gridCol w="2103120"/>
                <a:gridCol w="2103120"/>
                <a:gridCol w="32918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Process</a:t>
                      </a:r>
                      <a:endParaRPr lang="en-US" sz="1200" dirty="0">
                        <a:latin typeface="Calibri" charset="0"/>
                        <a:ea typeface="Calibri" charset="0"/>
                        <a:cs typeface="Calibri"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1565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  B  C</a:t>
                      </a:r>
                      <a:endParaRPr lang="en-US" sz="1200" dirty="0">
                        <a:latin typeface="Calibri" charset="0"/>
                        <a:ea typeface="Calibri" charset="0"/>
                        <a:cs typeface="Calibri"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1565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  B  C</a:t>
                      </a:r>
                      <a:endParaRPr lang="en-US" sz="1200" dirty="0">
                        <a:latin typeface="Calibri" charset="0"/>
                        <a:ea typeface="Calibri" charset="0"/>
                        <a:cs typeface="Calibri"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1565C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  B  C</a:t>
                      </a:r>
                      <a:endParaRPr lang="en-US" sz="1200" dirty="0">
                        <a:latin typeface="Calibri" charset="0"/>
                        <a:ea typeface="Calibri" charset="0"/>
                        <a:cs typeface="Calibri"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1565C0"/>
                    </a:solidFill>
                  </a:tcPr>
                </a:tc>
              </a:tr>
              <a:tr h="402336">
                <a:tc>
                  <a:txBody>
                    <a:bodyPr/>
                    <a:lstStyle/>
                    <a:p>
                      <a:pPr indent="0" marL="0">
                        <a:buNone/>
                      </a:pPr>
                      <a:r>
                        <a:rPr lang="en-US" sz="1300" b="1" dirty="0">
                          <a:solidFill>
                            <a:srgbClr val="1C0A0A"/>
                          </a:solidFill>
                          <a:latin typeface="Courier New" pitchFamily="34" charset="0"/>
                          <a:ea typeface="Courier New" pitchFamily="34" charset="-122"/>
                          <a:cs typeface="Courier New" pitchFamily="34" charset="-120"/>
                        </a:rPr>
                        <a:t>P0</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0  1  0</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7  5  3</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7  4  3</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r>
              <a:tr h="402336">
                <a:tc>
                  <a:txBody>
                    <a:bodyPr/>
                    <a:lstStyle/>
                    <a:p>
                      <a:pPr indent="0" marL="0">
                        <a:buNone/>
                      </a:pPr>
                      <a:r>
                        <a:rPr lang="en-US" sz="1300" b="1" dirty="0">
                          <a:solidFill>
                            <a:srgbClr val="1C0A0A"/>
                          </a:solidFill>
                          <a:latin typeface="Courier New" pitchFamily="34" charset="0"/>
                          <a:ea typeface="Courier New" pitchFamily="34" charset="-122"/>
                          <a:cs typeface="Courier New" pitchFamily="34" charset="-120"/>
                        </a:rPr>
                        <a:t>P1</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FFF"/>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2  0  0</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FFF"/>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3  2  2</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FFF"/>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1  2  2</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C0A0A"/>
                          </a:solidFill>
                          <a:latin typeface="Courier New" pitchFamily="34" charset="0"/>
                          <a:ea typeface="Courier New" pitchFamily="34" charset="-122"/>
                          <a:cs typeface="Courier New" pitchFamily="34" charset="-120"/>
                        </a:rPr>
                        <a:t>P2</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3  0  2</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9  0  2</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6  0  0</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r>
              <a:tr h="402336">
                <a:tc>
                  <a:txBody>
                    <a:bodyPr/>
                    <a:lstStyle/>
                    <a:p>
                      <a:pPr indent="0" marL="0">
                        <a:buNone/>
                      </a:pPr>
                      <a:r>
                        <a:rPr lang="en-US" sz="1300" b="1" dirty="0">
                          <a:solidFill>
                            <a:srgbClr val="1C0A0A"/>
                          </a:solidFill>
                          <a:latin typeface="Courier New" pitchFamily="34" charset="0"/>
                          <a:ea typeface="Courier New" pitchFamily="34" charset="-122"/>
                          <a:cs typeface="Courier New" pitchFamily="34" charset="-120"/>
                        </a:rPr>
                        <a:t>P3</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FFF"/>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2  1  1</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FFF"/>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2  2  2</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FFF"/>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0  1  1</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C0A0A"/>
                          </a:solidFill>
                          <a:latin typeface="Courier New" pitchFamily="34" charset="0"/>
                          <a:ea typeface="Courier New" pitchFamily="34" charset="-122"/>
                          <a:cs typeface="Courier New" pitchFamily="34" charset="-120"/>
                        </a:rPr>
                        <a:t>P4</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0  0  2</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4  3  3</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c>
                  <a:txBody>
                    <a:bodyPr/>
                    <a:lstStyle/>
                    <a:p>
                      <a:pPr indent="0" marL="0">
                        <a:buNone/>
                      </a:pPr>
                      <a:r>
                        <a:rPr lang="en-US" sz="1300" dirty="0">
                          <a:solidFill>
                            <a:srgbClr val="1C0A0A"/>
                          </a:solidFill>
                          <a:latin typeface="Courier New" pitchFamily="34" charset="0"/>
                          <a:ea typeface="Courier New" pitchFamily="34" charset="-122"/>
                          <a:cs typeface="Courier New" pitchFamily="34" charset="-120"/>
                        </a:rPr>
                        <a:t>4  3  1</a:t>
                      </a:r>
                      <a:endParaRPr lang="en-US" sz="1300" dirty="0">
                        <a:latin typeface="Courier New" charset="0"/>
                        <a:ea typeface="Courier New" charset="0"/>
                        <a:cs typeface="Courier New" charset="0"/>
                      </a:endParaRPr>
                    </a:p>
                  </a:txBody>
                  <a:tcPr marL="91440" marR="91440" marT="45720" marB="45720">
                    <a:lnL w="6350" cap="flat" cmpd="sng" algn="ctr">
                      <a:solidFill>
                        <a:srgbClr val="F5E8E8"/>
                      </a:solidFill>
                      <a:prstDash val="solid"/>
                      <a:round/>
                      <a:headEnd type="none" w="med" len="med"/>
                      <a:tailEnd type="none" w="med" len="med"/>
                    </a:lnL>
                    <a:lnR w="6350" cap="flat" cmpd="sng" algn="ctr">
                      <a:solidFill>
                        <a:srgbClr val="F5E8E8"/>
                      </a:solidFill>
                      <a:prstDash val="solid"/>
                      <a:round/>
                      <a:headEnd type="none" w="med" len="med"/>
                      <a:tailEnd type="none" w="med" len="med"/>
                    </a:lnR>
                    <a:lnT w="6350" cap="flat" cmpd="sng" algn="ctr">
                      <a:solidFill>
                        <a:srgbClr val="F5E8E8"/>
                      </a:solidFill>
                      <a:prstDash val="solid"/>
                      <a:round/>
                      <a:headEnd type="none" w="med" len="med"/>
                      <a:tailEnd type="none" w="med" len="med"/>
                    </a:lnT>
                    <a:lnB w="6350" cap="flat" cmpd="sng" algn="ctr">
                      <a:solidFill>
                        <a:srgbClr val="F5E8E8"/>
                      </a:solidFill>
                      <a:prstDash val="solid"/>
                      <a:round/>
                      <a:headEnd type="none" w="med" len="med"/>
                      <a:tailEnd type="none" w="med" len="med"/>
                    </a:lnB>
                    <a:solidFill>
                      <a:srgbClr val="FFF8F8"/>
                    </a:solidFill>
                  </a:tcPr>
                </a:tc>
              </a:tr>
            </a:tbl>
          </a:graphicData>
        </a:graphic>
      </p:graphicFrame>
      <p:sp>
        <p:nvSpPr>
          <p:cNvPr id="7" name="Shape 4"/>
          <p:cNvSpPr/>
          <p:nvPr/>
        </p:nvSpPr>
        <p:spPr>
          <a:xfrm>
            <a:off x="274320" y="4005072"/>
            <a:ext cx="8595360" cy="1170432"/>
          </a:xfrm>
          <a:prstGeom prst="roundRect">
            <a:avLst>
              <a:gd name="adj" fmla="val 7813"/>
            </a:avLst>
          </a:prstGeom>
          <a:solidFill>
            <a:srgbClr val="1A0A0A"/>
          </a:solidFill>
          <a:ln/>
          <a:effectLst>
            <a:outerShdw sx="100000" sy="100000" kx="0" ky="0" algn="bl" rotWithShape="0" blurRad="101600" dist="38100" dir="2700000">
              <a:srgbClr val="000000">
                <a:alpha val="15000"/>
              </a:srgbClr>
            </a:outerShdw>
          </a:effectLst>
        </p:spPr>
      </p:sp>
      <p:sp>
        <p:nvSpPr>
          <p:cNvPr id="8" name="Text 5"/>
          <p:cNvSpPr/>
          <p:nvPr/>
        </p:nvSpPr>
        <p:spPr>
          <a:xfrm>
            <a:off x="411480" y="4078224"/>
            <a:ext cx="8321040" cy="320040"/>
          </a:xfrm>
          <a:prstGeom prst="rect">
            <a:avLst/>
          </a:prstGeom>
          <a:noFill/>
          <a:ln/>
        </p:spPr>
        <p:txBody>
          <a:bodyPr wrap="square" lIns="0" tIns="0" rIns="0" bIns="0" rtlCol="0" anchor="ctr"/>
          <a:lstStyle/>
          <a:p>
            <a:pPr indent="0" marL="0">
              <a:buNone/>
            </a:pPr>
            <a:r>
              <a:rPr lang="en-US" sz="1350" b="1" dirty="0">
                <a:solidFill>
                  <a:srgbClr val="F9A825"/>
                </a:solidFill>
                <a:latin typeface="Calibri" pitchFamily="34" charset="0"/>
                <a:ea typeface="Calibri" pitchFamily="34" charset="-122"/>
                <a:cs typeface="Calibri" pitchFamily="34" charset="-120"/>
              </a:rPr>
              <a:t>Safety Check — Find Safe Sequence (Work starts at [3,3,2]):</a:t>
            </a:r>
            <a:endParaRPr lang="en-US" sz="1350" dirty="0"/>
          </a:p>
        </p:txBody>
      </p:sp>
      <p:sp>
        <p:nvSpPr>
          <p:cNvPr id="9" name="Text 6"/>
          <p:cNvSpPr/>
          <p:nvPr/>
        </p:nvSpPr>
        <p:spPr>
          <a:xfrm>
            <a:off x="384048" y="4462272"/>
            <a:ext cx="8394192" cy="18288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P1: Need[1,2,2] ≤ [3,3,2] ✅  Work=[3,3,2]+[2,0,0]=[5,3,2]</a:t>
            </a:r>
            <a:endParaRPr lang="en-US" sz="1050" dirty="0"/>
          </a:p>
        </p:txBody>
      </p:sp>
      <p:sp>
        <p:nvSpPr>
          <p:cNvPr id="10" name="Text 7"/>
          <p:cNvSpPr/>
          <p:nvPr/>
        </p:nvSpPr>
        <p:spPr>
          <a:xfrm>
            <a:off x="384048" y="4663440"/>
            <a:ext cx="8394192" cy="18288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P3: Need[0,1,1] ≤ [5,3,2] ✅  Work=[5,3,2]+[2,1,1]=[7,4,3]</a:t>
            </a:r>
            <a:endParaRPr lang="en-US" sz="1050" dirty="0"/>
          </a:p>
        </p:txBody>
      </p:sp>
      <p:sp>
        <p:nvSpPr>
          <p:cNvPr id="11" name="Text 8"/>
          <p:cNvSpPr/>
          <p:nvPr/>
        </p:nvSpPr>
        <p:spPr>
          <a:xfrm>
            <a:off x="384048" y="4864608"/>
            <a:ext cx="8394192" cy="18288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P4: Need[4,3,1] ≤ [7,4,3] ✅  Work=[7,4,3]+[0,0,2]=[7,4,5]</a:t>
            </a:r>
            <a:endParaRPr lang="en-US" sz="1050" dirty="0"/>
          </a:p>
        </p:txBody>
      </p:sp>
      <p:sp>
        <p:nvSpPr>
          <p:cNvPr id="12" name="Text 9"/>
          <p:cNvSpPr/>
          <p:nvPr/>
        </p:nvSpPr>
        <p:spPr>
          <a:xfrm>
            <a:off x="384048" y="5065776"/>
            <a:ext cx="8394192" cy="18288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P0: Need[7,4,3] ≤ [7,4,5] ✅  Work=[7,4,5]+[0,1,0]=[7,5,5]</a:t>
            </a:r>
            <a:endParaRPr lang="en-US" sz="1050" dirty="0"/>
          </a:p>
        </p:txBody>
      </p:sp>
      <p:sp>
        <p:nvSpPr>
          <p:cNvPr id="13" name="Text 10"/>
          <p:cNvSpPr/>
          <p:nvPr/>
        </p:nvSpPr>
        <p:spPr>
          <a:xfrm>
            <a:off x="384048" y="5266944"/>
            <a:ext cx="8394192" cy="18288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P2: Need[6,0,0] ≤ [7,5,5] ✅  Work=[7,5,5]+[3,0,2]=[10,5,7]</a:t>
            </a:r>
            <a:endParaRPr lang="en-US" sz="1050" dirty="0"/>
          </a:p>
        </p:txBody>
      </p:sp>
      <p:sp>
        <p:nvSpPr>
          <p:cNvPr id="14" name="Shape 11"/>
          <p:cNvSpPr/>
          <p:nvPr/>
        </p:nvSpPr>
        <p:spPr>
          <a:xfrm>
            <a:off x="274320" y="4956048"/>
            <a:ext cx="8595360" cy="347472"/>
          </a:xfrm>
          <a:prstGeom prst="roundRect">
            <a:avLst>
              <a:gd name="adj" fmla="val 18421"/>
            </a:avLst>
          </a:prstGeom>
          <a:solidFill>
            <a:srgbClr val="2E7D32"/>
          </a:solidFill>
          <a:ln/>
        </p:spPr>
      </p:sp>
      <p:sp>
        <p:nvSpPr>
          <p:cNvPr id="15" name="Text 12"/>
          <p:cNvSpPr/>
          <p:nvPr/>
        </p:nvSpPr>
        <p:spPr>
          <a:xfrm>
            <a:off x="411480" y="5001768"/>
            <a:ext cx="8321040" cy="25603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  Safe Sequence: P1 → P3 → P4 → P0 → P2  |  System is in a SAFE STATE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F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A1B9A"/>
          </a:solidFill>
          <a:ln w="12700">
            <a:solidFill>
              <a:srgbClr val="6A1B9A"/>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indent="0" marL="0">
              <a:buNone/>
            </a:pPr>
            <a:r>
              <a:rPr lang="en-US" sz="3200" b="1" dirty="0">
                <a:solidFill>
                  <a:srgbClr val="1A0A0A"/>
                </a:solidFill>
                <a:latin typeface="Cambria" pitchFamily="34" charset="0"/>
                <a:ea typeface="Cambria" pitchFamily="34" charset="-122"/>
                <a:cs typeface="Cambria" pitchFamily="34" charset="-120"/>
              </a:rPr>
              <a:t>Deadlock Detection &amp; Recovery</a:t>
            </a:r>
            <a:endParaRPr lang="en-US" sz="3200" dirty="0"/>
          </a:p>
        </p:txBody>
      </p:sp>
      <p:sp>
        <p:nvSpPr>
          <p:cNvPr id="4" name="Shape 2"/>
          <p:cNvSpPr/>
          <p:nvPr/>
        </p:nvSpPr>
        <p:spPr>
          <a:xfrm>
            <a:off x="274320" y="822960"/>
            <a:ext cx="4206240" cy="4315968"/>
          </a:xfrm>
          <a:prstGeom prst="roundRect">
            <a:avLst>
              <a:gd name="adj" fmla="val 2609"/>
            </a:avLst>
          </a:prstGeom>
          <a:solidFill>
            <a:srgbClr val="FFFFFF"/>
          </a:solidFill>
          <a:ln/>
          <a:effectLst>
            <a:outerShdw sx="100000" sy="100000" kx="0" ky="0" algn="bl" rotWithShape="0" blurRad="101600" dist="38100" dir="2700000">
              <a:srgbClr val="000000">
                <a:alpha val="15000"/>
              </a:srgbClr>
            </a:outerShdw>
          </a:effectLst>
        </p:spPr>
      </p:sp>
      <p:sp>
        <p:nvSpPr>
          <p:cNvPr id="5" name="Shape 3"/>
          <p:cNvSpPr/>
          <p:nvPr/>
        </p:nvSpPr>
        <p:spPr>
          <a:xfrm>
            <a:off x="274320" y="822960"/>
            <a:ext cx="4206240" cy="530352"/>
          </a:xfrm>
          <a:prstGeom prst="roundRect">
            <a:avLst>
              <a:gd name="adj" fmla="val 17241"/>
            </a:avLst>
          </a:prstGeom>
          <a:solidFill>
            <a:srgbClr val="6A1B9A"/>
          </a:solidFill>
          <a:ln/>
        </p:spPr>
      </p:sp>
      <p:sp>
        <p:nvSpPr>
          <p:cNvPr id="6" name="Text 4"/>
          <p:cNvSpPr/>
          <p:nvPr/>
        </p:nvSpPr>
        <p:spPr>
          <a:xfrm>
            <a:off x="384048" y="877824"/>
            <a:ext cx="4005072"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Deadlock Detection</a:t>
            </a:r>
            <a:endParaRPr lang="en-US" sz="1800" dirty="0"/>
          </a:p>
        </p:txBody>
      </p:sp>
      <p:sp>
        <p:nvSpPr>
          <p:cNvPr id="7" name="Text 5"/>
          <p:cNvSpPr/>
          <p:nvPr/>
        </p:nvSpPr>
        <p:spPr>
          <a:xfrm>
            <a:off x="384048" y="1426464"/>
            <a:ext cx="4005072" cy="347472"/>
          </a:xfrm>
          <a:prstGeom prst="rect">
            <a:avLst/>
          </a:prstGeom>
          <a:noFill/>
          <a:ln/>
        </p:spPr>
        <p:txBody>
          <a:bodyPr wrap="square" lIns="0" tIns="0" rIns="0" bIns="0" rtlCol="0" anchor="ctr"/>
          <a:lstStyle/>
          <a:p>
            <a:pPr indent="0" marL="0">
              <a:buNone/>
            </a:pPr>
            <a:r>
              <a:rPr lang="en-US" sz="1250" dirty="0">
                <a:solidFill>
                  <a:srgbClr val="5D3A3A"/>
                </a:solidFill>
                <a:latin typeface="Calibri" pitchFamily="34" charset="0"/>
                <a:ea typeface="Calibri" pitchFamily="34" charset="-122"/>
                <a:cs typeface="Calibri" pitchFamily="34" charset="-120"/>
              </a:rPr>
              <a:t>Allow deadlocks to occur, then periodically detect them.</a:t>
            </a:r>
            <a:endParaRPr lang="en-US" sz="1250" dirty="0"/>
          </a:p>
        </p:txBody>
      </p:sp>
      <p:sp>
        <p:nvSpPr>
          <p:cNvPr id="8" name="Text 6"/>
          <p:cNvSpPr/>
          <p:nvPr/>
        </p:nvSpPr>
        <p:spPr>
          <a:xfrm>
            <a:off x="384048" y="1810512"/>
            <a:ext cx="4005072" cy="292608"/>
          </a:xfrm>
          <a:prstGeom prst="rect">
            <a:avLst/>
          </a:prstGeom>
          <a:noFill/>
          <a:ln/>
        </p:spPr>
        <p:txBody>
          <a:bodyPr wrap="square" lIns="0" tIns="0" rIns="0" bIns="0" rtlCol="0" anchor="ctr"/>
          <a:lstStyle/>
          <a:p>
            <a:pPr indent="0" marL="0">
              <a:buNone/>
            </a:pPr>
            <a:r>
              <a:rPr lang="en-US" sz="1300" b="1" dirty="0">
                <a:solidFill>
                  <a:srgbClr val="6A1B9A"/>
                </a:solidFill>
                <a:latin typeface="Calibri" pitchFamily="34" charset="0"/>
                <a:ea typeface="Calibri" pitchFamily="34" charset="-122"/>
                <a:cs typeface="Calibri" pitchFamily="34" charset="-120"/>
              </a:rPr>
              <a:t>For single-instance resources:</a:t>
            </a:r>
            <a:endParaRPr lang="en-US" sz="1300" dirty="0"/>
          </a:p>
        </p:txBody>
      </p:sp>
      <p:sp>
        <p:nvSpPr>
          <p:cNvPr id="9" name="Text 7"/>
          <p:cNvSpPr/>
          <p:nvPr/>
        </p:nvSpPr>
        <p:spPr>
          <a:xfrm>
            <a:off x="384048" y="2121408"/>
            <a:ext cx="4005072" cy="1005840"/>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Use RAG reduction:</a:t>
            </a:r>
            <a:endParaRPr lang="en-US" sz="1200" dirty="0"/>
          </a:p>
          <a:p>
            <a:pPr indent="0" marL="0">
              <a:buNone/>
            </a:pPr>
            <a:r>
              <a:rPr lang="en-US" sz="1200" dirty="0">
                <a:solidFill>
                  <a:srgbClr val="1C0A0A"/>
                </a:solidFill>
                <a:latin typeface="Calibri" pitchFamily="34" charset="0"/>
                <a:ea typeface="Calibri" pitchFamily="34" charset="-122"/>
                <a:cs typeface="Calibri" pitchFamily="34" charset="-120"/>
              </a:rPr>
              <a:t>▸ Find process with no outstanding requests → it can finish</a:t>
            </a:r>
            <a:endParaRPr lang="en-US" sz="1200" dirty="0"/>
          </a:p>
          <a:p>
            <a:pPr indent="0" marL="0">
              <a:buNone/>
            </a:pPr>
            <a:r>
              <a:rPr lang="en-US" sz="1200" dirty="0">
                <a:solidFill>
                  <a:srgbClr val="1C0A0A"/>
                </a:solidFill>
                <a:latin typeface="Calibri" pitchFamily="34" charset="0"/>
                <a:ea typeface="Calibri" pitchFamily="34" charset="-122"/>
                <a:cs typeface="Calibri" pitchFamily="34" charset="-120"/>
              </a:rPr>
              <a:t>▸ Remove it &amp; its edges from RAG</a:t>
            </a:r>
            <a:endParaRPr lang="en-US" sz="1200" dirty="0"/>
          </a:p>
          <a:p>
            <a:pPr indent="0" marL="0">
              <a:buNone/>
            </a:pPr>
            <a:r>
              <a:rPr lang="en-US" sz="1200" dirty="0">
                <a:solidFill>
                  <a:srgbClr val="1C0A0A"/>
                </a:solidFill>
                <a:latin typeface="Calibri" pitchFamily="34" charset="0"/>
                <a:ea typeface="Calibri" pitchFamily="34" charset="-122"/>
                <a:cs typeface="Calibri" pitchFamily="34" charset="-120"/>
              </a:rPr>
              <a:t>▸ Repeat until no more removals</a:t>
            </a:r>
            <a:endParaRPr lang="en-US" sz="1200" dirty="0"/>
          </a:p>
          <a:p>
            <a:pPr indent="0" marL="0">
              <a:buNone/>
            </a:pPr>
            <a:r>
              <a:rPr lang="en-US" sz="1200" dirty="0">
                <a:solidFill>
                  <a:srgbClr val="1C0A0A"/>
                </a:solidFill>
                <a:latin typeface="Calibri" pitchFamily="34" charset="0"/>
                <a:ea typeface="Calibri" pitchFamily="34" charset="-122"/>
                <a:cs typeface="Calibri" pitchFamily="34" charset="-120"/>
              </a:rPr>
              <a:t>▸ Remaining processes = DEADLOCKED</a:t>
            </a:r>
            <a:endParaRPr lang="en-US" sz="1200" dirty="0"/>
          </a:p>
        </p:txBody>
      </p:sp>
      <p:sp>
        <p:nvSpPr>
          <p:cNvPr id="10" name="Text 8"/>
          <p:cNvSpPr/>
          <p:nvPr/>
        </p:nvSpPr>
        <p:spPr>
          <a:xfrm>
            <a:off x="384048" y="3218688"/>
            <a:ext cx="4005072" cy="292608"/>
          </a:xfrm>
          <a:prstGeom prst="rect">
            <a:avLst/>
          </a:prstGeom>
          <a:noFill/>
          <a:ln/>
        </p:spPr>
        <p:txBody>
          <a:bodyPr wrap="square" lIns="0" tIns="0" rIns="0" bIns="0" rtlCol="0" anchor="ctr"/>
          <a:lstStyle/>
          <a:p>
            <a:pPr indent="0" marL="0">
              <a:buNone/>
            </a:pPr>
            <a:r>
              <a:rPr lang="en-US" sz="1300" b="1" dirty="0">
                <a:solidFill>
                  <a:srgbClr val="6A1B9A"/>
                </a:solidFill>
                <a:latin typeface="Calibri" pitchFamily="34" charset="0"/>
                <a:ea typeface="Calibri" pitchFamily="34" charset="-122"/>
                <a:cs typeface="Calibri" pitchFamily="34" charset="-120"/>
              </a:rPr>
              <a:t>For multi-instance resources:</a:t>
            </a:r>
            <a:endParaRPr lang="en-US" sz="1300" dirty="0"/>
          </a:p>
        </p:txBody>
      </p:sp>
      <p:sp>
        <p:nvSpPr>
          <p:cNvPr id="11" name="Text 9"/>
          <p:cNvSpPr/>
          <p:nvPr/>
        </p:nvSpPr>
        <p:spPr>
          <a:xfrm>
            <a:off x="384048" y="3547872"/>
            <a:ext cx="4005072" cy="1005840"/>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Detection Algorithm (like Banker's Safety):</a:t>
            </a:r>
            <a:endParaRPr lang="en-US" sz="1200" dirty="0"/>
          </a:p>
          <a:p>
            <a:pPr indent="0" marL="0">
              <a:buNone/>
            </a:pPr>
            <a:r>
              <a:rPr lang="en-US" sz="1200" dirty="0">
                <a:solidFill>
                  <a:srgbClr val="1C0A0A"/>
                </a:solidFill>
                <a:latin typeface="Calibri" pitchFamily="34" charset="0"/>
                <a:ea typeface="Calibri" pitchFamily="34" charset="-122"/>
                <a:cs typeface="Calibri" pitchFamily="34" charset="-120"/>
              </a:rPr>
              <a:t>▸ Work = Available</a:t>
            </a:r>
            <a:endParaRPr lang="en-US" sz="1200" dirty="0"/>
          </a:p>
          <a:p>
            <a:pPr indent="0" marL="0">
              <a:buNone/>
            </a:pPr>
            <a:r>
              <a:rPr lang="en-US" sz="1200" dirty="0">
                <a:solidFill>
                  <a:srgbClr val="1C0A0A"/>
                </a:solidFill>
                <a:latin typeface="Calibri" pitchFamily="34" charset="0"/>
                <a:ea typeface="Calibri" pitchFamily="34" charset="-122"/>
                <a:cs typeface="Calibri" pitchFamily="34" charset="-120"/>
              </a:rPr>
              <a:t>▸ Find i: Finish[i]=false AND Request[i] ≤ Work</a:t>
            </a:r>
            <a:endParaRPr lang="en-US" sz="1200" dirty="0"/>
          </a:p>
          <a:p>
            <a:pPr indent="0" marL="0">
              <a:buNone/>
            </a:pPr>
            <a:r>
              <a:rPr lang="en-US" sz="1200" dirty="0">
                <a:solidFill>
                  <a:srgbClr val="1C0A0A"/>
                </a:solidFill>
                <a:latin typeface="Calibri" pitchFamily="34" charset="0"/>
                <a:ea typeface="Calibri" pitchFamily="34" charset="-122"/>
                <a:cs typeface="Calibri" pitchFamily="34" charset="-120"/>
              </a:rPr>
              <a:t>▸ Work += Allocation[i]; Finish[i] = true</a:t>
            </a:r>
            <a:endParaRPr lang="en-US" sz="1200" dirty="0"/>
          </a:p>
          <a:p>
            <a:pPr indent="0" marL="0">
              <a:buNone/>
            </a:pPr>
            <a:r>
              <a:rPr lang="en-US" sz="1200" dirty="0">
                <a:solidFill>
                  <a:srgbClr val="1C0A0A"/>
                </a:solidFill>
                <a:latin typeface="Calibri" pitchFamily="34" charset="0"/>
                <a:ea typeface="Calibri" pitchFamily="34" charset="-122"/>
                <a:cs typeface="Calibri" pitchFamily="34" charset="-120"/>
              </a:rPr>
              <a:t>▸ If Finish[i]=false for any i → DEADLOCK</a:t>
            </a:r>
            <a:endParaRPr lang="en-US" sz="1200" dirty="0"/>
          </a:p>
        </p:txBody>
      </p:sp>
      <p:sp>
        <p:nvSpPr>
          <p:cNvPr id="12" name="Shape 10"/>
          <p:cNvSpPr/>
          <p:nvPr/>
        </p:nvSpPr>
        <p:spPr>
          <a:xfrm>
            <a:off x="384048" y="4681728"/>
            <a:ext cx="4005072" cy="384048"/>
          </a:xfrm>
          <a:prstGeom prst="roundRect">
            <a:avLst>
              <a:gd name="adj" fmla="val 16667"/>
            </a:avLst>
          </a:prstGeom>
          <a:solidFill>
            <a:srgbClr val="6A1B9A"/>
          </a:solidFill>
          <a:ln/>
        </p:spPr>
      </p:sp>
      <p:sp>
        <p:nvSpPr>
          <p:cNvPr id="13" name="Text 11"/>
          <p:cNvSpPr/>
          <p:nvPr/>
        </p:nvSpPr>
        <p:spPr>
          <a:xfrm>
            <a:off x="457200" y="4727448"/>
            <a:ext cx="3886200" cy="29260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When to run: Every K minutes OR when CPU utilization drops below threshold</a:t>
            </a:r>
            <a:endParaRPr lang="en-US" sz="1100" dirty="0"/>
          </a:p>
        </p:txBody>
      </p:sp>
      <p:sp>
        <p:nvSpPr>
          <p:cNvPr id="14" name="Shape 12"/>
          <p:cNvSpPr/>
          <p:nvPr/>
        </p:nvSpPr>
        <p:spPr>
          <a:xfrm>
            <a:off x="4663440" y="822960"/>
            <a:ext cx="4206240" cy="4315968"/>
          </a:xfrm>
          <a:prstGeom prst="roundRect">
            <a:avLst>
              <a:gd name="adj" fmla="val 2609"/>
            </a:avLst>
          </a:prstGeom>
          <a:solidFill>
            <a:srgbClr val="FFFFFF"/>
          </a:solidFill>
          <a:ln/>
          <a:effectLst>
            <a:outerShdw sx="100000" sy="100000" kx="0" ky="0" algn="bl" rotWithShape="0" blurRad="101600" dist="38100" dir="2700000">
              <a:srgbClr val="000000">
                <a:alpha val="15000"/>
              </a:srgbClr>
            </a:outerShdw>
          </a:effectLst>
        </p:spPr>
      </p:sp>
      <p:sp>
        <p:nvSpPr>
          <p:cNvPr id="15" name="Shape 13"/>
          <p:cNvSpPr/>
          <p:nvPr/>
        </p:nvSpPr>
        <p:spPr>
          <a:xfrm>
            <a:off x="4663440" y="822960"/>
            <a:ext cx="4206240" cy="530352"/>
          </a:xfrm>
          <a:prstGeom prst="roundRect">
            <a:avLst>
              <a:gd name="adj" fmla="val 17241"/>
            </a:avLst>
          </a:prstGeom>
          <a:solidFill>
            <a:srgbClr val="B71C1C"/>
          </a:solidFill>
          <a:ln/>
        </p:spPr>
      </p:sp>
      <p:sp>
        <p:nvSpPr>
          <p:cNvPr id="16" name="Text 14"/>
          <p:cNvSpPr/>
          <p:nvPr/>
        </p:nvSpPr>
        <p:spPr>
          <a:xfrm>
            <a:off x="4773168" y="877824"/>
            <a:ext cx="4005072"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  Deadlock Recovery</a:t>
            </a:r>
            <a:endParaRPr lang="en-US" sz="1800" dirty="0"/>
          </a:p>
        </p:txBody>
      </p:sp>
      <p:sp>
        <p:nvSpPr>
          <p:cNvPr id="17" name="Text 15"/>
          <p:cNvSpPr/>
          <p:nvPr/>
        </p:nvSpPr>
        <p:spPr>
          <a:xfrm>
            <a:off x="4773168" y="1426464"/>
            <a:ext cx="4005072" cy="320040"/>
          </a:xfrm>
          <a:prstGeom prst="rect">
            <a:avLst/>
          </a:prstGeom>
          <a:noFill/>
          <a:ln/>
        </p:spPr>
        <p:txBody>
          <a:bodyPr wrap="square" lIns="0" tIns="0" rIns="0" bIns="0" rtlCol="0" anchor="ctr"/>
          <a:lstStyle/>
          <a:p>
            <a:pPr indent="0" marL="0">
              <a:buNone/>
            </a:pPr>
            <a:r>
              <a:rPr lang="en-US" sz="1400" b="1" dirty="0">
                <a:solidFill>
                  <a:srgbClr val="B71C1C"/>
                </a:solidFill>
                <a:latin typeface="Calibri" pitchFamily="34" charset="0"/>
                <a:ea typeface="Calibri" pitchFamily="34" charset="-122"/>
                <a:cs typeface="Calibri" pitchFamily="34" charset="-120"/>
              </a:rPr>
              <a:t>Method 1: Process Termination</a:t>
            </a:r>
            <a:endParaRPr lang="en-US" sz="1400" dirty="0"/>
          </a:p>
        </p:txBody>
      </p:sp>
      <p:sp>
        <p:nvSpPr>
          <p:cNvPr id="18" name="Text 16"/>
          <p:cNvSpPr/>
          <p:nvPr/>
        </p:nvSpPr>
        <p:spPr>
          <a:xfrm>
            <a:off x="4773168" y="1792224"/>
            <a:ext cx="4005072" cy="301752"/>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Option A: Abort ALL deadlocked processes</a:t>
            </a:r>
            <a:endParaRPr lang="en-US" sz="1150" dirty="0"/>
          </a:p>
        </p:txBody>
      </p:sp>
      <p:sp>
        <p:nvSpPr>
          <p:cNvPr id="19" name="Text 17"/>
          <p:cNvSpPr/>
          <p:nvPr/>
        </p:nvSpPr>
        <p:spPr>
          <a:xfrm>
            <a:off x="4773168" y="2112264"/>
            <a:ext cx="4005072" cy="301752"/>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 → Simple but all progress is lost</a:t>
            </a:r>
            <a:endParaRPr lang="en-US" sz="1150" dirty="0"/>
          </a:p>
        </p:txBody>
      </p:sp>
      <p:sp>
        <p:nvSpPr>
          <p:cNvPr id="20" name="Text 18"/>
          <p:cNvSpPr/>
          <p:nvPr/>
        </p:nvSpPr>
        <p:spPr>
          <a:xfrm>
            <a:off x="4773168" y="2432304"/>
            <a:ext cx="4005072" cy="301752"/>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Option B: Abort ONE process at a time</a:t>
            </a:r>
            <a:endParaRPr lang="en-US" sz="1150" dirty="0"/>
          </a:p>
        </p:txBody>
      </p:sp>
      <p:sp>
        <p:nvSpPr>
          <p:cNvPr id="21" name="Text 19"/>
          <p:cNvSpPr/>
          <p:nvPr/>
        </p:nvSpPr>
        <p:spPr>
          <a:xfrm>
            <a:off x="4773168" y="2752344"/>
            <a:ext cx="4005072" cy="301752"/>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 → Check if deadlock resolved; repeat</a:t>
            </a:r>
            <a:endParaRPr lang="en-US" sz="1150" dirty="0"/>
          </a:p>
        </p:txBody>
      </p:sp>
      <p:sp>
        <p:nvSpPr>
          <p:cNvPr id="22" name="Text 20"/>
          <p:cNvSpPr/>
          <p:nvPr/>
        </p:nvSpPr>
        <p:spPr>
          <a:xfrm>
            <a:off x="4773168" y="3072384"/>
            <a:ext cx="4005072" cy="301752"/>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Victim selection factors:</a:t>
            </a:r>
            <a:endParaRPr lang="en-US" sz="1150" dirty="0"/>
          </a:p>
        </p:txBody>
      </p:sp>
      <p:sp>
        <p:nvSpPr>
          <p:cNvPr id="23" name="Text 21"/>
          <p:cNvSpPr/>
          <p:nvPr/>
        </p:nvSpPr>
        <p:spPr>
          <a:xfrm>
            <a:off x="4773168" y="3392424"/>
            <a:ext cx="4005072" cy="301752"/>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 ▸ Priority of process</a:t>
            </a:r>
            <a:endParaRPr lang="en-US" sz="1150" dirty="0"/>
          </a:p>
        </p:txBody>
      </p:sp>
      <p:sp>
        <p:nvSpPr>
          <p:cNvPr id="24" name="Text 22"/>
          <p:cNvSpPr/>
          <p:nvPr/>
        </p:nvSpPr>
        <p:spPr>
          <a:xfrm>
            <a:off x="4773168" y="3712464"/>
            <a:ext cx="4005072" cy="301752"/>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 ▸ How long it has run (close to done?)</a:t>
            </a:r>
            <a:endParaRPr lang="en-US" sz="1150" dirty="0"/>
          </a:p>
        </p:txBody>
      </p:sp>
      <p:sp>
        <p:nvSpPr>
          <p:cNvPr id="25" name="Text 23"/>
          <p:cNvSpPr/>
          <p:nvPr/>
        </p:nvSpPr>
        <p:spPr>
          <a:xfrm>
            <a:off x="4773168" y="4032504"/>
            <a:ext cx="4005072" cy="301752"/>
          </a:xfrm>
          <a:prstGeom prst="rect">
            <a:avLst/>
          </a:prstGeom>
          <a:noFill/>
          <a:ln/>
        </p:spPr>
        <p:txBody>
          <a:bodyPr wrap="square" lIns="0" tIns="0" rIns="0" bIns="0" rtlCol="0" anchor="ctr"/>
          <a:lstStyle/>
          <a:p>
            <a:pPr indent="0" marL="0">
              <a:buNone/>
            </a:pPr>
            <a:r>
              <a:rPr lang="en-US" sz="1150" dirty="0">
                <a:solidFill>
                  <a:srgbClr val="1C0A0A"/>
                </a:solidFill>
                <a:latin typeface="Calibri" pitchFamily="34" charset="0"/>
                <a:ea typeface="Calibri" pitchFamily="34" charset="-122"/>
                <a:cs typeface="Calibri" pitchFamily="34" charset="-120"/>
              </a:rPr>
              <a:t> ▸ How many resources it holds</a:t>
            </a:r>
            <a:endParaRPr lang="en-US" sz="1150" dirty="0"/>
          </a:p>
        </p:txBody>
      </p:sp>
      <p:sp>
        <p:nvSpPr>
          <p:cNvPr id="26" name="Text 24"/>
          <p:cNvSpPr/>
          <p:nvPr/>
        </p:nvSpPr>
        <p:spPr>
          <a:xfrm>
            <a:off x="4773168" y="4407408"/>
            <a:ext cx="4005072" cy="320040"/>
          </a:xfrm>
          <a:prstGeom prst="rect">
            <a:avLst/>
          </a:prstGeom>
          <a:noFill/>
          <a:ln/>
        </p:spPr>
        <p:txBody>
          <a:bodyPr wrap="square" lIns="0" tIns="0" rIns="0" bIns="0" rtlCol="0" anchor="ctr"/>
          <a:lstStyle/>
          <a:p>
            <a:pPr indent="0" marL="0">
              <a:buNone/>
            </a:pPr>
            <a:r>
              <a:rPr lang="en-US" sz="1400" b="1" dirty="0">
                <a:solidFill>
                  <a:srgbClr val="6A1B9A"/>
                </a:solidFill>
                <a:latin typeface="Calibri" pitchFamily="34" charset="0"/>
                <a:ea typeface="Calibri" pitchFamily="34" charset="-122"/>
                <a:cs typeface="Calibri" pitchFamily="34" charset="-120"/>
              </a:rPr>
              <a:t>Method 2: Resource Preemption</a:t>
            </a:r>
            <a:endParaRPr lang="en-US" sz="1400" dirty="0"/>
          </a:p>
        </p:txBody>
      </p:sp>
      <p:sp>
        <p:nvSpPr>
          <p:cNvPr id="27" name="Text 25"/>
          <p:cNvSpPr/>
          <p:nvPr/>
        </p:nvSpPr>
        <p:spPr>
          <a:xfrm>
            <a:off x="4773168" y="3657600"/>
            <a:ext cx="4005072" cy="1024128"/>
          </a:xfrm>
          <a:prstGeom prst="rect">
            <a:avLst/>
          </a:prstGeom>
          <a:noFill/>
          <a:ln/>
        </p:spPr>
        <p:txBody>
          <a:bodyPr wrap="square" lIns="0" tIns="0" rIns="0" bIns="0" rtlCol="0" anchor="ctr"/>
          <a:lstStyle/>
          <a:p>
            <a:pPr indent="0" marL="0">
              <a:buNone/>
            </a:pPr>
            <a:r>
              <a:rPr lang="en-US" sz="1200" dirty="0">
                <a:solidFill>
                  <a:srgbClr val="1C0A0A"/>
                </a:solidFill>
                <a:latin typeface="Calibri" pitchFamily="34" charset="0"/>
                <a:ea typeface="Calibri" pitchFamily="34" charset="-122"/>
                <a:cs typeface="Calibri" pitchFamily="34" charset="-120"/>
              </a:rPr>
              <a:t>Forcibly take resource from a process (victim), give to deadlocked process. Issues: select victim carefully, rollback victim to checkpoint, prevent starvation (don't always pick same victim).</a:t>
            </a:r>
            <a:endParaRPr lang="en-US" sz="1200" dirty="0"/>
          </a:p>
        </p:txBody>
      </p:sp>
      <p:sp>
        <p:nvSpPr>
          <p:cNvPr id="28" name="Shape 26"/>
          <p:cNvSpPr/>
          <p:nvPr/>
        </p:nvSpPr>
        <p:spPr>
          <a:xfrm>
            <a:off x="4773168" y="4681728"/>
            <a:ext cx="4005072" cy="384048"/>
          </a:xfrm>
          <a:prstGeom prst="roundRect">
            <a:avLst>
              <a:gd name="adj" fmla="val 16667"/>
            </a:avLst>
          </a:prstGeom>
          <a:solidFill>
            <a:srgbClr val="B71C1C"/>
          </a:solidFill>
          <a:ln/>
        </p:spPr>
      </p:sp>
      <p:sp>
        <p:nvSpPr>
          <p:cNvPr id="29" name="Text 27"/>
          <p:cNvSpPr/>
          <p:nvPr/>
        </p:nvSpPr>
        <p:spPr>
          <a:xfrm>
            <a:off x="4846320" y="4727448"/>
            <a:ext cx="3858768" cy="29260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 Database rollback: deadlocked transaction is rolled back, other proceeds, then restarted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0A0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71C1C"/>
          </a:solidFill>
          <a:ln w="12700">
            <a:solidFill>
              <a:srgbClr val="B71C1C"/>
            </a:solidFill>
            <a:prstDash val="solid"/>
          </a:ln>
        </p:spPr>
      </p:sp>
      <p:sp>
        <p:nvSpPr>
          <p:cNvPr id="3" name="Text 1"/>
          <p:cNvSpPr/>
          <p:nvPr/>
        </p:nvSpPr>
        <p:spPr>
          <a:xfrm>
            <a:off x="457200" y="164592"/>
            <a:ext cx="8229600" cy="5486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Unit 4 — Key Takeaways</a:t>
            </a:r>
            <a:endParaRPr lang="en-US" sz="3400" dirty="0"/>
          </a:p>
        </p:txBody>
      </p:sp>
      <p:sp>
        <p:nvSpPr>
          <p:cNvPr id="4" name="Shape 2"/>
          <p:cNvSpPr/>
          <p:nvPr/>
        </p:nvSpPr>
        <p:spPr>
          <a:xfrm>
            <a:off x="347472" y="868680"/>
            <a:ext cx="347472" cy="347472"/>
          </a:xfrm>
          <a:prstGeom prst="ellipse">
            <a:avLst/>
          </a:prstGeom>
          <a:solidFill>
            <a:srgbClr val="B71C1C"/>
          </a:solidFill>
          <a:ln w="12700">
            <a:solidFill>
              <a:srgbClr val="B71C1C"/>
            </a:solidFill>
            <a:prstDash val="solid"/>
          </a:ln>
        </p:spPr>
      </p:sp>
      <p:sp>
        <p:nvSpPr>
          <p:cNvPr id="5" name="Text 3"/>
          <p:cNvSpPr/>
          <p:nvPr/>
        </p:nvSpPr>
        <p:spPr>
          <a:xfrm>
            <a:off x="347472" y="8869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804672" y="822960"/>
            <a:ext cx="7973568" cy="43891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Deadlock = Circular wait where no process can proceed. Involves non-preemptable resources.</a:t>
            </a:r>
            <a:endParaRPr lang="en-US" sz="1300" dirty="0"/>
          </a:p>
        </p:txBody>
      </p:sp>
      <p:sp>
        <p:nvSpPr>
          <p:cNvPr id="7" name="Shape 5"/>
          <p:cNvSpPr/>
          <p:nvPr/>
        </p:nvSpPr>
        <p:spPr>
          <a:xfrm>
            <a:off x="347472" y="1325880"/>
            <a:ext cx="347472" cy="347472"/>
          </a:xfrm>
          <a:prstGeom prst="ellipse">
            <a:avLst/>
          </a:prstGeom>
          <a:solidFill>
            <a:srgbClr val="E65100"/>
          </a:solidFill>
          <a:ln w="12700">
            <a:solidFill>
              <a:srgbClr val="E65100"/>
            </a:solidFill>
            <a:prstDash val="solid"/>
          </a:ln>
        </p:spPr>
      </p:sp>
      <p:sp>
        <p:nvSpPr>
          <p:cNvPr id="8" name="Text 6"/>
          <p:cNvSpPr/>
          <p:nvPr/>
        </p:nvSpPr>
        <p:spPr>
          <a:xfrm>
            <a:off x="347472" y="13441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804672" y="1280160"/>
            <a:ext cx="7973568" cy="43891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Coffman conditions (ALL needed): Mutual Exclusion, Hold &amp; Wait, No Preemption, Circular Wait.</a:t>
            </a:r>
            <a:endParaRPr lang="en-US" sz="1300" dirty="0"/>
          </a:p>
        </p:txBody>
      </p:sp>
      <p:sp>
        <p:nvSpPr>
          <p:cNvPr id="10" name="Shape 8"/>
          <p:cNvSpPr/>
          <p:nvPr/>
        </p:nvSpPr>
        <p:spPr>
          <a:xfrm>
            <a:off x="347472" y="1783080"/>
            <a:ext cx="347472" cy="347472"/>
          </a:xfrm>
          <a:prstGeom prst="ellipse">
            <a:avLst/>
          </a:prstGeom>
          <a:solidFill>
            <a:srgbClr val="00695C"/>
          </a:solidFill>
          <a:ln w="12700">
            <a:solidFill>
              <a:srgbClr val="00695C"/>
            </a:solidFill>
            <a:prstDash val="solid"/>
          </a:ln>
        </p:spPr>
      </p:sp>
      <p:sp>
        <p:nvSpPr>
          <p:cNvPr id="11" name="Text 9"/>
          <p:cNvSpPr/>
          <p:nvPr/>
        </p:nvSpPr>
        <p:spPr>
          <a:xfrm>
            <a:off x="347472" y="18013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804672" y="1737360"/>
            <a:ext cx="7973568" cy="43891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RAG: no cycle=no deadlock; cycle+single instance=deadlock; cycle+multi-instance=maybe deadlock.</a:t>
            </a:r>
            <a:endParaRPr lang="en-US" sz="1300" dirty="0"/>
          </a:p>
        </p:txBody>
      </p:sp>
      <p:sp>
        <p:nvSpPr>
          <p:cNvPr id="13" name="Shape 11"/>
          <p:cNvSpPr/>
          <p:nvPr/>
        </p:nvSpPr>
        <p:spPr>
          <a:xfrm>
            <a:off x="347472" y="2240280"/>
            <a:ext cx="347472" cy="347472"/>
          </a:xfrm>
          <a:prstGeom prst="ellipse">
            <a:avLst/>
          </a:prstGeom>
          <a:solidFill>
            <a:srgbClr val="F57C00"/>
          </a:solidFill>
          <a:ln w="12700">
            <a:solidFill>
              <a:srgbClr val="F57C00"/>
            </a:solidFill>
            <a:prstDash val="solid"/>
          </a:ln>
        </p:spPr>
      </p:sp>
      <p:sp>
        <p:nvSpPr>
          <p:cNvPr id="14" name="Text 12"/>
          <p:cNvSpPr/>
          <p:nvPr/>
        </p:nvSpPr>
        <p:spPr>
          <a:xfrm>
            <a:off x="347472" y="22585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804672" y="2194560"/>
            <a:ext cx="7973568" cy="43891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Ostrich Algorithm: ignore the problem. Used by Linux/Windows for non-critical deadlocks.</a:t>
            </a:r>
            <a:endParaRPr lang="en-US" sz="1300" dirty="0"/>
          </a:p>
        </p:txBody>
      </p:sp>
      <p:sp>
        <p:nvSpPr>
          <p:cNvPr id="16" name="Shape 14"/>
          <p:cNvSpPr/>
          <p:nvPr/>
        </p:nvSpPr>
        <p:spPr>
          <a:xfrm>
            <a:off x="347472" y="2697480"/>
            <a:ext cx="347472" cy="347472"/>
          </a:xfrm>
          <a:prstGeom prst="ellipse">
            <a:avLst/>
          </a:prstGeom>
          <a:solidFill>
            <a:srgbClr val="00695C"/>
          </a:solidFill>
          <a:ln w="12700">
            <a:solidFill>
              <a:srgbClr val="00695C"/>
            </a:solidFill>
            <a:prstDash val="solid"/>
          </a:ln>
        </p:spPr>
      </p:sp>
      <p:sp>
        <p:nvSpPr>
          <p:cNvPr id="17" name="Text 15"/>
          <p:cNvSpPr/>
          <p:nvPr/>
        </p:nvSpPr>
        <p:spPr>
          <a:xfrm>
            <a:off x="347472" y="27157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804672" y="2651760"/>
            <a:ext cx="7973568" cy="43891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Prevention: attack one Coffman condition (spooling, all-at-once, preemption, ordering).</a:t>
            </a:r>
            <a:endParaRPr lang="en-US" sz="1300" dirty="0"/>
          </a:p>
        </p:txBody>
      </p:sp>
      <p:sp>
        <p:nvSpPr>
          <p:cNvPr id="19" name="Shape 17"/>
          <p:cNvSpPr/>
          <p:nvPr/>
        </p:nvSpPr>
        <p:spPr>
          <a:xfrm>
            <a:off x="347472" y="3154680"/>
            <a:ext cx="347472" cy="347472"/>
          </a:xfrm>
          <a:prstGeom prst="ellipse">
            <a:avLst/>
          </a:prstGeom>
          <a:solidFill>
            <a:srgbClr val="1565C0"/>
          </a:solidFill>
          <a:ln w="12700">
            <a:solidFill>
              <a:srgbClr val="1565C0"/>
            </a:solidFill>
            <a:prstDash val="solid"/>
          </a:ln>
        </p:spPr>
      </p:sp>
      <p:sp>
        <p:nvSpPr>
          <p:cNvPr id="20" name="Text 18"/>
          <p:cNvSpPr/>
          <p:nvPr/>
        </p:nvSpPr>
        <p:spPr>
          <a:xfrm>
            <a:off x="347472" y="31729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804672" y="3108960"/>
            <a:ext cx="7973568" cy="43891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Avoidance: Banker's Algorithm — only grant if safe state maintained. Need = Max − Allocation.</a:t>
            </a:r>
            <a:endParaRPr lang="en-US" sz="1300" dirty="0"/>
          </a:p>
        </p:txBody>
      </p:sp>
      <p:sp>
        <p:nvSpPr>
          <p:cNvPr id="22" name="Shape 20"/>
          <p:cNvSpPr/>
          <p:nvPr/>
        </p:nvSpPr>
        <p:spPr>
          <a:xfrm>
            <a:off x="347472" y="3611880"/>
            <a:ext cx="347472" cy="347472"/>
          </a:xfrm>
          <a:prstGeom prst="ellipse">
            <a:avLst/>
          </a:prstGeom>
          <a:solidFill>
            <a:srgbClr val="6A1B9A"/>
          </a:solidFill>
          <a:ln w="12700">
            <a:solidFill>
              <a:srgbClr val="6A1B9A"/>
            </a:solidFill>
            <a:prstDash val="solid"/>
          </a:ln>
        </p:spPr>
      </p:sp>
      <p:sp>
        <p:nvSpPr>
          <p:cNvPr id="23" name="Text 21"/>
          <p:cNvSpPr/>
          <p:nvPr/>
        </p:nvSpPr>
        <p:spPr>
          <a:xfrm>
            <a:off x="347472" y="36301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804672" y="3566160"/>
            <a:ext cx="7973568" cy="43891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Detection: RAG reduction (single) or detection algorithm (multi). Run periodically.</a:t>
            </a:r>
            <a:endParaRPr lang="en-US" sz="1300" dirty="0"/>
          </a:p>
        </p:txBody>
      </p:sp>
      <p:sp>
        <p:nvSpPr>
          <p:cNvPr id="25" name="Shape 23"/>
          <p:cNvSpPr/>
          <p:nvPr/>
        </p:nvSpPr>
        <p:spPr>
          <a:xfrm>
            <a:off x="347472" y="4069080"/>
            <a:ext cx="347472" cy="347472"/>
          </a:xfrm>
          <a:prstGeom prst="ellipse">
            <a:avLst/>
          </a:prstGeom>
          <a:solidFill>
            <a:srgbClr val="D32F2F"/>
          </a:solidFill>
          <a:ln w="12700">
            <a:solidFill>
              <a:srgbClr val="D32F2F"/>
            </a:solidFill>
            <a:prstDash val="solid"/>
          </a:ln>
        </p:spPr>
      </p:sp>
      <p:sp>
        <p:nvSpPr>
          <p:cNvPr id="26" name="Text 24"/>
          <p:cNvSpPr/>
          <p:nvPr/>
        </p:nvSpPr>
        <p:spPr>
          <a:xfrm>
            <a:off x="347472" y="4087368"/>
            <a:ext cx="3474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7" name="Text 25"/>
          <p:cNvSpPr/>
          <p:nvPr/>
        </p:nvSpPr>
        <p:spPr>
          <a:xfrm>
            <a:off x="804672" y="4023360"/>
            <a:ext cx="7973568" cy="43891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Recovery: abort processes (one/all) OR preempt resources with rollback. Avoid starvation.</a:t>
            </a:r>
            <a:endParaRPr lang="en-US" sz="1300" dirty="0"/>
          </a:p>
        </p:txBody>
      </p:sp>
      <p:sp>
        <p:nvSpPr>
          <p:cNvPr id="28" name="Shape 26"/>
          <p:cNvSpPr/>
          <p:nvPr/>
        </p:nvSpPr>
        <p:spPr>
          <a:xfrm>
            <a:off x="320040" y="4608576"/>
            <a:ext cx="8503920" cy="475488"/>
          </a:xfrm>
          <a:prstGeom prst="roundRect">
            <a:avLst>
              <a:gd name="adj" fmla="val 15385"/>
            </a:avLst>
          </a:prstGeom>
          <a:solidFill>
            <a:srgbClr val="B71C1C"/>
          </a:solidFill>
          <a:ln/>
        </p:spPr>
      </p:sp>
      <p:sp>
        <p:nvSpPr>
          <p:cNvPr id="29" name="Text 27"/>
          <p:cNvSpPr/>
          <p:nvPr/>
        </p:nvSpPr>
        <p:spPr>
          <a:xfrm>
            <a:off x="457200" y="4663440"/>
            <a:ext cx="8229600"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  Key Formula:  Need[i][j] = Max[i][j] − Allocation[i][j]   |   Safe sequence: Need ≤ Work → execute → Work += Allocation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B71C1C"/>
        </a:solidFill>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0A0A"/>
          </a:solidFill>
          <a:ln w="12700">
            <a:solidFill>
              <a:srgbClr val="1A0A0A"/>
            </a:solidFill>
            <a:prstDash val="solid"/>
          </a:ln>
        </p:spPr>
      </p:sp>
      <p:sp>
        <p:nvSpPr>
          <p:cNvPr id="3" name="Text 1"/>
          <p:cNvSpPr/>
          <p:nvPr/>
        </p:nvSpPr>
        <p:spPr>
          <a:xfrm>
            <a:off x="457200" y="182880"/>
            <a:ext cx="8229600" cy="475488"/>
          </a:xfrm>
          <a:prstGeom prst="rect">
            <a:avLst/>
          </a:prstGeom>
          <a:noFill/>
          <a:ln/>
        </p:spPr>
        <p:txBody>
          <a:bodyPr wrap="square" lIns="0" tIns="0" rIns="0" bIns="0" rtlCol="0" anchor="ctr"/>
          <a:lstStyle/>
          <a:p>
            <a:pPr algn="ctr" indent="0" marL="0">
              <a:buNone/>
            </a:pPr>
            <a:r>
              <a:rPr lang="en-US" sz="1400" dirty="0">
                <a:solidFill>
                  <a:srgbClr val="8A4A4A"/>
                </a:solidFill>
                <a:latin typeface="Calibri" pitchFamily="34" charset="0"/>
                <a:ea typeface="Calibri" pitchFamily="34" charset="-122"/>
                <a:cs typeface="Calibri" pitchFamily="34" charset="-120"/>
              </a:rPr>
              <a:t>CACS251 — Operating System  |  Unit 4  |  Deadlocks</a:t>
            </a:r>
            <a:endParaRPr lang="en-US" sz="1400" dirty="0"/>
          </a:p>
        </p:txBody>
      </p:sp>
      <p:sp>
        <p:nvSpPr>
          <p:cNvPr id="4" name="Text 2"/>
          <p:cNvSpPr/>
          <p:nvPr/>
        </p:nvSpPr>
        <p:spPr>
          <a:xfrm>
            <a:off x="457200" y="1234440"/>
            <a:ext cx="8229600" cy="118872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Questions?</a:t>
            </a:r>
            <a:endParaRPr lang="en-US" sz="7200" dirty="0"/>
          </a:p>
        </p:txBody>
      </p:sp>
      <p:sp>
        <p:nvSpPr>
          <p:cNvPr id="5" name="Text 3"/>
          <p:cNvSpPr/>
          <p:nvPr/>
        </p:nvSpPr>
        <p:spPr>
          <a:xfrm>
            <a:off x="457200" y="2578608"/>
            <a:ext cx="8229600" cy="502920"/>
          </a:xfrm>
          <a:prstGeom prst="rect">
            <a:avLst/>
          </a:prstGeom>
          <a:noFill/>
          <a:ln/>
        </p:spPr>
        <p:txBody>
          <a:bodyPr wrap="square" lIns="0" tIns="0" rIns="0" bIns="0" rtlCol="0" anchor="ctr"/>
          <a:lstStyle/>
          <a:p>
            <a:pPr algn="ctr" indent="0" marL="0">
              <a:buNone/>
            </a:pPr>
            <a:r>
              <a:rPr lang="en-US" sz="2000" i="1" dirty="0">
                <a:solidFill>
                  <a:srgbClr val="FFD0D0"/>
                </a:solidFill>
                <a:latin typeface="Calibri" pitchFamily="34" charset="0"/>
                <a:ea typeface="Calibri" pitchFamily="34" charset="-122"/>
                <a:cs typeface="Calibri" pitchFamily="34" charset="-120"/>
              </a:rPr>
              <a:t>"Better to prevent than to detect."</a:t>
            </a:r>
            <a:endParaRPr lang="en-US" sz="2000" dirty="0"/>
          </a:p>
        </p:txBody>
      </p:sp>
      <p:sp>
        <p:nvSpPr>
          <p:cNvPr id="6" name="Text 4"/>
          <p:cNvSpPr/>
          <p:nvPr/>
        </p:nvSpPr>
        <p:spPr>
          <a:xfrm>
            <a:off x="1371600" y="3310128"/>
            <a:ext cx="6400800" cy="347472"/>
          </a:xfrm>
          <a:prstGeom prst="rect">
            <a:avLst/>
          </a:prstGeom>
          <a:noFill/>
          <a:ln/>
        </p:spPr>
        <p:txBody>
          <a:bodyPr wrap="square" lIns="0" tIns="0" rIns="0" bIns="0" rtlCol="0" anchor="ctr"/>
          <a:lstStyle/>
          <a:p>
            <a:pPr algn="ctr" indent="0" marL="0">
              <a:buNone/>
            </a:pPr>
            <a:r>
              <a:rPr lang="en-US" sz="1500" b="1" dirty="0">
                <a:solidFill>
                  <a:srgbClr val="F9A825"/>
                </a:solidFill>
                <a:latin typeface="Calibri" pitchFamily="34" charset="0"/>
                <a:ea typeface="Calibri" pitchFamily="34" charset="-122"/>
                <a:cs typeface="Calibri" pitchFamily="34" charset="-120"/>
              </a:rPr>
              <a:t>Top Exam Questions:</a:t>
            </a:r>
            <a:endParaRPr lang="en-US" sz="1500" dirty="0"/>
          </a:p>
        </p:txBody>
      </p:sp>
      <p:sp>
        <p:nvSpPr>
          <p:cNvPr id="7" name="Text 5"/>
          <p:cNvSpPr/>
          <p:nvPr/>
        </p:nvSpPr>
        <p:spPr>
          <a:xfrm>
            <a:off x="1371600" y="3730752"/>
            <a:ext cx="6400800" cy="20116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1. State and explain the 4 Coffman conditions with examples</a:t>
            </a:r>
            <a:endParaRPr lang="en-US" sz="1200" dirty="0"/>
          </a:p>
        </p:txBody>
      </p:sp>
      <p:sp>
        <p:nvSpPr>
          <p:cNvPr id="8" name="Text 6"/>
          <p:cNvSpPr/>
          <p:nvPr/>
        </p:nvSpPr>
        <p:spPr>
          <a:xfrm>
            <a:off x="1371600" y="3950208"/>
            <a:ext cx="6400800" cy="20116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2. Draw a Resource Allocation Graph showing deadlock</a:t>
            </a:r>
            <a:endParaRPr lang="en-US" sz="1200" dirty="0"/>
          </a:p>
        </p:txBody>
      </p:sp>
      <p:sp>
        <p:nvSpPr>
          <p:cNvPr id="9" name="Text 7"/>
          <p:cNvSpPr/>
          <p:nvPr/>
        </p:nvSpPr>
        <p:spPr>
          <a:xfrm>
            <a:off x="1371600" y="4169664"/>
            <a:ext cx="6400800" cy="20116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3. Explain the Banker's Algorithm with an example — find safe sequence  ★ EXAM MUST</a:t>
            </a:r>
            <a:endParaRPr lang="en-US" sz="1200" dirty="0"/>
          </a:p>
        </p:txBody>
      </p:sp>
      <p:sp>
        <p:nvSpPr>
          <p:cNvPr id="10" name="Text 8"/>
          <p:cNvSpPr/>
          <p:nvPr/>
        </p:nvSpPr>
        <p:spPr>
          <a:xfrm>
            <a:off x="1371600" y="4389120"/>
            <a:ext cx="6400800" cy="20116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4. Differentiate: deadlock prevention vs avoidance vs detection</a:t>
            </a:r>
            <a:endParaRPr lang="en-US" sz="1200" dirty="0"/>
          </a:p>
        </p:txBody>
      </p:sp>
      <p:sp>
        <p:nvSpPr>
          <p:cNvPr id="11" name="Text 9"/>
          <p:cNvSpPr/>
          <p:nvPr/>
        </p:nvSpPr>
        <p:spPr>
          <a:xfrm>
            <a:off x="1371600" y="4608576"/>
            <a:ext cx="6400800" cy="20116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5. What is the Ostrich Algorithm? When is it used?</a:t>
            </a:r>
            <a:endParaRPr lang="en-US" sz="1200" dirty="0"/>
          </a:p>
        </p:txBody>
      </p:sp>
      <p:sp>
        <p:nvSpPr>
          <p:cNvPr id="12" name="Text 10"/>
          <p:cNvSpPr/>
          <p:nvPr/>
        </p:nvSpPr>
        <p:spPr>
          <a:xfrm>
            <a:off x="1371600" y="4828032"/>
            <a:ext cx="6400800" cy="20116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6. How can deadlocks be recovered? Explain both methods.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Deadlocks - Unit 4</dc:title>
  <dc:subject>PptxGenJS Presentation</dc:subject>
  <dc:creator>PptxGenJS</dc:creator>
  <cp:lastModifiedBy>PptxGenJS</cp:lastModifiedBy>
  <cp:revision>1</cp:revision>
  <dcterms:created xsi:type="dcterms:W3CDTF">2026-06-11T19:30:24Z</dcterms:created>
  <dcterms:modified xsi:type="dcterms:W3CDTF">2026-06-11T19:30:24Z</dcterms:modified>
</cp:coreProperties>
</file>