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310" r:id="rId2"/>
    <p:sldId id="311" r:id="rId3"/>
    <p:sldId id="260" r:id="rId4"/>
    <p:sldId id="312" r:id="rId5"/>
    <p:sldId id="313" r:id="rId6"/>
    <p:sldId id="314" r:id="rId7"/>
    <p:sldId id="315" r:id="rId8"/>
    <p:sldId id="316" r:id="rId9"/>
    <p:sldId id="317" r:id="rId10"/>
    <p:sldId id="318" r:id="rId11"/>
    <p:sldId id="319" r:id="rId12"/>
    <p:sldId id="277" r:id="rId13"/>
    <p:sldId id="279" r:id="rId14"/>
    <p:sldId id="320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329" r:id="rId24"/>
    <p:sldId id="330" r:id="rId25"/>
    <p:sldId id="302" r:id="rId26"/>
    <p:sldId id="331" r:id="rId27"/>
    <p:sldId id="332" r:id="rId28"/>
    <p:sldId id="307" r:id="rId29"/>
  </p:sldIdLst>
  <p:sldSz cx="12192000" cy="6858000"/>
  <p:notesSz cx="6858000" cy="9144000"/>
  <p:defaultTextStyle>
    <a:defPPr>
      <a:defRPr lang="en-N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02"/>
    <p:restoredTop sz="94716"/>
  </p:normalViewPr>
  <p:slideViewPr>
    <p:cSldViewPr snapToGrid="0">
      <p:cViewPr varScale="1">
        <p:scale>
          <a:sx n="108" d="100"/>
          <a:sy n="108" d="100"/>
        </p:scale>
        <p:origin x="22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/>
            </a:pPr>
            <a:r>
              <a:rPr lang="en-US" sz="1600"/>
              <a:t>CPU Utilization vs. Degree of Multiprogramming (p=0.8)</a:t>
            </a:r>
          </a:p>
        </c:rich>
      </c:tx>
      <c:overlay val="0"/>
    </c:title>
    <c:autoTitleDeleted val="0"/>
    <c:plotArea>
      <c:layout/>
      <c:lineChart>
        <c:grouping val="standard"/>
        <c:varyColors val="1"/>
        <c:ser>
          <c:idx val="0"/>
          <c:order val="0"/>
          <c:tx>
            <c:v>CPU Utilization %</c:v>
          </c:tx>
          <c:marker>
            <c:symbol val="circle"/>
            <c:size val="6"/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20</c:v>
              </c:pt>
              <c:pt idx="1">
                <c:v>36</c:v>
              </c:pt>
              <c:pt idx="2">
                <c:v>48.8</c:v>
              </c:pt>
              <c:pt idx="3">
                <c:v>59.04</c:v>
              </c:pt>
              <c:pt idx="4">
                <c:v>67.2</c:v>
              </c:pt>
              <c:pt idx="5">
                <c:v>73.75</c:v>
              </c:pt>
              <c:pt idx="6">
                <c:v>79</c:v>
              </c:pt>
              <c:pt idx="7">
                <c:v>83.2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8D81-484B-AB01-630A6298DF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400"/>
                  <a:t>Processes in memory (n)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 sz="1400"/>
                  <a:t>Utilization %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AE2C-BDBB-5B9E-699C-0DF90F398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B33C7D-A3B6-DAA0-8037-74D22C13BA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205BE-B3A7-D1BC-C724-31A35E8B0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C23A9-C930-2C4B-B416-454D50CE48D7}" type="datetimeFigureOut">
              <a:rPr lang="en-NP" smtClean="0"/>
              <a:t>08/07/2026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BEEE7-1A06-E280-9149-7325881D8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83796-2E71-907A-3916-4A629FE78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30E5-9830-D949-B9DA-86631573B879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082196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BE3C7-5085-347E-4D87-C0681EF5D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0C9BB-A32E-5852-C997-3E49B2E55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E23D7-7A54-2F91-355E-571DFC414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C23A9-C930-2C4B-B416-454D50CE48D7}" type="datetimeFigureOut">
              <a:rPr lang="en-NP" smtClean="0"/>
              <a:t>08/07/2026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96A7B-49F2-6C28-5A89-2FC0D2790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AAD95-25ED-DC1C-3D8E-DA1B1CACC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30E5-9830-D949-B9DA-86631573B879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115002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EC853-B5C8-F7C2-621F-9EC29FAA2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DB08F-5934-FEE1-F9AD-DD3D786CD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9EFE1-35F5-8821-5A31-427C00A06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C23A9-C930-2C4B-B416-454D50CE48D7}" type="datetimeFigureOut">
              <a:rPr lang="en-NP" smtClean="0"/>
              <a:t>08/07/2026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33F63-0440-105F-AE21-1189C2A30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A7239-2E5F-C80C-7546-0562652C4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30E5-9830-D949-B9DA-86631573B879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447966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007C8-4C95-4ED7-11DC-5E8EBFD3A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203DE-614A-423A-00EB-F4A96EAA71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A40EA1-9404-7435-4AFF-A4EB1072D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1E65C-47EB-A2BB-41C1-BD250F3EF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C23A9-C930-2C4B-B416-454D50CE48D7}" type="datetimeFigureOut">
              <a:rPr lang="en-NP" smtClean="0"/>
              <a:t>08/07/2026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9F720-13F9-515E-EDD5-501BD3FFF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213C4-19F8-BA47-BDEB-F9188765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30E5-9830-D949-B9DA-86631573B879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921823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CEE32-C3DF-057E-9A58-6E604CABE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59A62-B584-1177-2655-D1A90CE72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43317-656D-70D9-48C1-755B67299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B0DC0E-C3B3-B5C0-29AC-FDCCA02B51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4B6B16-2106-8FED-DA77-8F954A3D13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73D6AC-2F13-EF0B-5FFA-198998A69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C23A9-C930-2C4B-B416-454D50CE48D7}" type="datetimeFigureOut">
              <a:rPr lang="en-NP" smtClean="0"/>
              <a:t>08/07/2026</a:t>
            </a:fld>
            <a:endParaRPr lang="en-N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9D8FDC-F684-0610-7565-A68F5578A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44A89C-299E-AEC4-F1F9-900B6B09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30E5-9830-D949-B9DA-86631573B879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106333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2F2F5-469E-A457-CE42-BD955EE52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DE0895-5750-5643-7B04-8BB1E555E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C23A9-C930-2C4B-B416-454D50CE48D7}" type="datetimeFigureOut">
              <a:rPr lang="en-NP" smtClean="0"/>
              <a:t>08/07/2026</a:t>
            </a:fld>
            <a:endParaRPr lang="en-N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B2C013-C680-7A98-0612-7748DA87B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86F0FC-143D-157A-8AB9-7E83AF0A3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30E5-9830-D949-B9DA-86631573B879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791375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B6BC52-08DB-0B24-36DF-7D8091040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C23A9-C930-2C4B-B416-454D50CE48D7}" type="datetimeFigureOut">
              <a:rPr lang="en-NP" smtClean="0"/>
              <a:t>08/07/2026</a:t>
            </a:fld>
            <a:endParaRPr lang="en-N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D23E80-B716-91E6-176B-B61709B40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CE36B-8362-ABC4-8B67-83180385D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30E5-9830-D949-B9DA-86631573B879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670237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7150C-515C-9ED8-0D55-115A1EBBD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4531F-1CB0-B84C-2277-E972D0399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8C2948-5ABA-533C-F7FB-E064B0AD3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D69415-B11F-4A96-0CBD-CEB6C4612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C23A9-C930-2C4B-B416-454D50CE48D7}" type="datetimeFigureOut">
              <a:rPr lang="en-NP" smtClean="0"/>
              <a:t>08/07/2026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69475-1B0A-F86D-BB2B-37929B0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017874-BA0D-5BB8-EFA2-6E839BA6A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30E5-9830-D949-B9DA-86631573B879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507939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2B207-8065-70E7-805E-D21D2B71A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874AA6-CD5A-6AF6-A602-8DA5D1AC70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12436E-45DB-7A73-2A0B-5F2DA87BB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12EF0-7D28-293D-6C73-4B5A0C650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C23A9-C930-2C4B-B416-454D50CE48D7}" type="datetimeFigureOut">
              <a:rPr lang="en-NP" smtClean="0"/>
              <a:t>08/07/2026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65833-289A-5BF1-FB2C-A9BA2EBB1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9C43C-EBD0-3A45-952A-B9813795F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30E5-9830-D949-B9DA-86631573B879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032545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719DA-B0BA-EF38-42FB-B70194B6D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017A74-1AA1-2E4E-0AF6-6DB5BC7016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C526B-0536-B427-3BBA-21E06DEFF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C23A9-C930-2C4B-B416-454D50CE48D7}" type="datetimeFigureOut">
              <a:rPr lang="en-NP" smtClean="0"/>
              <a:t>08/07/2026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23DE5-DE31-C104-2E4D-EC8A3EE82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89AF9-8F65-D9D2-E15F-1F564BA98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30E5-9830-D949-B9DA-86631573B879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261875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3303DB-AD0D-2685-E369-8F0A607E20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4E699-4A38-FFE5-3114-18FAB3E64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12519-0042-F1D1-3261-BC8B45B89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C23A9-C930-2C4B-B416-454D50CE48D7}" type="datetimeFigureOut">
              <a:rPr lang="en-NP" smtClean="0"/>
              <a:t>08/07/2026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F7841-C6B2-6436-7E98-7DF6B6577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50156-1686-3F0A-5F27-F45E4EE0E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30E5-9830-D949-B9DA-86631573B879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15352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61FF1A-E5E6-1E2A-5C86-45816AF43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02362-030C-586D-CD09-128099C7A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35508-EA66-2E57-F1F3-88FE7F768B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8C23A9-C930-2C4B-B416-454D50CE48D7}" type="datetimeFigureOut">
              <a:rPr lang="en-NP" smtClean="0"/>
              <a:t>08/07/2026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75C5E-4316-B71F-C719-82931EEA2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539CC-C1F2-03FF-C90A-9F75BE2633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4D30E5-9830-D949-B9DA-86631573B879}" type="slidenum">
              <a:rPr lang="en-NP" smtClean="0"/>
              <a:t>‹#›</a:t>
            </a:fld>
            <a:endParaRPr lang="en-NP"/>
          </a:p>
        </p:txBody>
      </p:sp>
      <p:sp>
        <p:nvSpPr>
          <p:cNvPr id="900" name="Accent Keyline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6E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Corner Accent"/>
          <p:cNvSpPr/>
          <p:nvPr/>
        </p:nvSpPr>
        <p:spPr>
          <a:xfrm>
            <a:off x="11600000" y="0"/>
            <a:ext cx="365760" cy="365760"/>
          </a:xfrm>
          <a:prstGeom prst="triangle">
            <a:avLst/>
          </a:prstGeom>
          <a:solidFill>
            <a:srgbClr val="2C6E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055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F4E5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B2B2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A55E3-527E-0388-6BF0-BFF4751D18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5: Memory Management</a:t>
            </a:r>
            <a:endParaRPr lang="en-NP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C58B0-0420-0AA1-E260-12EB319686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Operating Systems</a:t>
            </a: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884411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E92C4-E5C0-A4EC-937A-F08D47523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to Memory Management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A18FE-9435-B0E5-512B-702A75C21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Memory management is the OS function that tracks every byte of memory, decides which process gets which memory, and reclaims it when the process finishes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Key goals: efficient utilization, </a:t>
            </a:r>
            <a:r>
              <a:rPr lang="en-US" sz="2000" b="1" dirty="0"/>
              <a:t>protection</a:t>
            </a:r>
            <a:r>
              <a:rPr lang="en-US" sz="2000" dirty="0"/>
              <a:t> (isolating processes), </a:t>
            </a:r>
            <a:r>
              <a:rPr lang="en-US" sz="2000" b="1" dirty="0"/>
              <a:t>relocation</a:t>
            </a:r>
            <a:r>
              <a:rPr lang="en-US" sz="2000" dirty="0"/>
              <a:t> (running at different addresses), sharing, and logical organization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Without it, one buggy program could crash or corrupt every other running program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b="1" dirty="0">
                <a:solidFill>
                  <a:srgbClr val="6E8C5A"/>
                </a:solidFill>
              </a:rPr>
              <a:t>Real-world example: </a:t>
            </a:r>
            <a:r>
              <a:rPr lang="en-US" sz="2000" dirty="0"/>
              <a:t>When Chrome, Word, and Spotify run together, the OS gives each its own memory space so Chrome can never overwrite Word's data — and reclaims that memory instantly when you close the app</a:t>
            </a:r>
          </a:p>
        </p:txBody>
      </p:sp>
    </p:spTree>
    <p:extLst>
      <p:ext uri="{BB962C8B-B14F-4D97-AF65-F5344CB8AC3E}">
        <p14:creationId xmlns:p14="http://schemas.microsoft.com/office/powerpoint/2010/main" val="800071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D2BA9-7AF7-B3CB-BBC8-6D5B49EAD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Hierarchy</a:t>
            </a:r>
            <a:endParaRPr lang="en-NP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676CC6-F1D3-2045-9871-D6550059FC26}"/>
              </a:ext>
            </a:extLst>
          </p:cNvPr>
          <p:cNvSpPr/>
          <p:nvPr/>
        </p:nvSpPr>
        <p:spPr>
          <a:xfrm>
            <a:off x="2540000" y="1995488"/>
            <a:ext cx="7112000" cy="787400"/>
          </a:xfrm>
          <a:prstGeom prst="rect">
            <a:avLst/>
          </a:prstGeom>
          <a:solidFill>
            <a:srgbClr val="1F4E5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Registers</a:t>
            </a:r>
            <a:endParaRPr lang="en-NP" sz="1500" b="1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D78252-2377-E34C-A150-10F7F677B271}"/>
              </a:ext>
            </a:extLst>
          </p:cNvPr>
          <p:cNvSpPr txBox="1"/>
          <p:nvPr/>
        </p:nvSpPr>
        <p:spPr>
          <a:xfrm>
            <a:off x="9652000" y="2054481"/>
            <a:ext cx="2540000" cy="669414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250" dirty="0">
                <a:solidFill>
                  <a:srgbClr val="2B2B28"/>
                </a:solidFill>
              </a:rPr>
              <a:t>CPU registers (~64 bytes) — hold the value the ALU is computing right now</a:t>
            </a:r>
            <a:endParaRPr lang="en-NP" sz="1250" dirty="0">
              <a:solidFill>
                <a:srgbClr val="2B2B28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1148FC-C8A9-FB48-BFD2-1D48F93DA48F}"/>
              </a:ext>
            </a:extLst>
          </p:cNvPr>
          <p:cNvSpPr/>
          <p:nvPr/>
        </p:nvSpPr>
        <p:spPr>
          <a:xfrm>
            <a:off x="3079750" y="2884488"/>
            <a:ext cx="6032500" cy="787400"/>
          </a:xfrm>
          <a:prstGeom prst="rect">
            <a:avLst/>
          </a:prstGeom>
          <a:solidFill>
            <a:srgbClr val="2C6E8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Cache Memory</a:t>
            </a:r>
            <a:endParaRPr lang="en-NP" sz="1500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39EB3-A330-244B-A909-B27B411D569F}"/>
              </a:ext>
            </a:extLst>
          </p:cNvPr>
          <p:cNvSpPr txBox="1"/>
          <p:nvPr/>
        </p:nvSpPr>
        <p:spPr>
          <a:xfrm>
            <a:off x="9112250" y="3039661"/>
            <a:ext cx="2730500" cy="477054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250" dirty="0">
                <a:solidFill>
                  <a:srgbClr val="2B2B28"/>
                </a:solidFill>
              </a:rPr>
              <a:t>L1/L2/L3 CPU cache (e.g. 8-32 MB) — stores recently used instructions/data</a:t>
            </a:r>
            <a:endParaRPr lang="en-NP" sz="1250" dirty="0">
              <a:solidFill>
                <a:srgbClr val="2B2B28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C2044F-579C-1B4F-942C-204A76A038CC}"/>
              </a:ext>
            </a:extLst>
          </p:cNvPr>
          <p:cNvSpPr/>
          <p:nvPr/>
        </p:nvSpPr>
        <p:spPr>
          <a:xfrm>
            <a:off x="3619500" y="3773488"/>
            <a:ext cx="4953000" cy="787400"/>
          </a:xfrm>
          <a:prstGeom prst="rect">
            <a:avLst/>
          </a:prstGeom>
          <a:solidFill>
            <a:srgbClr val="4A667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Main Memory (RAM)</a:t>
            </a:r>
            <a:endParaRPr lang="en-NP" sz="1500" b="1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D6D6B6-E142-0F42-894B-63E2102F19AC}"/>
              </a:ext>
            </a:extLst>
          </p:cNvPr>
          <p:cNvSpPr txBox="1"/>
          <p:nvPr/>
        </p:nvSpPr>
        <p:spPr>
          <a:xfrm>
            <a:off x="8743950" y="3930249"/>
            <a:ext cx="3276600" cy="477054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250" dirty="0">
                <a:solidFill>
                  <a:srgbClr val="2B2B28"/>
                </a:solidFill>
              </a:rPr>
              <a:t>8-32 GB DDR RAM in a laptop — holds actively running programs</a:t>
            </a:r>
            <a:endParaRPr lang="en-NP" sz="1250" dirty="0">
              <a:solidFill>
                <a:srgbClr val="2B2B28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980D10-3117-A141-83D3-D3FF890484A9}"/>
              </a:ext>
            </a:extLst>
          </p:cNvPr>
          <p:cNvSpPr/>
          <p:nvPr/>
        </p:nvSpPr>
        <p:spPr>
          <a:xfrm>
            <a:off x="4159250" y="4662488"/>
            <a:ext cx="3873500" cy="787400"/>
          </a:xfrm>
          <a:prstGeom prst="rect">
            <a:avLst/>
          </a:prstGeom>
          <a:solidFill>
            <a:srgbClr val="5C4E3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Magnetic Disks</a:t>
            </a:r>
            <a:endParaRPr lang="en-NP" sz="1500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852DB6-F583-4B46-BB5C-F73DBFA6D015}"/>
              </a:ext>
            </a:extLst>
          </p:cNvPr>
          <p:cNvSpPr txBox="1"/>
          <p:nvPr/>
        </p:nvSpPr>
        <p:spPr>
          <a:xfrm>
            <a:off x="8210550" y="4585695"/>
            <a:ext cx="38100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250" dirty="0">
                <a:solidFill>
                  <a:srgbClr val="2B2B28"/>
                </a:solidFill>
              </a:rPr>
              <a:t>512 GB-2 TB SSD/HDD — stores your files, OS, and installed apps</a:t>
            </a:r>
            <a:endParaRPr lang="en-NP" sz="1250" dirty="0">
              <a:solidFill>
                <a:srgbClr val="2B2B28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8888A5-B5F9-7448-91C1-A1D995368AC4}"/>
              </a:ext>
            </a:extLst>
          </p:cNvPr>
          <p:cNvSpPr/>
          <p:nvPr/>
        </p:nvSpPr>
        <p:spPr>
          <a:xfrm>
            <a:off x="4699000" y="5551488"/>
            <a:ext cx="2794000" cy="787400"/>
          </a:xfrm>
          <a:prstGeom prst="rect">
            <a:avLst/>
          </a:prstGeom>
          <a:solidFill>
            <a:srgbClr val="8A4A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Magnetic Tape</a:t>
            </a:r>
            <a:endParaRPr lang="en-NP" sz="1500" b="1">
              <a:solidFill>
                <a:srgbClr val="FFFF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0C0CEA-24DA-0E48-8AF9-3A7D03BAEDFC}"/>
              </a:ext>
            </a:extLst>
          </p:cNvPr>
          <p:cNvSpPr txBox="1"/>
          <p:nvPr/>
        </p:nvSpPr>
        <p:spPr>
          <a:xfrm>
            <a:off x="7956550" y="5499502"/>
            <a:ext cx="38100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250" dirty="0">
                <a:solidFill>
                  <a:srgbClr val="2B2B28"/>
                </a:solidFill>
              </a:rPr>
              <a:t>Enterprise LTO tape archives — banks/data centers store decades of backups cheaply</a:t>
            </a:r>
            <a:endParaRPr lang="en-NP" sz="1250" dirty="0">
              <a:solidFill>
                <a:srgbClr val="2B2B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283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59495-962A-E892-B37F-150FD5461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Logical vs. Physical Address Space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EB6AC-5EB9-DE7A-6752-49ECA356C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b="1" dirty="0"/>
              <a:t>Logical (virtual) address</a:t>
            </a:r>
            <a:r>
              <a:rPr lang="en-US" sz="2000" dirty="0"/>
              <a:t> — the address generated by the CPU while a program runs; also called a virtual address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b="1" dirty="0"/>
              <a:t>Physical address</a:t>
            </a:r>
            <a:r>
              <a:rPr lang="en-US" sz="2000" dirty="0"/>
              <a:t> — the actual location in RAM hardware; generated by the Memory Management Unit (MMU) at run time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Compile-time and load-time binding produce identical logical and physical addresses; execution-time (dynamic) binding lets them differ, enabling swapping and relocation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b="1" dirty="0">
                <a:solidFill>
                  <a:srgbClr val="6E8C5A"/>
                </a:solidFill>
              </a:rPr>
              <a:t>Real-world example: </a:t>
            </a:r>
            <a:r>
              <a:rPr lang="en-US" sz="2000" dirty="0"/>
              <a:t>every Chrome tab process thinks it owns address 0x400000; the MMU silently maps each tab's identical-looking address to a different physical RAM location, so tabs never collide</a:t>
            </a:r>
          </a:p>
        </p:txBody>
      </p:sp>
    </p:spTree>
    <p:extLst>
      <p:ext uri="{BB962C8B-B14F-4D97-AF65-F5344CB8AC3E}">
        <p14:creationId xmlns:p14="http://schemas.microsoft.com/office/powerpoint/2010/main" val="156793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91A93-022E-E012-9DFF-917B5836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Management with Swapping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3290D-BB55-150E-7DE3-D2E404E43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Swapping moves an entire process out of main memory to disk (swapped out) and brings it back in later (swapped in), letting more processes share limited RAM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The OS maintains a list of free memory partitions and a list of processes waiting for memory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A swapped-out process may return to a different memory location, so addresses must be re-relocated on swap-in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b="1" dirty="0">
                <a:solidFill>
                  <a:srgbClr val="6E8C5A"/>
                </a:solidFill>
              </a:rPr>
              <a:t>Real-world example: </a:t>
            </a:r>
            <a:r>
              <a:rPr lang="en-US" sz="2000" dirty="0"/>
              <a:t>Windows' "swap file" (pagefile.sys) and Linux/macOS "swap space" temporarily move idle background apps to disk when RAM is full, freeing space for the app you're actively using</a:t>
            </a:r>
          </a:p>
        </p:txBody>
      </p:sp>
    </p:spTree>
    <p:extLst>
      <p:ext uri="{BB962C8B-B14F-4D97-AF65-F5344CB8AC3E}">
        <p14:creationId xmlns:p14="http://schemas.microsoft.com/office/powerpoint/2010/main" val="3468093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745A7-F058-185C-C762-9B967FBE4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Management with Bitmaps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6CCFD-D8C9-A6C5-CC7F-72E4138F5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Memory is divided into fixed-size allocation units; a bitmap uses one bit per unit — 0 for free, 1 for occupied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Smaller allocation units give finer-grained tracking but a bigger bitmap; larger units shrink the bitmap but waste space (internal fragmentation)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Finding a run of k free units means scanning the bitmap for k consecutive 0-bits — simple, but can be slow for large memories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b="1" dirty="0">
                <a:solidFill>
                  <a:srgbClr val="6E8C5A"/>
                </a:solidFill>
              </a:rPr>
              <a:t>Real-world example: </a:t>
            </a:r>
            <a:r>
              <a:rPr lang="en-US" sz="2000" dirty="0"/>
              <a:t>SSD/flash storage controllers use bitmaps to track which storage blocks are free versus written, similar to how a library uses a seating chart to mark occupied vs. empty seats</a:t>
            </a:r>
          </a:p>
        </p:txBody>
      </p:sp>
    </p:spTree>
    <p:extLst>
      <p:ext uri="{BB962C8B-B14F-4D97-AF65-F5344CB8AC3E}">
        <p14:creationId xmlns:p14="http://schemas.microsoft.com/office/powerpoint/2010/main" val="917277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6F71A-64C5-86FA-58C9-27971BEAF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Management with Linked Lists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E10FF-3333-8A38-B4B8-193531D39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Memory is tracked as a linked list of segments, each marked as a process (P) or a hole (H), storing its start address and length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When a process terminates, its neighboring list entries are checked and merged if they are also holes — this merging is called coalescing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Kept sorted by address, this makes allocation/deallocation updates fast — no need to scan a giant bitmap bit by bit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b="1" dirty="0">
                <a:solidFill>
                  <a:srgbClr val="6E8C5A"/>
                </a:solidFill>
              </a:rPr>
              <a:t>Real-world example: </a:t>
            </a:r>
            <a:r>
              <a:rPr lang="en-US" sz="2000" dirty="0"/>
              <a:t>heap allocators in languages like C (malloc/free) maintain exactly this kind of linked list of free and used memory blocks behind the scenes</a:t>
            </a:r>
          </a:p>
        </p:txBody>
      </p:sp>
    </p:spTree>
    <p:extLst>
      <p:ext uri="{BB962C8B-B14F-4D97-AF65-F5344CB8AC3E}">
        <p14:creationId xmlns:p14="http://schemas.microsoft.com/office/powerpoint/2010/main" val="4284326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62685-802F-DEBE-63FF-456A97A26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Management without Swapping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F3DDE-EDC9-CBEF-BC32-7AABE265A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The simplest possible scheme: exactly one process occupies memory at a time, alongside the OS itself — no swapping, no partitioning needed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The program has the entire remaining memory to itself; when it exits, the next program is simply loaded into the same space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No relocation or protection hardware is required, but CPU and memory sit idle whenever the single program waits on I/O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b="1" dirty="0">
                <a:solidFill>
                  <a:srgbClr val="6E8C5A"/>
                </a:solidFill>
              </a:rPr>
              <a:t>Real-world example: </a:t>
            </a:r>
            <a:r>
              <a:rPr lang="en-US" sz="2000" dirty="0"/>
              <a:t>early MS-DOS PCs and simple microcontroller firmware (e.g. a digital thermostat) run one program at a time with no memory manager at all</a:t>
            </a:r>
          </a:p>
        </p:txBody>
      </p:sp>
    </p:spTree>
    <p:extLst>
      <p:ext uri="{BB962C8B-B14F-4D97-AF65-F5344CB8AC3E}">
        <p14:creationId xmlns:p14="http://schemas.microsoft.com/office/powerpoint/2010/main" val="3647454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B7CD6-1FD8-4CC1-AB4A-0D9C9478F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Mono-programming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A2E7C-A5FE-0283-9617-A4A672F2C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Only one user program can reside in memory at a time, sharing space with the resident OS kernel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Simple to implement: fixed memory boundary between OS and the user program, no dynamic partitioning logic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Major drawback: while the program waits for disk or network I/O, the CPU sits completely idle since there is no other job ready to run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b="1" dirty="0">
                <a:solidFill>
                  <a:srgbClr val="6E8C5A"/>
                </a:solidFill>
              </a:rPr>
              <a:t>Real-world example: </a:t>
            </a:r>
            <a:r>
              <a:rPr lang="en-US" sz="2000" dirty="0"/>
              <a:t>an ATM machine or a single-purpose ticket kiosk runs one program at a time by design — there is nothing else it needs to multitask with</a:t>
            </a:r>
          </a:p>
        </p:txBody>
      </p:sp>
    </p:spTree>
    <p:extLst>
      <p:ext uri="{BB962C8B-B14F-4D97-AF65-F5344CB8AC3E}">
        <p14:creationId xmlns:p14="http://schemas.microsoft.com/office/powerpoint/2010/main" val="1426304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4A4ED-3684-6B73-89E3-086947394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Multi-programming: Dedicated Partitions (Absolute Translation)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DBF25-2362-BE36-8A4F-4CBDA5AA5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Memory is divided into several fixed partitions; each partition gets its own private input queue of jobs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A program is compiled/loaded for one specific partition's absolute address range — it cannot run in any other partition without recompiling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Downside: a small job stuck in a queue for a large partition wastes that partition's space, while other queues may be backed up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b="1" dirty="0">
                <a:solidFill>
                  <a:srgbClr val="6E8C5A"/>
                </a:solidFill>
              </a:rPr>
              <a:t>Real-world example: </a:t>
            </a:r>
            <a:r>
              <a:rPr lang="en-US" sz="2000" dirty="0"/>
              <a:t>early IBM OS/360 mainframes (MFT) assigned each batch job to a fixed-size memory partition matching a specific queue, much like reserved parking spots sized for specific vehicle types</a:t>
            </a:r>
          </a:p>
        </p:txBody>
      </p:sp>
    </p:spTree>
    <p:extLst>
      <p:ext uri="{BB962C8B-B14F-4D97-AF65-F5344CB8AC3E}">
        <p14:creationId xmlns:p14="http://schemas.microsoft.com/office/powerpoint/2010/main" val="2451657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6F507-16C1-F0A1-8611-A162CB9BA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Multi-programming: Single Queue (Re-locatable Translation)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91084-634B-789E-594F-FD6D8CE99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All waiting jobs share one single input queue instead of per-partition queues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Whenever a partition becomes free, the OS picks the best-fitting waiting job from the shared queue and loads it — using re-locatable (relative) addressing so the same program can run in any partition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Much more efficient than dedicated partitions — no partition sits idle just because its own queue is empty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b="1" dirty="0">
                <a:solidFill>
                  <a:srgbClr val="6E8C5A"/>
                </a:solidFill>
              </a:rPr>
              <a:t>Real-world example: </a:t>
            </a:r>
            <a:r>
              <a:rPr lang="en-US" sz="2000" dirty="0"/>
              <a:t>a single-queue "take-a-number" system at a bank sends the next customer to whichever teller (partition) frees up first, instead of making customers wait in line for one specific teller</a:t>
            </a:r>
          </a:p>
        </p:txBody>
      </p:sp>
    </p:spTree>
    <p:extLst>
      <p:ext uri="{BB962C8B-B14F-4D97-AF65-F5344CB8AC3E}">
        <p14:creationId xmlns:p14="http://schemas.microsoft.com/office/powerpoint/2010/main" val="884732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9D26A-2BB8-D15A-2B34-227FB2B82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Mono-programming vs. Multi-programming</a:t>
            </a:r>
            <a:endParaRPr lang="en-NP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8F3B16-359D-014A-B315-8DBFEC10A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680640"/>
              </p:ext>
            </p:extLst>
          </p:nvPr>
        </p:nvGraphicFramePr>
        <p:xfrm>
          <a:off x="762000" y="1893888"/>
          <a:ext cx="1066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1675092877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365108933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26432165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NP" sz="1500" b="1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 anchor="ctr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500" b="1">
                          <a:solidFill>
                            <a:srgbClr val="FFFFFF"/>
                          </a:solidFill>
                        </a:rPr>
                        <a:t>Mono-programming</a:t>
                      </a:r>
                    </a:p>
                  </a:txBody>
                  <a:tcPr anchor="ctr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500" b="1">
                          <a:solidFill>
                            <a:srgbClr val="FFFFFF"/>
                          </a:solidFill>
                        </a:rPr>
                        <a:t>Multi-programming</a:t>
                      </a:r>
                    </a:p>
                  </a:txBody>
                  <a:tcPr anchor="ctr">
                    <a:solidFill>
                      <a:srgbClr val="1F4E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0878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Processes in memory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1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Multiple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56724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CPU utilization</a:t>
                      </a:r>
                    </a:p>
                  </a:txBody>
                  <a:tcPr anchor="ctr">
                    <a:solidFill>
                      <a:srgbClr val="F1ED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Low (idle during I/O)</a:t>
                      </a:r>
                    </a:p>
                  </a:txBody>
                  <a:tcPr anchor="ctr">
                    <a:solidFill>
                      <a:srgbClr val="F1ED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High (another job runs during I/O)</a:t>
                      </a:r>
                    </a:p>
                  </a:txBody>
                  <a:tcPr anchor="ctr">
                    <a:solidFill>
                      <a:srgbClr val="F1ED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18704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Memory manager complexity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Very simple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Needs partitioning, relocation, protection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3432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Throughput</a:t>
                      </a:r>
                    </a:p>
                  </a:txBody>
                  <a:tcPr anchor="ctr">
                    <a:solidFill>
                      <a:srgbClr val="F1ED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Low</a:t>
                      </a:r>
                    </a:p>
                  </a:txBody>
                  <a:tcPr anchor="ctr">
                    <a:solidFill>
                      <a:srgbClr val="F1ED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Higher</a:t>
                      </a:r>
                    </a:p>
                  </a:txBody>
                  <a:tcPr anchor="ctr">
                    <a:solidFill>
                      <a:srgbClr val="F1ED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448446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Real-world example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ATM machine, ticket kiosk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Windows/macOS/Linux running many apps at once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763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165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B7387-30FA-7F1D-1D0A-5A221A74D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Modeling Multiprogramming</a:t>
            </a:r>
            <a:endParaRPr lang="en-NP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B9755A-A163-8941-AABB-EDBEE15A2E62}"/>
              </a:ext>
            </a:extLst>
          </p:cNvPr>
          <p:cNvSpPr txBox="1"/>
          <p:nvPr/>
        </p:nvSpPr>
        <p:spPr>
          <a:xfrm>
            <a:off x="762000" y="1843088"/>
            <a:ext cx="5334000" cy="457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/>
              <a:t>If a process spends fraction p of its time waiting on I/O, and n processes share memory (degree of multiprogramming), CPU utilization = 1 − p^n.
More resident processes push utilization toward 100% — the core argument for multiprogramming.
Real-world example: a web server handling many concurrent requests keeps the CPU busy running one request's code while others wait on database/disk I/O, instead of leaving the CPU idle.</a:t>
            </a:r>
            <a:endParaRPr lang="en-NP" sz="1500"/>
          </a:p>
        </p:txBody>
      </p:sp>
      <p:graphicFrame>
        <p:nvGraphicFramePr>
          <p:cNvPr id="201" name="Chart 1"/>
          <p:cNvGraphicFramePr/>
          <p:nvPr>
            <p:extLst>
              <p:ext uri="{D42A27DB-BD31-4B8C-83A1-F6EECF244321}">
                <p14:modId xmlns:p14="http://schemas.microsoft.com/office/powerpoint/2010/main" val="301651321"/>
              </p:ext>
            </p:extLst>
          </p:nvPr>
        </p:nvGraphicFramePr>
        <p:xfrm>
          <a:off x="6564000" y="1879600"/>
          <a:ext cx="410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14882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70EFA-67E6-9076-DAC2-3B9B63087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Fixed (Static) Partitioning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2FD67-181D-DBA5-E402-3C9059351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Physical memory is divided into a fixed number of partitions at boot time; partition sizes and boundaries never change while the system runs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Simple to implement and manage — the OS just checks which partition is free and fits the incoming job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Wastes memory when a job is much smaller than its partition (internal fragmentation), and caps the maximum program size at the largest partition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b="1" dirty="0">
                <a:solidFill>
                  <a:srgbClr val="6E8C5A"/>
                </a:solidFill>
              </a:rPr>
              <a:t>Real-world example: </a:t>
            </a:r>
            <a:r>
              <a:rPr lang="en-US" sz="2000" dirty="0"/>
              <a:t>a hotel with only three fixed room sizes (single, double, suite) — a solo traveler assigned a suite wastes the extra unused space, just like a small job in a large fixed partition</a:t>
            </a:r>
          </a:p>
        </p:txBody>
      </p:sp>
    </p:spTree>
    <p:extLst>
      <p:ext uri="{BB962C8B-B14F-4D97-AF65-F5344CB8AC3E}">
        <p14:creationId xmlns:p14="http://schemas.microsoft.com/office/powerpoint/2010/main" val="1968301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CB20E-E09D-93A5-EC39-2D34E53E2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Variable (Dynamic) Partitioning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8E637-6651-CC4C-420B-A73D09FA2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Partitions are created on demand, sized to exactly fit each incoming process — no wasted space at allocation time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As processes come and go, memory develops scattered free "holes" of varying sizes — external fragmentation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Requires an allocation strategy (first fit, best fit, etc.) to pick which hole a new process goes into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b="1" dirty="0">
                <a:solidFill>
                  <a:srgbClr val="6E8C5A"/>
                </a:solidFill>
              </a:rPr>
              <a:t>Real-world example: </a:t>
            </a:r>
            <a:r>
              <a:rPr lang="en-US" sz="2000" dirty="0"/>
              <a:t>a moving company loading a truck cuts custom-sized space for each box rather than using fixed shelf slots — efficient at first, but oddly shaped gaps appear as boxes are added and removed</a:t>
            </a:r>
          </a:p>
        </p:txBody>
      </p:sp>
    </p:spTree>
    <p:extLst>
      <p:ext uri="{BB962C8B-B14F-4D97-AF65-F5344CB8AC3E}">
        <p14:creationId xmlns:p14="http://schemas.microsoft.com/office/powerpoint/2010/main" val="232410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410D8-61EF-A4B4-FBAC-81E7AE490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Relocation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0D670-D4B0-A63D-8198-11CBBFA78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Relocation is the process of mapping a program's logical addresses to different physical addresses each time it is loaded or swapped back in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A hardware </a:t>
            </a:r>
            <a:r>
              <a:rPr lang="en-US" sz="2000" b="1" dirty="0"/>
              <a:t>relocation (base) register</a:t>
            </a:r>
            <a:r>
              <a:rPr lang="en-US" sz="2000" dirty="0"/>
              <a:t> holds the partition's starting physical address; every logical address is added to it at run time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This lets the OS move a process to a new memory location (e.g. after compaction) simply by updating one register, without rewriting the program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b="1" dirty="0">
                <a:solidFill>
                  <a:srgbClr val="6E8C5A"/>
                </a:solidFill>
              </a:rPr>
              <a:t>Real-world example: </a:t>
            </a:r>
            <a:r>
              <a:rPr lang="en-US" sz="2000" dirty="0"/>
              <a:t>mail forwarding — your address on letters (logical address) never changes, but the postal service (MMU) redirects mail to your new physical address whenever you move</a:t>
            </a:r>
          </a:p>
        </p:txBody>
      </p:sp>
    </p:spTree>
    <p:extLst>
      <p:ext uri="{BB962C8B-B14F-4D97-AF65-F5344CB8AC3E}">
        <p14:creationId xmlns:p14="http://schemas.microsoft.com/office/powerpoint/2010/main" val="2768411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A83BF-9284-85ED-D6B9-C0CB6DDF8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Protection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5634C-290E-BC34-036B-659B2D94B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Protection prevents one process from reading or writing another process's (or the OS's) memory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Commonly enforced with a </a:t>
            </a:r>
            <a:r>
              <a:rPr lang="en-US" sz="2000" b="1" dirty="0"/>
              <a:t>base register</a:t>
            </a:r>
            <a:r>
              <a:rPr lang="en-US" sz="2000" dirty="0"/>
              <a:t> and a </a:t>
            </a:r>
            <a:r>
              <a:rPr lang="en-US" sz="2000" b="1" dirty="0"/>
              <a:t>limit register</a:t>
            </a:r>
            <a:r>
              <a:rPr lang="en-US" sz="2000" dirty="0"/>
              <a:t> — every address a process generates is checked against this partition's range in hardware before access is allowed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An out-of-range access triggers a hardware trap to the OS, which typically terminates the offending process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b="1" dirty="0">
                <a:solidFill>
                  <a:srgbClr val="6E8C5A"/>
                </a:solidFill>
              </a:rPr>
              <a:t>Real-world example: </a:t>
            </a:r>
            <a:r>
              <a:rPr lang="en-US" sz="2000" dirty="0"/>
              <a:t>this is exactly why a buggy Word document can crash Word without also crashing your web browser — a "segmentation fault" is the OS's protection hardware catching an out-of-bounds memory access</a:t>
            </a:r>
          </a:p>
        </p:txBody>
      </p:sp>
    </p:spTree>
    <p:extLst>
      <p:ext uri="{BB962C8B-B14F-4D97-AF65-F5344CB8AC3E}">
        <p14:creationId xmlns:p14="http://schemas.microsoft.com/office/powerpoint/2010/main" val="1172812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FAE1F-4AC8-65CA-9B8E-E54698656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Internal Fragmentation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D621B-CDC6-0E2A-CCE0-10AA6873E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Occurs when memory is allocated in fixed-size blocks and the process doesn't use all of its allocated block — the unused leftover inside the block is wasted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Common with fixed partitioning and paging, where allocation granularity is coarser than what the process actually needs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The wasted space is trapped "inside" the allocated region, so it cannot be reused by any other process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b="1" dirty="0">
                <a:solidFill>
                  <a:srgbClr val="6E8C5A"/>
                </a:solidFill>
              </a:rPr>
              <a:t>Real-world example: </a:t>
            </a:r>
            <a:r>
              <a:rPr lang="en-US" sz="2000" dirty="0"/>
              <a:t>buying a 12-egg carton when you only need 10 eggs — the 2 empty slots are wasted capacity you already paid for, exactly like unused bytes inside a fixed memory page</a:t>
            </a:r>
          </a:p>
        </p:txBody>
      </p:sp>
    </p:spTree>
    <p:extLst>
      <p:ext uri="{BB962C8B-B14F-4D97-AF65-F5344CB8AC3E}">
        <p14:creationId xmlns:p14="http://schemas.microsoft.com/office/powerpoint/2010/main" val="1621015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56AF7-7314-7E95-2947-22FE61632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External Fragmentation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177C3-B0E2-00AC-2DEC-E23324F48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Occurs with variable partitioning: as processes are loaded and removed, free memory becomes scattered into many small, non-contiguous holes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Total free memory may be large, but no single hole is big enough for a new process — the space is outside any allocation, unlike internal fragmentation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Solved by compaction (shuffling processes together) or by using paging, which eliminates the need for contiguous allocation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b="1" dirty="0">
                <a:solidFill>
                  <a:srgbClr val="6E8C5A"/>
                </a:solidFill>
              </a:rPr>
              <a:t>Real-world example: </a:t>
            </a:r>
            <a:r>
              <a:rPr lang="en-US" sz="2000" dirty="0"/>
              <a:t>a parking lot with enough total empty spaces to fit a bus, but they're scattered as single-car gaps between parked vehicles — no bus can actually park</a:t>
            </a:r>
          </a:p>
        </p:txBody>
      </p:sp>
    </p:spTree>
    <p:extLst>
      <p:ext uri="{BB962C8B-B14F-4D97-AF65-F5344CB8AC3E}">
        <p14:creationId xmlns:p14="http://schemas.microsoft.com/office/powerpoint/2010/main" val="2301790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746B7-67CF-CD47-729C-EE2AB866C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Allocation Strategy: First Fit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CB3C7-1008-4FEE-9F68-ABEE40889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Scans the free-memory list from the beginning and allocates the </a:t>
            </a:r>
            <a:r>
              <a:rPr lang="en-US" sz="2000" b="1" dirty="0"/>
              <a:t>first hole</a:t>
            </a:r>
            <a:r>
              <a:rPr lang="en-US" sz="2000" dirty="0"/>
              <a:t> large enough to fit the request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Fast, since it stops searching as soon as a fit is found; tends to leave larger holes intact near the end of memory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Over time it leaves many small fragments clustered near the front of the list, which slows down future searches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b="1" dirty="0">
                <a:solidFill>
                  <a:srgbClr val="6E8C5A"/>
                </a:solidFill>
              </a:rPr>
              <a:t>Real-world example: </a:t>
            </a:r>
            <a:r>
              <a:rPr lang="en-US" sz="2000" dirty="0"/>
              <a:t>grabbing the first empty parking spot you see near the entrance rather than driving around looking for the perfectly-sized one</a:t>
            </a:r>
          </a:p>
        </p:txBody>
      </p:sp>
    </p:spTree>
    <p:extLst>
      <p:ext uri="{BB962C8B-B14F-4D97-AF65-F5344CB8AC3E}">
        <p14:creationId xmlns:p14="http://schemas.microsoft.com/office/powerpoint/2010/main" val="1119610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22FD-F439-CB16-23B5-B5B4D7E5D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Allocation Strategy: Next Fit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E4715-D2A1-AA10-1C35-995140DDE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Like First Fit, but resumes scanning from where the last search left off rather than always restarting at the beginning of the list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Spreads allocations more evenly across memory instead of repeatedly fragmenting the front of the list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Studies show it often performs slightly worse than First Fit overall, since it breaks up the large hole at the end of memory that First Fit tends to preserve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b="1" dirty="0">
                <a:solidFill>
                  <a:srgbClr val="6E8C5A"/>
                </a:solidFill>
              </a:rPr>
              <a:t>Real-world example: </a:t>
            </a:r>
            <a:r>
              <a:rPr lang="en-US" sz="2000" dirty="0"/>
              <a:t>a supermarket cashier who remembers which checkout lane they closed last and reopens the next one in rotation, rather than always starting from lane 1</a:t>
            </a:r>
          </a:p>
        </p:txBody>
      </p:sp>
    </p:spTree>
    <p:extLst>
      <p:ext uri="{BB962C8B-B14F-4D97-AF65-F5344CB8AC3E}">
        <p14:creationId xmlns:p14="http://schemas.microsoft.com/office/powerpoint/2010/main" val="1772209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B2867-D0DF-E506-0D0F-5FA4F3E95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Allocation Strategy: Best Fit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D285B-1FCF-E253-A3D5-8E8FB1710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Searches the entire free list and picks the </a:t>
            </a:r>
            <a:r>
              <a:rPr lang="en-US" sz="2000" b="1" dirty="0"/>
              <a:t>smallest hole</a:t>
            </a:r>
            <a:r>
              <a:rPr lang="en-US" sz="2000" dirty="0"/>
              <a:t> that is still big enough for the request, minimizing leftover space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Slower than First Fit because it must scan every hole (unless the list is kept sorted by size)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Ironically tends to create many tiny, unusable leftover fragments, since it always leaves the smallest possible remainder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b="1" dirty="0">
                <a:solidFill>
                  <a:srgbClr val="6E8C5A"/>
                </a:solidFill>
              </a:rPr>
              <a:t>Real-world example: </a:t>
            </a:r>
            <a:r>
              <a:rPr lang="en-US" sz="2000" dirty="0"/>
              <a:t>a moving company choosing the smallest available storage unit that still fits your furniture, to avoid paying for wasted square footage</a:t>
            </a:r>
          </a:p>
        </p:txBody>
      </p:sp>
    </p:spTree>
    <p:extLst>
      <p:ext uri="{BB962C8B-B14F-4D97-AF65-F5344CB8AC3E}">
        <p14:creationId xmlns:p14="http://schemas.microsoft.com/office/powerpoint/2010/main" val="12355006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6C622-9266-EFC8-7BB2-A2DEC1836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Allocation Strategy: Worst Fit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55B5F-9E09-F79B-CEE2-D5B4FC0CD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Searches the entire free list and picks the </a:t>
            </a:r>
            <a:r>
              <a:rPr lang="en-US" sz="2000" b="1" dirty="0"/>
              <a:t>largest hole</a:t>
            </a:r>
            <a:r>
              <a:rPr lang="en-US" sz="2000" dirty="0"/>
              <a:t> available, on the theory that the leftover remainder will be large enough to remain useful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Also requires scanning the whole list (or keeping it sorted largest-first)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In practice it quickly breaks up the biggest holes, so large processes may later find nothing big enough to fit — simulations show it performs worse than First/Best Fit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b="1" dirty="0">
                <a:solidFill>
                  <a:srgbClr val="6E8C5A"/>
                </a:solidFill>
              </a:rPr>
              <a:t>Real-world example: </a:t>
            </a:r>
            <a:r>
              <a:rPr lang="en-US" sz="2000" dirty="0"/>
              <a:t>always renting the biggest available warehouse bay for a small shipment, leaving a comfortably large leftover space — but eventually no big bays remain for a truly large shipment</a:t>
            </a:r>
          </a:p>
        </p:txBody>
      </p:sp>
    </p:spTree>
    <p:extLst>
      <p:ext uri="{BB962C8B-B14F-4D97-AF65-F5344CB8AC3E}">
        <p14:creationId xmlns:p14="http://schemas.microsoft.com/office/powerpoint/2010/main" val="27377289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7CC4A-01CD-6A64-62BC-F456799E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Allocation Strategy: Quick Fit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01F6B-E813-DE3C-61E4-4BBFDBE4B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Maintains several separate free lists, each holding holes of one common size (e.g. 4KB, 8KB, 16KB); a new request jumps straight to the matching list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Extremely fast allocation — no linear scanning needed, just look up the right-sized list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Coalescing neighboring free holes becomes harder/costlier, since merged holes may need to move to a different size-list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b="1" dirty="0">
                <a:solidFill>
                  <a:srgbClr val="6E8C5A"/>
                </a:solidFill>
              </a:rPr>
              <a:t>Real-world example: </a:t>
            </a:r>
            <a:r>
              <a:rPr lang="en-US" sz="2000" dirty="0"/>
              <a:t>a hardware store organizing screws into labeled bins by exact size, so a customer grabs the right bin instantly instead of sorting through one giant mixed box</a:t>
            </a:r>
          </a:p>
        </p:txBody>
      </p:sp>
    </p:spTree>
    <p:extLst>
      <p:ext uri="{BB962C8B-B14F-4D97-AF65-F5344CB8AC3E}">
        <p14:creationId xmlns:p14="http://schemas.microsoft.com/office/powerpoint/2010/main" val="25193491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25EB3-F7E8-7453-E73F-8F203A159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Allocation Strategies at a Glance</a:t>
            </a:r>
            <a:endParaRPr lang="en-NP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FEC6A6-F469-F149-B01D-041CFEBC0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882327"/>
              </p:ext>
            </p:extLst>
          </p:nvPr>
        </p:nvGraphicFramePr>
        <p:xfrm>
          <a:off x="762000" y="1868488"/>
          <a:ext cx="1066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1589011452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4072860274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5431495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NP" sz="1500" b="1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 anchor="ctr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500" b="1">
                          <a:solidFill>
                            <a:srgbClr val="FFFFFF"/>
                          </a:solidFill>
                        </a:rPr>
                        <a:t>Speed</a:t>
                      </a:r>
                    </a:p>
                  </a:txBody>
                  <a:tcPr anchor="ctr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500" b="1">
                          <a:solidFill>
                            <a:srgbClr val="FFFFFF"/>
                          </a:solidFill>
                        </a:rPr>
                        <a:t>Typical Result</a:t>
                      </a:r>
                    </a:p>
                  </a:txBody>
                  <a:tcPr anchor="ctr">
                    <a:solidFill>
                      <a:srgbClr val="1F4E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68203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First Fit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Fast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Good overall; simple and quick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14593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Next Fit</a:t>
                      </a:r>
                    </a:p>
                  </a:txBody>
                  <a:tcPr anchor="ctr">
                    <a:solidFill>
                      <a:srgbClr val="F1ED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Fast</a:t>
                      </a:r>
                    </a:p>
                  </a:txBody>
                  <a:tcPr anchor="ctr">
                    <a:solidFill>
                      <a:srgbClr val="F1ED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Spreads holes evenly, slightly worse than First Fit in practice</a:t>
                      </a:r>
                    </a:p>
                  </a:txBody>
                  <a:tcPr anchor="ctr">
                    <a:solidFill>
                      <a:srgbClr val="F1ED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4764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Best Fit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Slow (full scan)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Minimizes leftover, but creates many tiny unusable fragments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11834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Worst Fit</a:t>
                      </a:r>
                    </a:p>
                  </a:txBody>
                  <a:tcPr anchor="ctr">
                    <a:solidFill>
                      <a:srgbClr val="F1ED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Slow (full scan)</a:t>
                      </a:r>
                    </a:p>
                  </a:txBody>
                  <a:tcPr anchor="ctr">
                    <a:solidFill>
                      <a:srgbClr val="F1ED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Leaves large remainders, but exhausts big holes over time</a:t>
                      </a:r>
                    </a:p>
                  </a:txBody>
                  <a:tcPr anchor="ctr">
                    <a:solidFill>
                      <a:srgbClr val="F1ED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90473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Quick Fit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Very fast (indexed by size)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400"/>
                        <a:t>Great allocation speed; coalescing free holes is harder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462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9201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3A439-5C5D-9145-3821-83A1CEDD1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Coalescing and Compaction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69E7B-A371-89D5-71A1-59155ABFB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b="1" dirty="0"/>
              <a:t>Coalescing</a:t>
            </a:r>
            <a:r>
              <a:rPr lang="en-US" sz="2000" dirty="0"/>
              <a:t> merges two or more adjacent free holes into one larger hole whenever a process terminates next to existing free space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b="1" dirty="0"/>
              <a:t>Compaction</a:t>
            </a:r>
            <a:r>
              <a:rPr lang="en-US" sz="2000" dirty="0"/>
              <a:t> goes further — it shuffles all resident processes toward one end of memory to combine every scattered hole into a single large free block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b="1" dirty="0"/>
              <a:t>Problem with compaction: </a:t>
            </a:r>
            <a:r>
              <a:rPr lang="en-US" sz="2000" dirty="0"/>
              <a:t>it requires copying large amounts of data in memory (expensive), and every relocated process's base register must be updated — processes must be paused while it happens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b="1" dirty="0">
                <a:solidFill>
                  <a:srgbClr val="6E8C5A"/>
                </a:solidFill>
              </a:rPr>
              <a:t>Real-world example: </a:t>
            </a:r>
            <a:r>
              <a:rPr lang="en-US" sz="2000" dirty="0"/>
              <a:t>Windows' disk defragmentation tool works the same way — it slides scattered file fragments together to create larger contiguous free space, at the cost of time spent copying data</a:t>
            </a:r>
          </a:p>
        </p:txBody>
      </p:sp>
    </p:spTree>
    <p:extLst>
      <p:ext uri="{BB962C8B-B14F-4D97-AF65-F5344CB8AC3E}">
        <p14:creationId xmlns:p14="http://schemas.microsoft.com/office/powerpoint/2010/main" val="17220030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27F3-9FA6-85C3-CCED-A321AD283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 Memory and Its Limitations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A4519-1931-8BBA-7C9D-B9D44A1D0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Virtual memory lets a process run with an address space larger than physical RAM, by keeping only the actively-used parts in memory and the rest on disk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dirty="0"/>
              <a:t>Implemented via paging/segmentation and the MMU, which translates virtual addresses to physical ones on every memory access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b="1" dirty="0"/>
              <a:t>Limitations: </a:t>
            </a:r>
            <a:r>
              <a:rPr lang="en-US" sz="2000" dirty="0"/>
              <a:t>disk access is orders of magnitude slower than RAM, so excessive paging causes thrashing; it also adds translation overhead and hardware complexity (page tables, TLB)</a:t>
            </a:r>
          </a:p>
          <a:p>
            <a:pPr>
              <a:spcBef>
                <a:spcPts val="1600"/>
              </a:spcBef>
              <a:spcAft>
                <a:spcPts val="1600"/>
              </a:spcAft>
              <a:buFont typeface="Arial"/>
              <a:buChar char="•"/>
            </a:pPr>
            <a:r>
              <a:rPr lang="en-US" sz="2000" b="1" dirty="0">
                <a:solidFill>
                  <a:srgbClr val="6E8C5A"/>
                </a:solidFill>
              </a:rPr>
              <a:t>Real-world example: </a:t>
            </a:r>
            <a:r>
              <a:rPr lang="en-US" sz="2000" dirty="0"/>
              <a:t>editing a 4K video in Premiere Pro on an 8GB-RAM laptop works because virtual memory pages the unused parts of the project to disk — but the editor visibly slows down (thrashing) if too little RAM is free</a:t>
            </a:r>
          </a:p>
        </p:txBody>
      </p:sp>
    </p:spTree>
    <p:extLst>
      <p:ext uri="{BB962C8B-B14F-4D97-AF65-F5344CB8AC3E}">
        <p14:creationId xmlns:p14="http://schemas.microsoft.com/office/powerpoint/2010/main" val="3674800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ACADF-EB37-C8A6-EB63-1E9D1BDE7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Chapter 5 Recap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B38F9-B502-1A5E-EC31-C696780E3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Memory management balances utilization, protection, and speed — from simple mono-programming to virtual memory, every technique trades complexity for better CPU and RAM usage. Next: Virtual Memory &amp; Paging (Ch. 5 continued) and I/O Device Management (Ch. 6).</a:t>
            </a:r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407599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2910546804]">
  <a:themeElements>
    <a:clrScheme name="Office">
      <a:dk1>
        <a:srgbClr val="2B2B28"/>
      </a:dk1>
      <a:lt1>
        <a:srgbClr val="FAF7F0"/>
      </a:lt1>
      <a:dk2>
        <a:srgbClr val="1F4E5F"/>
      </a:dk2>
      <a:lt2>
        <a:srgbClr val="E9E2D0"/>
      </a:lt2>
      <a:accent1>
        <a:srgbClr val="2C6E8F"/>
      </a:accent1>
      <a:accent2>
        <a:srgbClr val="6E8C5A"/>
      </a:accent2>
      <a:accent3>
        <a:srgbClr val="C97B4A"/>
      </a:accent3>
      <a:accent4>
        <a:srgbClr val="8C7A5C"/>
      </a:accent4>
      <a:accent5>
        <a:srgbClr val="4A6670"/>
      </a:accent5>
      <a:accent6>
        <a:srgbClr val="A3B18A"/>
      </a:accent6>
      <a:hlink>
        <a:srgbClr val="0563C1"/>
      </a:hlink>
      <a:folHlink>
        <a:srgbClr val="954F72"/>
      </a:folHlink>
    </a:clrScheme>
    <a:fontScheme name="Office">
      <a:majorFont>
        <a:latin typeface="Lor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Pro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A5D8638-67BB-5E4C-861F-7B36BE8C786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78c7202e-9ab6-4032-ae61-6d423032e8c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2758</Words>
  <Application>Microsoft Macintosh PowerPoint</Application>
  <PresentationFormat>Widescreen</PresentationFormat>
  <Paragraphs>168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Lora</vt:lpstr>
      <vt:lpstr>Source Sans Pro</vt:lpstr>
      <vt:lpstr>Office Theme [1782910546804]</vt:lpstr>
      <vt:lpstr>Chapter 5: Memory Management</vt:lpstr>
      <vt:lpstr>Introduction to Memory Management</vt:lpstr>
      <vt:lpstr>Memory Hierarchy</vt:lpstr>
      <vt:lpstr>Logical vs. Physical Address Space</vt:lpstr>
      <vt:lpstr>Memory Management with Swapping</vt:lpstr>
      <vt:lpstr>Memory Management with Bitmaps</vt:lpstr>
      <vt:lpstr>Memory Management with Linked Lists</vt:lpstr>
      <vt:lpstr>Memory Management without Swapping</vt:lpstr>
      <vt:lpstr>Mono-programming</vt:lpstr>
      <vt:lpstr>Multi-programming: Dedicated Partitions (Absolute Translation)</vt:lpstr>
      <vt:lpstr>Multi-programming: Single Queue (Re-locatable Translation)</vt:lpstr>
      <vt:lpstr>Mono-programming vs. Multi-programming</vt:lpstr>
      <vt:lpstr>Modeling Multiprogramming</vt:lpstr>
      <vt:lpstr>Fixed (Static) Partitioning</vt:lpstr>
      <vt:lpstr>Variable (Dynamic) Partitioning</vt:lpstr>
      <vt:lpstr>Relocation</vt:lpstr>
      <vt:lpstr>Protection</vt:lpstr>
      <vt:lpstr>Internal Fragmentation</vt:lpstr>
      <vt:lpstr>External Fragmentation</vt:lpstr>
      <vt:lpstr>Allocation Strategy: First Fit</vt:lpstr>
      <vt:lpstr>Allocation Strategy: Next Fit</vt:lpstr>
      <vt:lpstr>Allocation Strategy: Best Fit</vt:lpstr>
      <vt:lpstr>Allocation Strategy: Worst Fit</vt:lpstr>
      <vt:lpstr>Allocation Strategy: Quick Fit</vt:lpstr>
      <vt:lpstr>Allocation Strategies at a Glance</vt:lpstr>
      <vt:lpstr>Coalescing and Compaction</vt:lpstr>
      <vt:lpstr>Virtual Memory and Its Limitations</vt:lpstr>
      <vt:lpstr>Chapter 5 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Mukesh Karn</dc:creator>
  <cp:lastModifiedBy>Mukesh Karn</cp:lastModifiedBy>
  <cp:revision>6</cp:revision>
  <dcterms:created xsi:type="dcterms:W3CDTF">2026-07-01T12:37:42Z</dcterms:created>
  <dcterms:modified xsi:type="dcterms:W3CDTF">2026-07-08T13:15:32Z</dcterms:modified>
</cp:coreProperties>
</file>